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95" r:id="rId2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121"/>
    <p:restoredTop sz="96327"/>
  </p:normalViewPr>
  <p:slideViewPr>
    <p:cSldViewPr snapToGrid="0" snapToObjects="1">
      <p:cViewPr>
        <p:scale>
          <a:sx n="184" d="100"/>
          <a:sy n="184" d="100"/>
        </p:scale>
        <p:origin x="2320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E0A233-D006-1049-96B2-56CCC883D470}" type="datetimeFigureOut">
              <a:rPr lang="en-DE" smtClean="0"/>
              <a:t>10.09.26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0F7E0E-80DA-2543-85E1-037FA5D538F8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10747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BA05D5-CEFF-924E-AA1B-4E35C71143A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4501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D82D0-AA04-7D43-A6DF-CAFA31B92A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788596-0FB7-AE42-8864-A00A65D367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AC0024-4A65-1D48-8CBD-8351CFD1E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48265-B100-ED48-B1D9-7B0C2D8678E5}" type="datetimeFigureOut">
              <a:rPr lang="en-DE" smtClean="0"/>
              <a:t>10.09.26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62681-E0E6-F747-ADD1-8F076D52F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E38BE5-1354-604F-BD7C-01477E917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EEFEB-E6E0-BC40-9EC7-9E23E68E370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95154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AA01-F5EA-0144-AB7A-115135F54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580A1-2FB3-9942-AAB1-4AF8C1B73B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F00D17-3D08-3444-983C-4E1775271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48265-B100-ED48-B1D9-7B0C2D8678E5}" type="datetimeFigureOut">
              <a:rPr lang="en-DE" smtClean="0"/>
              <a:t>10.09.26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45E097-F582-AC4B-813F-2B4AE0921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85AF03-9C0D-4340-88F7-6B906CB6E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EEFEB-E6E0-BC40-9EC7-9E23E68E370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81934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1FDC5-5128-554E-8DC4-31B0FAB3F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3B406B-7115-904E-A3FB-D7732330C2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E211B4-906F-C443-8848-DDF5D447F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48265-B100-ED48-B1D9-7B0C2D8678E5}" type="datetimeFigureOut">
              <a:rPr lang="en-DE" smtClean="0"/>
              <a:t>10.09.26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DCB78-78E9-964C-A08E-FF50EF1A1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FA56E-850E-DE41-BFFA-E55B57B50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EEFEB-E6E0-BC40-9EC7-9E23E68E370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513805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EA066-69D9-6D40-A74F-83EE30A80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CD322-AEF4-0D4C-914C-6BABF098D5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674F96-D654-1F49-8FDA-548E9EF98C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1DB928-D8E6-5247-AB4F-F31CB13BE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48265-B100-ED48-B1D9-7B0C2D8678E5}" type="datetimeFigureOut">
              <a:rPr lang="en-DE" smtClean="0"/>
              <a:t>10.09.26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1B0227-4AC0-2E4D-87F0-FB63204F4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FF79E9-9D12-F747-BC7D-ADAC8DA63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EEFEB-E6E0-BC40-9EC7-9E23E68E370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72262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058F9-54C2-E84C-96CD-0488041A4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DFEF06-E9B7-6C40-A562-C1598A7B2F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DC259B-6147-CC4D-AD9E-6FEF6FBEF7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A59778-1D1A-CB43-8959-B4DB7FFA39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DED3EF-1F87-2140-A097-812CA4630A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51E106-9368-6C4E-B2A6-01B1A388E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48265-B100-ED48-B1D9-7B0C2D8678E5}" type="datetimeFigureOut">
              <a:rPr lang="en-DE" smtClean="0"/>
              <a:t>10.09.26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7FD037-168D-674F-A661-5713DCB51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5A0E42-8B28-804E-9EBE-0F035B65C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EEFEB-E6E0-BC40-9EC7-9E23E68E370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10504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F3980-7313-8D4E-A014-5D015777F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AA1C20-83EF-A947-873B-812FD7F32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48265-B100-ED48-B1D9-7B0C2D8678E5}" type="datetimeFigureOut">
              <a:rPr lang="en-DE" smtClean="0"/>
              <a:t>10.09.26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9BD6E9-526F-1E44-AFC1-5839128EF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C11E80-1561-3746-BDD6-11845809D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EEFEB-E6E0-BC40-9EC7-9E23E68E370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82041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03CBA8-8350-1848-B5BB-7AA3F3A25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48265-B100-ED48-B1D9-7B0C2D8678E5}" type="datetimeFigureOut">
              <a:rPr lang="en-DE" smtClean="0"/>
              <a:t>10.09.26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7C2052-E6F6-8242-9C15-463D6E7E2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562554-6511-2A41-AE81-3DE24F286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EEFEB-E6E0-BC40-9EC7-9E23E68E370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60506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DDA33-BE41-B241-97EF-FF9DE1F9A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A7604-EAB3-3E42-B673-8A2419D36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15F240-E494-9443-BD7C-E19B2D127A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7BE9B7-84E2-B841-BB6C-979EF06D2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48265-B100-ED48-B1D9-7B0C2D8678E5}" type="datetimeFigureOut">
              <a:rPr lang="en-DE" smtClean="0"/>
              <a:t>10.09.26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754659-966F-F240-ACEB-D76617982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9EE1CF-6D9C-8747-9A7E-7E574DACA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EEFEB-E6E0-BC40-9EC7-9E23E68E370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23831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59B84-3F20-AD47-A45C-39BC8FE54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DF9166-41F1-D541-824E-2843B2AFDE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FB6B15-B2B6-6241-A8AC-4A48349F0A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466279-6D45-EC47-B246-D65B50D93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48265-B100-ED48-B1D9-7B0C2D8678E5}" type="datetimeFigureOut">
              <a:rPr lang="en-DE" smtClean="0"/>
              <a:t>10.09.26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45EE18-F371-2F47-86F6-EA24CF031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A9E50B-0AE7-BC41-8F58-A46DF9F25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EEFEB-E6E0-BC40-9EC7-9E23E68E370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64942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AC16C-D3E3-E54B-B016-4D9925602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61A7AD-C5E7-B448-AB04-96ED25158D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029335-B988-B448-8A33-B0ACCE0D1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48265-B100-ED48-B1D9-7B0C2D8678E5}" type="datetimeFigureOut">
              <a:rPr lang="en-DE" smtClean="0"/>
              <a:t>10.09.26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47A4F4-126C-FA4D-A945-FF8DD1658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E70443-3196-A644-A2DE-28754BF84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EEFEB-E6E0-BC40-9EC7-9E23E68E370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32297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575880-3C02-8F49-BA41-CD3B36E673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8497B3-897A-AC4E-929A-68524EA1A0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03025C-4D4E-A343-961F-54F1F978D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48265-B100-ED48-B1D9-7B0C2D8678E5}" type="datetimeFigureOut">
              <a:rPr lang="en-DE" smtClean="0"/>
              <a:t>10.09.26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C7BEF3-2A9F-A843-BC18-1BEE52C3E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9C97E-A7D4-5A46-9805-148961320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EEFEB-E6E0-BC40-9EC7-9E23E68E370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93772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1E8F15-DD8D-1C46-8004-EB01B7CEE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814C70-C870-B84C-A903-777F693CB8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57D592-7FBB-CC42-B340-9B71761AF6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148265-B100-ED48-B1D9-7B0C2D8678E5}" type="datetimeFigureOut">
              <a:rPr lang="en-DE" smtClean="0"/>
              <a:t>10.09.26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86A3AB-7691-D14B-89BC-A2F5825CB8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D8641A-1E57-6A48-A007-265D2F6D92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9EEFEB-E6E0-BC40-9EC7-9E23E68E370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355997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Rectangle 30">
            <a:extLst>
              <a:ext uri="{FF2B5EF4-FFF2-40B4-BE49-F238E27FC236}">
                <a16:creationId xmlns:a16="http://schemas.microsoft.com/office/drawing/2014/main" id="{77ECF3C4-4266-8D42-BC06-768FDE9CC7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84594" y="2000603"/>
            <a:ext cx="3013352" cy="440464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7780">
            <a:solidFill>
              <a:schemeClr val="tx1"/>
            </a:solidFill>
            <a:miter lim="800000"/>
            <a:headEnd/>
            <a:tailEnd/>
          </a:ln>
        </p:spPr>
        <p:txBody>
          <a:bodyPr vert="horz" lIns="36000" tIns="36000" rIns="36000" bIns="36000" anchor="t"/>
          <a:lstStyle/>
          <a:p>
            <a:pPr>
              <a:buClrTx/>
              <a:buSzTx/>
              <a:buFontTx/>
              <a:buNone/>
            </a:pPr>
            <a:r>
              <a:rPr lang="en-US" sz="1200" dirty="0"/>
              <a:t>Shoot Cluster</a:t>
            </a:r>
            <a:endParaRPr lang="en-US" sz="300" dirty="0"/>
          </a:p>
        </p:txBody>
      </p:sp>
      <p:sp>
        <p:nvSpPr>
          <p:cNvPr id="174" name="Rectangle 30"/>
          <p:cNvSpPr>
            <a:spLocks noChangeArrowheads="1"/>
          </p:cNvSpPr>
          <p:nvPr/>
        </p:nvSpPr>
        <p:spPr bwMode="auto">
          <a:xfrm>
            <a:off x="4610013" y="1987555"/>
            <a:ext cx="3252401" cy="440464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7780">
            <a:solidFill>
              <a:schemeClr val="tx1"/>
            </a:solidFill>
            <a:miter lim="800000"/>
            <a:headEnd/>
            <a:tailEnd/>
          </a:ln>
        </p:spPr>
        <p:txBody>
          <a:bodyPr vert="horz" lIns="36000" tIns="36000" rIns="36000" bIns="36000" anchor="t"/>
          <a:lstStyle/>
          <a:p>
            <a:pPr>
              <a:buClrTx/>
              <a:buSzTx/>
              <a:buFontTx/>
              <a:buNone/>
            </a:pPr>
            <a:r>
              <a:rPr lang="en-US" sz="1200"/>
              <a:t>Seed Cluster</a:t>
            </a:r>
            <a:endParaRPr lang="en-US" sz="300"/>
          </a:p>
        </p:txBody>
      </p:sp>
      <p:sp>
        <p:nvSpPr>
          <p:cNvPr id="428" name="Rectangle 30">
            <a:extLst>
              <a:ext uri="{FF2B5EF4-FFF2-40B4-BE49-F238E27FC236}">
                <a16:creationId xmlns:a16="http://schemas.microsoft.com/office/drawing/2014/main" id="{2D5067F0-7D08-E645-8207-FE0E199E87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5890" y="3202826"/>
            <a:ext cx="3054438" cy="3041601"/>
          </a:xfrm>
          <a:prstGeom prst="rect">
            <a:avLst/>
          </a:prstGeom>
          <a:solidFill>
            <a:srgbClr val="DDDDDD"/>
          </a:solidFill>
          <a:ln w="17780">
            <a:solidFill>
              <a:schemeClr val="tx1"/>
            </a:solidFill>
            <a:miter lim="800000"/>
            <a:headEnd/>
            <a:tailEnd/>
          </a:ln>
        </p:spPr>
        <p:txBody>
          <a:bodyPr lIns="36000" tIns="36000" rIns="36000" bIns="36000" anchor="t"/>
          <a:lstStyle/>
          <a:p>
            <a:pPr>
              <a:buClrTx/>
              <a:buSzTx/>
              <a:buFontTx/>
              <a:buNone/>
            </a:pPr>
            <a:r>
              <a:rPr lang="de-DE" sz="1200" dirty="0"/>
              <a:t> Worker</a:t>
            </a:r>
            <a:endParaRPr lang="en-US" sz="1200" dirty="0"/>
          </a:p>
        </p:txBody>
      </p:sp>
      <p:sp>
        <p:nvSpPr>
          <p:cNvPr id="479" name="Rectangle 30">
            <a:extLst>
              <a:ext uri="{FF2B5EF4-FFF2-40B4-BE49-F238E27FC236}">
                <a16:creationId xmlns:a16="http://schemas.microsoft.com/office/drawing/2014/main" id="{DDF41BCF-BDF4-E246-A1E6-C213C84AB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9993" y="3202826"/>
            <a:ext cx="2808284" cy="3041601"/>
          </a:xfrm>
          <a:prstGeom prst="rect">
            <a:avLst/>
          </a:prstGeom>
          <a:solidFill>
            <a:srgbClr val="DDDDDD"/>
          </a:solidFill>
          <a:ln w="17780">
            <a:solidFill>
              <a:schemeClr val="tx1"/>
            </a:solidFill>
            <a:miter lim="800000"/>
            <a:headEnd/>
            <a:tailEnd/>
          </a:ln>
        </p:spPr>
        <p:txBody>
          <a:bodyPr lIns="36000" tIns="36000" rIns="36000" bIns="36000" anchor="t"/>
          <a:lstStyle/>
          <a:p>
            <a:pPr>
              <a:buClrTx/>
              <a:buSzTx/>
              <a:buFontTx/>
              <a:buNone/>
            </a:pPr>
            <a:r>
              <a:rPr lang="de-DE" sz="1200" dirty="0"/>
              <a:t> Worker</a:t>
            </a:r>
            <a:endParaRPr lang="en-US" sz="1200" dirty="0"/>
          </a:p>
        </p:txBody>
      </p:sp>
      <p:sp>
        <p:nvSpPr>
          <p:cNvPr id="5" name="Rectangle 138"/>
          <p:cNvSpPr>
            <a:spLocks noChangeArrowheads="1"/>
          </p:cNvSpPr>
          <p:nvPr/>
        </p:nvSpPr>
        <p:spPr bwMode="auto">
          <a:xfrm>
            <a:off x="1000131" y="899517"/>
            <a:ext cx="858591" cy="396000"/>
          </a:xfrm>
          <a:prstGeom prst="rect">
            <a:avLst/>
          </a:prstGeom>
          <a:solidFill>
            <a:srgbClr val="DDDDDD"/>
          </a:solidFill>
          <a:ln w="17780">
            <a:solidFill>
              <a:schemeClr val="tx1"/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algn="ctr"/>
            <a:r>
              <a:rPr lang="en-US" sz="1200" dirty="0" err="1"/>
              <a:t>kubectl</a:t>
            </a:r>
            <a:endParaRPr lang="en-US" sz="1200" dirty="0"/>
          </a:p>
        </p:txBody>
      </p:sp>
      <p:cxnSp>
        <p:nvCxnSpPr>
          <p:cNvPr id="83" name="Straight Connector 82"/>
          <p:cNvCxnSpPr>
            <a:cxnSpLocks/>
          </p:cNvCxnSpPr>
          <p:nvPr/>
        </p:nvCxnSpPr>
        <p:spPr>
          <a:xfrm>
            <a:off x="920318" y="1936122"/>
            <a:ext cx="10648100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6" name="Text Box 139"/>
          <p:cNvSpPr txBox="1">
            <a:spLocks noChangeArrowheads="1"/>
          </p:cNvSpPr>
          <p:nvPr/>
        </p:nvSpPr>
        <p:spPr bwMode="auto">
          <a:xfrm>
            <a:off x="4696418" y="6067831"/>
            <a:ext cx="431800" cy="3667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sz="1800" b="1" dirty="0">
                <a:latin typeface="Times New Roman" pitchFamily="18" charset="0"/>
              </a:rPr>
              <a:t>...</a:t>
            </a:r>
          </a:p>
        </p:txBody>
      </p:sp>
      <p:sp>
        <p:nvSpPr>
          <p:cNvPr id="440" name="Rectangle 439"/>
          <p:cNvSpPr/>
          <p:nvPr/>
        </p:nvSpPr>
        <p:spPr>
          <a:xfrm>
            <a:off x="5066595" y="4003946"/>
            <a:ext cx="1628152" cy="2185744"/>
          </a:xfrm>
          <a:prstGeom prst="rect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1" name="AutoShape 29"/>
          <p:cNvSpPr>
            <a:spLocks noChangeArrowheads="1"/>
          </p:cNvSpPr>
          <p:nvPr/>
        </p:nvSpPr>
        <p:spPr bwMode="auto">
          <a:xfrm>
            <a:off x="6779589" y="4078115"/>
            <a:ext cx="720000" cy="162000"/>
          </a:xfrm>
          <a:prstGeom prst="roundRect">
            <a:avLst>
              <a:gd name="adj" fmla="val 50000"/>
            </a:avLst>
          </a:prstGeom>
          <a:solidFill>
            <a:schemeClr val="accent2">
              <a:lumMod val="60000"/>
              <a:lumOff val="40000"/>
            </a:schemeClr>
          </a:solidFill>
          <a:ln w="17780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 anchor="ctr"/>
          <a:lstStyle/>
          <a:p>
            <a:pPr algn="ctr">
              <a:buClrTx/>
              <a:buSzTx/>
              <a:buFontTx/>
              <a:buNone/>
            </a:pPr>
            <a:r>
              <a:rPr lang="en-US" sz="1000" dirty="0"/>
              <a:t>Main      PV</a:t>
            </a:r>
          </a:p>
        </p:txBody>
      </p:sp>
      <p:cxnSp>
        <p:nvCxnSpPr>
          <p:cNvPr id="452" name="Straight Connector 451"/>
          <p:cNvCxnSpPr>
            <a:cxnSpLocks/>
          </p:cNvCxnSpPr>
          <p:nvPr/>
        </p:nvCxnSpPr>
        <p:spPr>
          <a:xfrm>
            <a:off x="7238593" y="4078115"/>
            <a:ext cx="0" cy="162000"/>
          </a:xfrm>
          <a:prstGeom prst="line">
            <a:avLst/>
          </a:prstGeom>
          <a:solidFill>
            <a:schemeClr val="bg1"/>
          </a:solidFill>
          <a:ln w="17780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551" name="Text Box 139"/>
          <p:cNvSpPr txBox="1">
            <a:spLocks noChangeArrowheads="1"/>
          </p:cNvSpPr>
          <p:nvPr/>
        </p:nvSpPr>
        <p:spPr bwMode="auto">
          <a:xfrm>
            <a:off x="8940330" y="5373769"/>
            <a:ext cx="424463" cy="3715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sz="1800" b="1" dirty="0">
                <a:latin typeface="Times New Roman" pitchFamily="18" charset="0"/>
              </a:rPr>
              <a:t>...</a:t>
            </a:r>
          </a:p>
        </p:txBody>
      </p:sp>
      <p:sp>
        <p:nvSpPr>
          <p:cNvPr id="553" name="Rectangle 138"/>
          <p:cNvSpPr>
            <a:spLocks noChangeArrowheads="1"/>
          </p:cNvSpPr>
          <p:nvPr/>
        </p:nvSpPr>
        <p:spPr bwMode="auto">
          <a:xfrm>
            <a:off x="8944008" y="3775896"/>
            <a:ext cx="1379891" cy="1995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7780">
            <a:solidFill>
              <a:schemeClr val="tx1"/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algn="ctr"/>
            <a:r>
              <a:rPr lang="en-US" sz="1000" dirty="0"/>
              <a:t>(Reverse) VPN Client</a:t>
            </a:r>
          </a:p>
        </p:txBody>
      </p:sp>
      <p:sp>
        <p:nvSpPr>
          <p:cNvPr id="555" name="Rectangle 138"/>
          <p:cNvSpPr>
            <a:spLocks noChangeArrowheads="1"/>
          </p:cNvSpPr>
          <p:nvPr/>
        </p:nvSpPr>
        <p:spPr bwMode="auto">
          <a:xfrm>
            <a:off x="10323902" y="3775896"/>
            <a:ext cx="214682" cy="1995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7780">
            <a:solidFill>
              <a:schemeClr val="tx1"/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algn="ctr">
              <a:buClrTx/>
              <a:buSzTx/>
              <a:buFontTx/>
              <a:buNone/>
            </a:pPr>
            <a:r>
              <a:rPr lang="en-US" sz="1000"/>
              <a:t>D</a:t>
            </a:r>
          </a:p>
        </p:txBody>
      </p:sp>
      <p:sp>
        <p:nvSpPr>
          <p:cNvPr id="557" name="Rectangle 138"/>
          <p:cNvSpPr>
            <a:spLocks noChangeArrowheads="1"/>
          </p:cNvSpPr>
          <p:nvPr/>
        </p:nvSpPr>
        <p:spPr bwMode="auto">
          <a:xfrm>
            <a:off x="8944008" y="4033353"/>
            <a:ext cx="1379891" cy="1995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7780">
            <a:solidFill>
              <a:schemeClr val="tx1"/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algn="ctr">
              <a:buClrTx/>
              <a:buSzTx/>
              <a:buFontTx/>
              <a:buNone/>
            </a:pPr>
            <a:r>
              <a:rPr lang="en-US" sz="1000" dirty="0"/>
              <a:t>Calico / Cilium</a:t>
            </a:r>
          </a:p>
        </p:txBody>
      </p:sp>
      <p:sp>
        <p:nvSpPr>
          <p:cNvPr id="558" name="Rectangle 138"/>
          <p:cNvSpPr>
            <a:spLocks noChangeArrowheads="1"/>
          </p:cNvSpPr>
          <p:nvPr/>
        </p:nvSpPr>
        <p:spPr bwMode="auto">
          <a:xfrm>
            <a:off x="10323902" y="4033353"/>
            <a:ext cx="214682" cy="1995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7780">
            <a:solidFill>
              <a:schemeClr val="tx1"/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algn="ctr">
              <a:buClrTx/>
              <a:buSzTx/>
              <a:buFontTx/>
              <a:buNone/>
            </a:pPr>
            <a:r>
              <a:rPr lang="en-US" sz="1000"/>
              <a:t>DS</a:t>
            </a:r>
          </a:p>
        </p:txBody>
      </p:sp>
      <p:sp>
        <p:nvSpPr>
          <p:cNvPr id="559" name="Rectangle 138"/>
          <p:cNvSpPr>
            <a:spLocks noChangeArrowheads="1"/>
          </p:cNvSpPr>
          <p:nvPr/>
        </p:nvSpPr>
        <p:spPr bwMode="auto">
          <a:xfrm>
            <a:off x="8951202" y="5251255"/>
            <a:ext cx="1379891" cy="1995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7780">
            <a:solidFill>
              <a:schemeClr val="tx1"/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algn="ctr">
              <a:buClrTx/>
              <a:buSzTx/>
              <a:buFontTx/>
              <a:buNone/>
            </a:pPr>
            <a:r>
              <a:rPr lang="en-US" sz="1000"/>
              <a:t>Actual Workload</a:t>
            </a:r>
          </a:p>
        </p:txBody>
      </p:sp>
      <p:sp>
        <p:nvSpPr>
          <p:cNvPr id="560" name="Rectangle 138"/>
          <p:cNvSpPr>
            <a:spLocks noChangeArrowheads="1"/>
          </p:cNvSpPr>
          <p:nvPr/>
        </p:nvSpPr>
        <p:spPr bwMode="auto">
          <a:xfrm>
            <a:off x="10331096" y="5251255"/>
            <a:ext cx="214682" cy="1995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7780">
            <a:solidFill>
              <a:schemeClr val="tx1"/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algn="ctr">
              <a:buClrTx/>
              <a:buSzTx/>
              <a:buFontTx/>
              <a:buNone/>
            </a:pPr>
            <a:endParaRPr lang="en-US" sz="1000"/>
          </a:p>
        </p:txBody>
      </p:sp>
      <p:sp>
        <p:nvSpPr>
          <p:cNvPr id="570" name="Rectangle 138"/>
          <p:cNvSpPr>
            <a:spLocks noChangeArrowheads="1"/>
          </p:cNvSpPr>
          <p:nvPr/>
        </p:nvSpPr>
        <p:spPr bwMode="auto">
          <a:xfrm>
            <a:off x="8944008" y="4546863"/>
            <a:ext cx="1379891" cy="1995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7780">
            <a:solidFill>
              <a:schemeClr val="tx1"/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algn="ctr"/>
            <a:r>
              <a:rPr lang="en-US" sz="1000" dirty="0"/>
              <a:t>Core DNS</a:t>
            </a:r>
          </a:p>
        </p:txBody>
      </p:sp>
      <p:sp>
        <p:nvSpPr>
          <p:cNvPr id="571" name="Rectangle 138"/>
          <p:cNvSpPr>
            <a:spLocks noChangeArrowheads="1"/>
          </p:cNvSpPr>
          <p:nvPr/>
        </p:nvSpPr>
        <p:spPr bwMode="auto">
          <a:xfrm>
            <a:off x="10323902" y="4546863"/>
            <a:ext cx="214682" cy="1995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7780">
            <a:solidFill>
              <a:schemeClr val="tx1"/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algn="ctr">
              <a:buClrTx/>
              <a:buSzTx/>
              <a:buFontTx/>
              <a:buNone/>
            </a:pPr>
            <a:r>
              <a:rPr lang="en-US" sz="1000" dirty="0"/>
              <a:t>D</a:t>
            </a:r>
          </a:p>
        </p:txBody>
      </p:sp>
      <p:cxnSp>
        <p:nvCxnSpPr>
          <p:cNvPr id="277" name="Straight Connector 276"/>
          <p:cNvCxnSpPr/>
          <p:nvPr/>
        </p:nvCxnSpPr>
        <p:spPr>
          <a:xfrm flipH="1">
            <a:off x="1320648" y="713163"/>
            <a:ext cx="875" cy="1863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8" name="TextBox 307"/>
          <p:cNvSpPr txBox="1"/>
          <p:nvPr/>
        </p:nvSpPr>
        <p:spPr>
          <a:xfrm>
            <a:off x="891953" y="1757504"/>
            <a:ext cx="528024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de-DE" sz="1000" dirty="0"/>
              <a:t>HTTPS</a:t>
            </a:r>
            <a:endParaRPr lang="en-US" sz="1000" dirty="0"/>
          </a:p>
        </p:txBody>
      </p:sp>
      <p:sp>
        <p:nvSpPr>
          <p:cNvPr id="140" name="Rectangle 138"/>
          <p:cNvSpPr>
            <a:spLocks noChangeArrowheads="1"/>
          </p:cNvSpPr>
          <p:nvPr/>
        </p:nvSpPr>
        <p:spPr bwMode="auto">
          <a:xfrm>
            <a:off x="4694093" y="2208506"/>
            <a:ext cx="1367747" cy="2065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7780">
            <a:solidFill>
              <a:schemeClr val="tx1"/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algn="ctr"/>
            <a:r>
              <a:rPr lang="en-US" sz="1200" dirty="0"/>
              <a:t>Seed Cluster API LB</a:t>
            </a:r>
          </a:p>
        </p:txBody>
      </p:sp>
      <p:sp>
        <p:nvSpPr>
          <p:cNvPr id="145" name="Text Box 139"/>
          <p:cNvSpPr txBox="1">
            <a:spLocks noChangeArrowheads="1"/>
          </p:cNvSpPr>
          <p:nvPr/>
        </p:nvSpPr>
        <p:spPr bwMode="auto">
          <a:xfrm>
            <a:off x="4583342" y="6202187"/>
            <a:ext cx="431800" cy="3667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sz="1800" b="1" dirty="0">
                <a:latin typeface="Times New Roman" pitchFamily="18" charset="0"/>
              </a:rPr>
              <a:t>...</a:t>
            </a:r>
          </a:p>
        </p:txBody>
      </p:sp>
      <p:sp>
        <p:nvSpPr>
          <p:cNvPr id="175" name="Rectangle 30"/>
          <p:cNvSpPr>
            <a:spLocks noChangeArrowheads="1"/>
          </p:cNvSpPr>
          <p:nvPr/>
        </p:nvSpPr>
        <p:spPr bwMode="auto">
          <a:xfrm>
            <a:off x="1004002" y="1987555"/>
            <a:ext cx="3078892" cy="440464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7780">
            <a:solidFill>
              <a:schemeClr val="tx1"/>
            </a:solidFill>
            <a:miter lim="800000"/>
            <a:headEnd/>
            <a:tailEnd/>
          </a:ln>
        </p:spPr>
        <p:txBody>
          <a:bodyPr vert="horz" lIns="36000" tIns="36000" rIns="36000" bIns="36000" anchor="t"/>
          <a:lstStyle/>
          <a:p>
            <a:pPr>
              <a:buClrTx/>
              <a:buSzTx/>
              <a:buFontTx/>
              <a:buNone/>
            </a:pPr>
            <a:r>
              <a:rPr lang="en-US" sz="1200" dirty="0"/>
              <a:t>Garden Cluster</a:t>
            </a:r>
            <a:endParaRPr lang="en-US" sz="300" dirty="0"/>
          </a:p>
        </p:txBody>
      </p:sp>
      <p:sp>
        <p:nvSpPr>
          <p:cNvPr id="176" name="Rectangle 30"/>
          <p:cNvSpPr>
            <a:spLocks noChangeArrowheads="1"/>
          </p:cNvSpPr>
          <p:nvPr/>
        </p:nvSpPr>
        <p:spPr bwMode="auto">
          <a:xfrm>
            <a:off x="1080235" y="3202826"/>
            <a:ext cx="2887200" cy="3041601"/>
          </a:xfrm>
          <a:prstGeom prst="rect">
            <a:avLst/>
          </a:prstGeom>
          <a:solidFill>
            <a:srgbClr val="DDDDDD"/>
          </a:solidFill>
          <a:ln w="17780">
            <a:solidFill>
              <a:schemeClr val="tx1"/>
            </a:solidFill>
            <a:miter lim="800000"/>
            <a:headEnd/>
            <a:tailEnd/>
          </a:ln>
        </p:spPr>
        <p:txBody>
          <a:bodyPr lIns="36000" tIns="36000" rIns="36000" bIns="36000" anchor="t"/>
          <a:lstStyle/>
          <a:p>
            <a:pPr>
              <a:buClrTx/>
              <a:buSzTx/>
              <a:buFontTx/>
              <a:buNone/>
            </a:pPr>
            <a:r>
              <a:rPr lang="de-DE" sz="1200" dirty="0"/>
              <a:t> Worker</a:t>
            </a:r>
            <a:endParaRPr lang="en-US" sz="1200" dirty="0"/>
          </a:p>
        </p:txBody>
      </p:sp>
      <p:sp>
        <p:nvSpPr>
          <p:cNvPr id="177" name="Text Box 139"/>
          <p:cNvSpPr txBox="1">
            <a:spLocks noChangeArrowheads="1"/>
          </p:cNvSpPr>
          <p:nvPr/>
        </p:nvSpPr>
        <p:spPr bwMode="auto">
          <a:xfrm>
            <a:off x="1400157" y="4614668"/>
            <a:ext cx="424463" cy="3715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sz="1800" b="1" dirty="0">
                <a:latin typeface="Times New Roman" pitchFamily="18" charset="0"/>
              </a:rPr>
              <a:t>...</a:t>
            </a:r>
          </a:p>
        </p:txBody>
      </p:sp>
      <p:sp>
        <p:nvSpPr>
          <p:cNvPr id="178" name="Text Box 139"/>
          <p:cNvSpPr txBox="1">
            <a:spLocks noChangeArrowheads="1"/>
          </p:cNvSpPr>
          <p:nvPr/>
        </p:nvSpPr>
        <p:spPr bwMode="auto">
          <a:xfrm>
            <a:off x="1088629" y="6067953"/>
            <a:ext cx="431800" cy="3667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sz="1800" b="1" dirty="0">
                <a:latin typeface="Times New Roman" pitchFamily="18" charset="0"/>
              </a:rPr>
              <a:t>...</a:t>
            </a:r>
          </a:p>
        </p:txBody>
      </p:sp>
      <p:sp>
        <p:nvSpPr>
          <p:cNvPr id="208" name="L-Shape 207"/>
          <p:cNvSpPr/>
          <p:nvPr/>
        </p:nvSpPr>
        <p:spPr bwMode="gray">
          <a:xfrm rot="5400000">
            <a:off x="888811" y="3728316"/>
            <a:ext cx="2732233" cy="2190512"/>
          </a:xfrm>
          <a:prstGeom prst="corner">
            <a:avLst>
              <a:gd name="adj1" fmla="val 10919"/>
              <a:gd name="adj2" fmla="val 11546"/>
            </a:avLst>
          </a:prstGeom>
          <a:solidFill>
            <a:schemeClr val="bg1"/>
          </a:solidFill>
          <a:ln w="17780">
            <a:solidFill>
              <a:schemeClr val="tx1"/>
            </a:solidFill>
            <a:miter lim="800000"/>
            <a:headEnd/>
            <a:tailEnd/>
          </a:ln>
        </p:spPr>
        <p:txBody>
          <a:bodyPr vert="vert270" lIns="36000" tIns="36000" rIns="36000" bIns="36000" anchor="t"/>
          <a:lstStyle/>
          <a:p>
            <a:pPr algn="ctr">
              <a:buClrTx/>
              <a:buSzTx/>
              <a:buFontTx/>
              <a:buNone/>
            </a:pPr>
            <a:endParaRPr lang="en-US" sz="1200"/>
          </a:p>
        </p:txBody>
      </p:sp>
      <p:sp>
        <p:nvSpPr>
          <p:cNvPr id="209" name="TextBox 208"/>
          <p:cNvSpPr txBox="1"/>
          <p:nvPr/>
        </p:nvSpPr>
        <p:spPr>
          <a:xfrm>
            <a:off x="1200147" y="3502636"/>
            <a:ext cx="1878383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de-DE" sz="1000" dirty="0" err="1"/>
              <a:t>Kubelet</a:t>
            </a:r>
            <a:r>
              <a:rPr lang="de-DE" sz="1000" dirty="0"/>
              <a:t> + Container </a:t>
            </a:r>
            <a:r>
              <a:rPr lang="de-DE" sz="1000" dirty="0" err="1"/>
              <a:t>Runtime</a:t>
            </a:r>
            <a:endParaRPr lang="en-US" sz="1000" dirty="0"/>
          </a:p>
        </p:txBody>
      </p:sp>
      <p:sp>
        <p:nvSpPr>
          <p:cNvPr id="212" name="Rectangle 138"/>
          <p:cNvSpPr>
            <a:spLocks noChangeArrowheads="1"/>
          </p:cNvSpPr>
          <p:nvPr/>
        </p:nvSpPr>
        <p:spPr bwMode="auto">
          <a:xfrm>
            <a:off x="1088006" y="2208506"/>
            <a:ext cx="2887198" cy="2065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7780">
            <a:solidFill>
              <a:schemeClr val="tx1"/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algn="ctr"/>
            <a:r>
              <a:rPr lang="en-US" sz="1200" dirty="0"/>
              <a:t>Virtual Garden Istio Ingress Gateway LB</a:t>
            </a:r>
          </a:p>
        </p:txBody>
      </p:sp>
      <p:sp>
        <p:nvSpPr>
          <p:cNvPr id="213" name="Rectangle 138"/>
          <p:cNvSpPr>
            <a:spLocks noChangeArrowheads="1"/>
          </p:cNvSpPr>
          <p:nvPr/>
        </p:nvSpPr>
        <p:spPr bwMode="auto">
          <a:xfrm>
            <a:off x="1446277" y="4039170"/>
            <a:ext cx="1672684" cy="19958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7780">
            <a:solidFill>
              <a:schemeClr val="tx1"/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algn="ctr">
              <a:buClrTx/>
              <a:buSzTx/>
              <a:buFontTx/>
              <a:buNone/>
            </a:pPr>
            <a:r>
              <a:rPr lang="en-US" sz="1000" dirty="0"/>
              <a:t>Gardener API Server</a:t>
            </a:r>
          </a:p>
        </p:txBody>
      </p:sp>
      <p:sp>
        <p:nvSpPr>
          <p:cNvPr id="214" name="Rectangle 138"/>
          <p:cNvSpPr>
            <a:spLocks noChangeArrowheads="1"/>
          </p:cNvSpPr>
          <p:nvPr/>
        </p:nvSpPr>
        <p:spPr bwMode="auto">
          <a:xfrm>
            <a:off x="3123879" y="4039170"/>
            <a:ext cx="214682" cy="19958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7780">
            <a:solidFill>
              <a:schemeClr val="tx1"/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algn="ctr">
              <a:buClrTx/>
              <a:buSzTx/>
              <a:buFontTx/>
              <a:buNone/>
            </a:pPr>
            <a:r>
              <a:rPr lang="en-US" sz="1000" dirty="0"/>
              <a:t>D</a:t>
            </a:r>
          </a:p>
        </p:txBody>
      </p:sp>
      <p:sp>
        <p:nvSpPr>
          <p:cNvPr id="215" name="Rectangle 138"/>
          <p:cNvSpPr>
            <a:spLocks noChangeArrowheads="1"/>
          </p:cNvSpPr>
          <p:nvPr/>
        </p:nvSpPr>
        <p:spPr bwMode="auto">
          <a:xfrm>
            <a:off x="1446277" y="4296627"/>
            <a:ext cx="1672684" cy="19958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7780">
            <a:solidFill>
              <a:schemeClr val="tx1"/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algn="ctr">
              <a:buClrTx/>
              <a:buSzTx/>
              <a:buFontTx/>
              <a:buNone/>
            </a:pPr>
            <a:r>
              <a:rPr lang="en-US" sz="1000" dirty="0"/>
              <a:t>Gardener Controller Manager</a:t>
            </a:r>
          </a:p>
        </p:txBody>
      </p:sp>
      <p:sp>
        <p:nvSpPr>
          <p:cNvPr id="216" name="Rectangle 138"/>
          <p:cNvSpPr>
            <a:spLocks noChangeArrowheads="1"/>
          </p:cNvSpPr>
          <p:nvPr/>
        </p:nvSpPr>
        <p:spPr bwMode="auto">
          <a:xfrm>
            <a:off x="3123879" y="4296627"/>
            <a:ext cx="214682" cy="19958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7780">
            <a:solidFill>
              <a:schemeClr val="tx1"/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algn="ctr">
              <a:buClrTx/>
              <a:buSzTx/>
              <a:buFontTx/>
              <a:buNone/>
            </a:pPr>
            <a:r>
              <a:rPr lang="en-US" sz="1000"/>
              <a:t>D</a:t>
            </a:r>
          </a:p>
        </p:txBody>
      </p:sp>
      <p:sp>
        <p:nvSpPr>
          <p:cNvPr id="222" name="Rectangle 138"/>
          <p:cNvSpPr>
            <a:spLocks noChangeArrowheads="1"/>
          </p:cNvSpPr>
          <p:nvPr/>
        </p:nvSpPr>
        <p:spPr bwMode="auto">
          <a:xfrm>
            <a:off x="3297071" y="896752"/>
            <a:ext cx="780758" cy="39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7780">
            <a:solidFill>
              <a:schemeClr val="tx1"/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algn="ctr"/>
            <a:r>
              <a:rPr lang="en-US" sz="1200" dirty="0"/>
              <a:t>Gardener</a:t>
            </a:r>
          </a:p>
          <a:p>
            <a:pPr algn="ctr"/>
            <a:r>
              <a:rPr lang="en-US" sz="1200" dirty="0"/>
              <a:t>Dashboard</a:t>
            </a:r>
          </a:p>
        </p:txBody>
      </p:sp>
      <p:cxnSp>
        <p:nvCxnSpPr>
          <p:cNvPr id="236" name="Straight Connector 235"/>
          <p:cNvCxnSpPr/>
          <p:nvPr/>
        </p:nvCxnSpPr>
        <p:spPr>
          <a:xfrm flipH="1">
            <a:off x="2559826" y="713163"/>
            <a:ext cx="875" cy="1863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9" name="Rectangle 138"/>
          <p:cNvSpPr>
            <a:spLocks noChangeArrowheads="1"/>
          </p:cNvSpPr>
          <p:nvPr/>
        </p:nvSpPr>
        <p:spPr bwMode="auto">
          <a:xfrm>
            <a:off x="8729137" y="889413"/>
            <a:ext cx="943410" cy="396000"/>
          </a:xfrm>
          <a:prstGeom prst="rect">
            <a:avLst/>
          </a:prstGeom>
          <a:solidFill>
            <a:srgbClr val="DDDDDD"/>
          </a:solidFill>
          <a:ln w="17780">
            <a:solidFill>
              <a:schemeClr val="tx1"/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algn="ctr"/>
            <a:r>
              <a:rPr lang="en-US" sz="1200" dirty="0" err="1"/>
              <a:t>kubectl</a:t>
            </a:r>
            <a:endParaRPr lang="en-US" sz="1200" dirty="0"/>
          </a:p>
        </p:txBody>
      </p:sp>
      <p:sp>
        <p:nvSpPr>
          <p:cNvPr id="270" name="Rectangle 138"/>
          <p:cNvSpPr>
            <a:spLocks noChangeArrowheads="1"/>
          </p:cNvSpPr>
          <p:nvPr/>
        </p:nvSpPr>
        <p:spPr bwMode="auto">
          <a:xfrm>
            <a:off x="10221130" y="889413"/>
            <a:ext cx="943410" cy="396000"/>
          </a:xfrm>
          <a:prstGeom prst="rect">
            <a:avLst/>
          </a:prstGeom>
          <a:solidFill>
            <a:srgbClr val="DDDDDD"/>
          </a:solidFill>
          <a:ln w="17780">
            <a:solidFill>
              <a:schemeClr val="tx1"/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algn="ctr"/>
            <a:r>
              <a:rPr lang="en-US" sz="1200" dirty="0"/>
              <a:t>Kubernetes</a:t>
            </a:r>
          </a:p>
          <a:p>
            <a:pPr algn="ctr"/>
            <a:r>
              <a:rPr lang="en-US" sz="1200" dirty="0"/>
              <a:t>Dashboard</a:t>
            </a:r>
          </a:p>
        </p:txBody>
      </p:sp>
      <p:cxnSp>
        <p:nvCxnSpPr>
          <p:cNvPr id="271" name="Straight Connector 270"/>
          <p:cNvCxnSpPr/>
          <p:nvPr/>
        </p:nvCxnSpPr>
        <p:spPr>
          <a:xfrm flipH="1">
            <a:off x="9206690" y="703059"/>
            <a:ext cx="875" cy="1863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Straight Connector 303"/>
          <p:cNvCxnSpPr/>
          <p:nvPr/>
        </p:nvCxnSpPr>
        <p:spPr>
          <a:xfrm flipH="1">
            <a:off x="10689056" y="703059"/>
            <a:ext cx="875" cy="1863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9" name="Rectangle 138"/>
          <p:cNvSpPr>
            <a:spLocks noChangeArrowheads="1"/>
          </p:cNvSpPr>
          <p:nvPr/>
        </p:nvSpPr>
        <p:spPr bwMode="auto">
          <a:xfrm>
            <a:off x="4694031" y="2610932"/>
            <a:ext cx="1143753" cy="396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7780">
            <a:solidFill>
              <a:schemeClr val="tx1"/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algn="ctr"/>
            <a:r>
              <a:rPr lang="en-US" sz="1200"/>
              <a:t>Seed Cluster</a:t>
            </a:r>
          </a:p>
          <a:p>
            <a:pPr algn="ctr"/>
            <a:r>
              <a:rPr lang="en-US" sz="1200"/>
              <a:t>Control Plane</a:t>
            </a:r>
          </a:p>
        </p:txBody>
      </p:sp>
      <p:grpSp>
        <p:nvGrpSpPr>
          <p:cNvPr id="322" name="Group 133"/>
          <p:cNvGrpSpPr>
            <a:grpSpLocks/>
          </p:cNvGrpSpPr>
          <p:nvPr/>
        </p:nvGrpSpPr>
        <p:grpSpPr bwMode="auto">
          <a:xfrm rot="5400000">
            <a:off x="2244204" y="2661926"/>
            <a:ext cx="251537" cy="295558"/>
            <a:chOff x="998" y="3624"/>
            <a:chExt cx="271" cy="271"/>
          </a:xfrm>
        </p:grpSpPr>
        <p:sp>
          <p:nvSpPr>
            <p:cNvPr id="323" name="Freeform 134"/>
            <p:cNvSpPr>
              <a:spLocks/>
            </p:cNvSpPr>
            <p:nvPr/>
          </p:nvSpPr>
          <p:spPr bwMode="auto">
            <a:xfrm>
              <a:off x="1043" y="3624"/>
              <a:ext cx="46" cy="272"/>
            </a:xfrm>
            <a:custGeom>
              <a:avLst/>
              <a:gdLst>
                <a:gd name="T0" fmla="*/ 3 w 201"/>
                <a:gd name="T1" fmla="*/ 0 h 1201"/>
                <a:gd name="T2" fmla="*/ 3 w 201"/>
                <a:gd name="T3" fmla="*/ 14 h 1201"/>
                <a:gd name="T4" fmla="*/ 0 60000 65536"/>
                <a:gd name="T5" fmla="*/ 0 60000 65536"/>
                <a:gd name="T6" fmla="*/ 0 w 201"/>
                <a:gd name="T7" fmla="*/ 0 h 1201"/>
                <a:gd name="T8" fmla="*/ 201 w 201"/>
                <a:gd name="T9" fmla="*/ 1201 h 120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01" h="1201">
                  <a:moveTo>
                    <a:pt x="200" y="0"/>
                  </a:moveTo>
                  <a:cubicBezTo>
                    <a:pt x="0" y="400"/>
                    <a:pt x="0" y="800"/>
                    <a:pt x="200" y="1200"/>
                  </a:cubicBezTo>
                </a:path>
              </a:pathLst>
            </a:custGeom>
            <a:noFill/>
            <a:ln w="72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4" name="Freeform 135"/>
            <p:cNvSpPr>
              <a:spLocks/>
            </p:cNvSpPr>
            <p:nvPr/>
          </p:nvSpPr>
          <p:spPr bwMode="auto">
            <a:xfrm>
              <a:off x="1179" y="3624"/>
              <a:ext cx="46" cy="272"/>
            </a:xfrm>
            <a:custGeom>
              <a:avLst/>
              <a:gdLst>
                <a:gd name="T0" fmla="*/ 0 w 201"/>
                <a:gd name="T1" fmla="*/ 14 h 1201"/>
                <a:gd name="T2" fmla="*/ 0 w 201"/>
                <a:gd name="T3" fmla="*/ 0 h 1201"/>
                <a:gd name="T4" fmla="*/ 0 60000 65536"/>
                <a:gd name="T5" fmla="*/ 0 60000 65536"/>
                <a:gd name="T6" fmla="*/ 0 w 201"/>
                <a:gd name="T7" fmla="*/ 0 h 1201"/>
                <a:gd name="T8" fmla="*/ 201 w 201"/>
                <a:gd name="T9" fmla="*/ 1201 h 120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01" h="1201">
                  <a:moveTo>
                    <a:pt x="0" y="1200"/>
                  </a:moveTo>
                  <a:cubicBezTo>
                    <a:pt x="200" y="800"/>
                    <a:pt x="200" y="400"/>
                    <a:pt x="0" y="0"/>
                  </a:cubicBezTo>
                </a:path>
              </a:pathLst>
            </a:custGeom>
            <a:noFill/>
            <a:ln w="72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6" name="AutoShape 136"/>
            <p:cNvSpPr>
              <a:spLocks noChangeArrowheads="1"/>
            </p:cNvSpPr>
            <p:nvPr/>
          </p:nvSpPr>
          <p:spPr bwMode="auto">
            <a:xfrm>
              <a:off x="998" y="3624"/>
              <a:ext cx="272" cy="272"/>
            </a:xfrm>
            <a:prstGeom prst="roundRect">
              <a:avLst>
                <a:gd name="adj" fmla="val 366"/>
              </a:avLst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21" name="AutoShape 29"/>
          <p:cNvSpPr>
            <a:spLocks noChangeArrowheads="1"/>
          </p:cNvSpPr>
          <p:nvPr/>
        </p:nvSpPr>
        <p:spPr bwMode="auto">
          <a:xfrm>
            <a:off x="2517753" y="2610341"/>
            <a:ext cx="884977" cy="392174"/>
          </a:xfrm>
          <a:prstGeom prst="roundRect">
            <a:avLst>
              <a:gd name="adj" fmla="val 50000"/>
            </a:avLst>
          </a:prstGeom>
          <a:solidFill>
            <a:schemeClr val="accent6">
              <a:lumMod val="60000"/>
              <a:lumOff val="40000"/>
            </a:schemeClr>
          </a:solidFill>
          <a:ln w="17780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 anchor="ctr"/>
          <a:lstStyle/>
          <a:p>
            <a:pPr>
              <a:buClrTx/>
              <a:buSzTx/>
              <a:buFontTx/>
              <a:buNone/>
            </a:pPr>
            <a:r>
              <a:rPr lang="en-US" sz="1200" dirty="0"/>
              <a:t> Storage</a:t>
            </a:r>
          </a:p>
          <a:p>
            <a:pPr>
              <a:buClrTx/>
              <a:buSzTx/>
              <a:buFontTx/>
              <a:buNone/>
            </a:pPr>
            <a:r>
              <a:rPr lang="de-DE" sz="600" dirty="0"/>
              <a:t>  [K8s] DS, RS, SS, J, ...</a:t>
            </a:r>
          </a:p>
          <a:p>
            <a:pPr>
              <a:buClrTx/>
              <a:buSzTx/>
              <a:buFontTx/>
              <a:buNone/>
            </a:pPr>
            <a:r>
              <a:rPr lang="de-DE" sz="600" dirty="0"/>
              <a:t>  [CRD] </a:t>
            </a:r>
            <a:r>
              <a:rPr lang="de-DE" sz="600" dirty="0" err="1"/>
              <a:t>Shoot</a:t>
            </a:r>
            <a:r>
              <a:rPr lang="de-DE" sz="600" dirty="0"/>
              <a:t>, </a:t>
            </a:r>
            <a:r>
              <a:rPr lang="de-DE" sz="600" dirty="0" err="1"/>
              <a:t>Seed</a:t>
            </a:r>
            <a:r>
              <a:rPr lang="de-DE" sz="600" dirty="0"/>
              <a:t>, ...</a:t>
            </a:r>
            <a:endParaRPr lang="en-US" sz="600" dirty="0"/>
          </a:p>
        </p:txBody>
      </p:sp>
      <p:sp>
        <p:nvSpPr>
          <p:cNvPr id="327" name="Rectangle 138"/>
          <p:cNvSpPr>
            <a:spLocks noChangeArrowheads="1"/>
          </p:cNvSpPr>
          <p:nvPr/>
        </p:nvSpPr>
        <p:spPr bwMode="auto">
          <a:xfrm>
            <a:off x="1088006" y="2610932"/>
            <a:ext cx="1143753" cy="396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7780">
            <a:solidFill>
              <a:schemeClr val="tx1"/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algn="ctr"/>
            <a:r>
              <a:rPr lang="en-US" sz="1200"/>
              <a:t>Garden Cluster</a:t>
            </a:r>
          </a:p>
          <a:p>
            <a:pPr algn="ctr"/>
            <a:r>
              <a:rPr lang="en-US" sz="1200"/>
              <a:t>Control Plane</a:t>
            </a:r>
          </a:p>
        </p:txBody>
      </p:sp>
      <p:grpSp>
        <p:nvGrpSpPr>
          <p:cNvPr id="328" name="Group 133"/>
          <p:cNvGrpSpPr>
            <a:grpSpLocks/>
          </p:cNvGrpSpPr>
          <p:nvPr/>
        </p:nvGrpSpPr>
        <p:grpSpPr bwMode="auto">
          <a:xfrm rot="5400000">
            <a:off x="5850302" y="2687731"/>
            <a:ext cx="224283" cy="251319"/>
            <a:chOff x="998" y="3624"/>
            <a:chExt cx="271" cy="271"/>
          </a:xfrm>
        </p:grpSpPr>
        <p:sp>
          <p:nvSpPr>
            <p:cNvPr id="329" name="Freeform 134"/>
            <p:cNvSpPr>
              <a:spLocks/>
            </p:cNvSpPr>
            <p:nvPr/>
          </p:nvSpPr>
          <p:spPr bwMode="auto">
            <a:xfrm>
              <a:off x="1043" y="3624"/>
              <a:ext cx="46" cy="272"/>
            </a:xfrm>
            <a:custGeom>
              <a:avLst/>
              <a:gdLst>
                <a:gd name="T0" fmla="*/ 3 w 201"/>
                <a:gd name="T1" fmla="*/ 0 h 1201"/>
                <a:gd name="T2" fmla="*/ 3 w 201"/>
                <a:gd name="T3" fmla="*/ 14 h 1201"/>
                <a:gd name="T4" fmla="*/ 0 60000 65536"/>
                <a:gd name="T5" fmla="*/ 0 60000 65536"/>
                <a:gd name="T6" fmla="*/ 0 w 201"/>
                <a:gd name="T7" fmla="*/ 0 h 1201"/>
                <a:gd name="T8" fmla="*/ 201 w 201"/>
                <a:gd name="T9" fmla="*/ 1201 h 120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01" h="1201">
                  <a:moveTo>
                    <a:pt x="200" y="0"/>
                  </a:moveTo>
                  <a:cubicBezTo>
                    <a:pt x="0" y="400"/>
                    <a:pt x="0" y="800"/>
                    <a:pt x="200" y="1200"/>
                  </a:cubicBezTo>
                </a:path>
              </a:pathLst>
            </a:custGeom>
            <a:noFill/>
            <a:ln w="72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0" name="Freeform 135"/>
            <p:cNvSpPr>
              <a:spLocks/>
            </p:cNvSpPr>
            <p:nvPr/>
          </p:nvSpPr>
          <p:spPr bwMode="auto">
            <a:xfrm>
              <a:off x="1179" y="3624"/>
              <a:ext cx="46" cy="272"/>
            </a:xfrm>
            <a:custGeom>
              <a:avLst/>
              <a:gdLst>
                <a:gd name="T0" fmla="*/ 0 w 201"/>
                <a:gd name="T1" fmla="*/ 14 h 1201"/>
                <a:gd name="T2" fmla="*/ 0 w 201"/>
                <a:gd name="T3" fmla="*/ 0 h 1201"/>
                <a:gd name="T4" fmla="*/ 0 60000 65536"/>
                <a:gd name="T5" fmla="*/ 0 60000 65536"/>
                <a:gd name="T6" fmla="*/ 0 w 201"/>
                <a:gd name="T7" fmla="*/ 0 h 1201"/>
                <a:gd name="T8" fmla="*/ 201 w 201"/>
                <a:gd name="T9" fmla="*/ 1201 h 120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01" h="1201">
                  <a:moveTo>
                    <a:pt x="0" y="1200"/>
                  </a:moveTo>
                  <a:cubicBezTo>
                    <a:pt x="200" y="800"/>
                    <a:pt x="200" y="400"/>
                    <a:pt x="0" y="0"/>
                  </a:cubicBezTo>
                </a:path>
              </a:pathLst>
            </a:custGeom>
            <a:noFill/>
            <a:ln w="72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1" name="AutoShape 136"/>
            <p:cNvSpPr>
              <a:spLocks noChangeArrowheads="1"/>
            </p:cNvSpPr>
            <p:nvPr/>
          </p:nvSpPr>
          <p:spPr bwMode="auto">
            <a:xfrm>
              <a:off x="998" y="3624"/>
              <a:ext cx="272" cy="272"/>
            </a:xfrm>
            <a:prstGeom prst="roundRect">
              <a:avLst>
                <a:gd name="adj" fmla="val 366"/>
              </a:avLst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32" name="AutoShape 29"/>
          <p:cNvSpPr>
            <a:spLocks noChangeArrowheads="1"/>
          </p:cNvSpPr>
          <p:nvPr/>
        </p:nvSpPr>
        <p:spPr bwMode="auto">
          <a:xfrm>
            <a:off x="6088104" y="2610341"/>
            <a:ext cx="1152626" cy="407892"/>
          </a:xfrm>
          <a:prstGeom prst="roundRect">
            <a:avLst>
              <a:gd name="adj" fmla="val 50000"/>
            </a:avLst>
          </a:prstGeom>
          <a:solidFill>
            <a:schemeClr val="accent5">
              <a:lumMod val="60000"/>
              <a:lumOff val="40000"/>
            </a:schemeClr>
          </a:solidFill>
          <a:ln w="17780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 anchor="ctr"/>
          <a:lstStyle/>
          <a:p>
            <a:pPr algn="ctr">
              <a:buClrTx/>
              <a:buSzTx/>
              <a:buFontTx/>
              <a:buNone/>
            </a:pPr>
            <a:r>
              <a:rPr lang="en-US" sz="1200" dirty="0"/>
              <a:t> Storage</a:t>
            </a:r>
          </a:p>
          <a:p>
            <a:pPr>
              <a:buClrTx/>
              <a:buSzTx/>
              <a:buFontTx/>
              <a:buNone/>
            </a:pPr>
            <a:r>
              <a:rPr lang="de-DE" sz="600" dirty="0"/>
              <a:t>[K8s] DS, RS, SS, J, ...</a:t>
            </a:r>
            <a:br>
              <a:rPr lang="de-DE" sz="600" dirty="0"/>
            </a:br>
            <a:r>
              <a:rPr lang="de-DE" sz="600" dirty="0"/>
              <a:t>[CRD] </a:t>
            </a:r>
            <a:r>
              <a:rPr lang="de-DE" sz="600" dirty="0" err="1"/>
              <a:t>Machine</a:t>
            </a:r>
            <a:r>
              <a:rPr lang="de-DE" sz="600" dirty="0"/>
              <a:t> </a:t>
            </a:r>
            <a:r>
              <a:rPr lang="de-DE" sz="600" dirty="0" err="1"/>
              <a:t>Deployment</a:t>
            </a:r>
            <a:endParaRPr lang="de-DE" sz="600" dirty="0"/>
          </a:p>
          <a:p>
            <a:pPr>
              <a:buClrTx/>
              <a:buSzTx/>
              <a:buFontTx/>
              <a:buNone/>
            </a:pPr>
            <a:endParaRPr lang="de-DE" sz="600" dirty="0"/>
          </a:p>
        </p:txBody>
      </p:sp>
      <p:cxnSp>
        <p:nvCxnSpPr>
          <p:cNvPr id="334" name="Straight Connector 333"/>
          <p:cNvCxnSpPr>
            <a:cxnSpLocks/>
            <a:stCxn id="222" idx="2"/>
          </p:cNvCxnSpPr>
          <p:nvPr/>
        </p:nvCxnSpPr>
        <p:spPr>
          <a:xfrm>
            <a:off x="3687450" y="1292752"/>
            <a:ext cx="0" cy="91505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Elbow Connector 336"/>
          <p:cNvCxnSpPr>
            <a:cxnSpLocks/>
          </p:cNvCxnSpPr>
          <p:nvPr/>
        </p:nvCxnSpPr>
        <p:spPr>
          <a:xfrm rot="16200000" flipH="1">
            <a:off x="1297111" y="1491784"/>
            <a:ext cx="900491" cy="517048"/>
          </a:xfrm>
          <a:prstGeom prst="bentConnector3">
            <a:avLst>
              <a:gd name="adj1" fmla="val 50832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8" name="Straight Connector 347"/>
          <p:cNvCxnSpPr/>
          <p:nvPr/>
        </p:nvCxnSpPr>
        <p:spPr>
          <a:xfrm flipH="1" flipV="1">
            <a:off x="2113431" y="3010255"/>
            <a:ext cx="4431" cy="2839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0" name="Straight Connector 349"/>
          <p:cNvCxnSpPr>
            <a:cxnSpLocks/>
            <a:stCxn id="327" idx="2"/>
          </p:cNvCxnSpPr>
          <p:nvPr/>
        </p:nvCxnSpPr>
        <p:spPr>
          <a:xfrm>
            <a:off x="1659883" y="3006932"/>
            <a:ext cx="2907" cy="4598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Elbow Connector 351"/>
          <p:cNvCxnSpPr>
            <a:cxnSpLocks/>
            <a:endCxn id="216" idx="3"/>
          </p:cNvCxnSpPr>
          <p:nvPr/>
        </p:nvCxnSpPr>
        <p:spPr>
          <a:xfrm>
            <a:off x="2118209" y="3294192"/>
            <a:ext cx="1220352" cy="1102228"/>
          </a:xfrm>
          <a:prstGeom prst="bentConnector3">
            <a:avLst>
              <a:gd name="adj1" fmla="val 116651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3" name="Elbow Connector 352"/>
          <p:cNvCxnSpPr>
            <a:cxnSpLocks/>
            <a:endCxn id="214" idx="3"/>
          </p:cNvCxnSpPr>
          <p:nvPr/>
        </p:nvCxnSpPr>
        <p:spPr>
          <a:xfrm>
            <a:off x="1881809" y="3373202"/>
            <a:ext cx="1456752" cy="765761"/>
          </a:xfrm>
          <a:prstGeom prst="bentConnector3">
            <a:avLst>
              <a:gd name="adj1" fmla="val 114092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0" name="Straight Connector 359"/>
          <p:cNvCxnSpPr/>
          <p:nvPr/>
        </p:nvCxnSpPr>
        <p:spPr>
          <a:xfrm flipH="1" flipV="1">
            <a:off x="1881809" y="3002515"/>
            <a:ext cx="3173" cy="36921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Elbow Connector 376"/>
          <p:cNvCxnSpPr>
            <a:cxnSpLocks/>
            <a:stCxn id="269" idx="2"/>
            <a:endCxn id="537" idx="0"/>
          </p:cNvCxnSpPr>
          <p:nvPr/>
        </p:nvCxnSpPr>
        <p:spPr>
          <a:xfrm rot="5400000">
            <a:off x="7634130" y="641793"/>
            <a:ext cx="923093" cy="2210333"/>
          </a:xfrm>
          <a:prstGeom prst="bentConnector3">
            <a:avLst>
              <a:gd name="adj1" fmla="val 39095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8" name="Straight Connector 417"/>
          <p:cNvCxnSpPr/>
          <p:nvPr/>
        </p:nvCxnSpPr>
        <p:spPr>
          <a:xfrm flipV="1">
            <a:off x="5293146" y="2427237"/>
            <a:ext cx="0" cy="18807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1" name="Elbow Connector 430"/>
          <p:cNvCxnSpPr>
            <a:cxnSpLocks/>
          </p:cNvCxnSpPr>
          <p:nvPr/>
        </p:nvCxnSpPr>
        <p:spPr>
          <a:xfrm rot="16200000" flipH="1">
            <a:off x="7652720" y="2480640"/>
            <a:ext cx="1715134" cy="410050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" name="Elbow Connector 512"/>
          <p:cNvCxnSpPr>
            <a:cxnSpLocks/>
          </p:cNvCxnSpPr>
          <p:nvPr/>
        </p:nvCxnSpPr>
        <p:spPr>
          <a:xfrm rot="16200000" flipH="1">
            <a:off x="7936450" y="1531013"/>
            <a:ext cx="1924640" cy="3279627"/>
          </a:xfrm>
          <a:prstGeom prst="bentConnector4">
            <a:avLst>
              <a:gd name="adj1" fmla="val -29220"/>
              <a:gd name="adj2" fmla="val 123085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5" name="Elbow Connector 534"/>
          <p:cNvCxnSpPr>
            <a:cxnSpLocks/>
          </p:cNvCxnSpPr>
          <p:nvPr/>
        </p:nvCxnSpPr>
        <p:spPr>
          <a:xfrm rot="10800000" flipV="1">
            <a:off x="7718284" y="1834183"/>
            <a:ext cx="586978" cy="373619"/>
          </a:xfrm>
          <a:prstGeom prst="bentConnector3">
            <a:avLst>
              <a:gd name="adj1" fmla="val 146281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0" name="Elbow Connector 579"/>
          <p:cNvCxnSpPr>
            <a:cxnSpLocks/>
          </p:cNvCxnSpPr>
          <p:nvPr/>
        </p:nvCxnSpPr>
        <p:spPr>
          <a:xfrm rot="10800000" flipV="1">
            <a:off x="7341339" y="1738285"/>
            <a:ext cx="3690990" cy="467046"/>
          </a:xfrm>
          <a:prstGeom prst="bentConnector3">
            <a:avLst>
              <a:gd name="adj1" fmla="val 99882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6" name="Elbow Connector 595"/>
          <p:cNvCxnSpPr>
            <a:cxnSpLocks/>
            <a:stCxn id="555" idx="3"/>
          </p:cNvCxnSpPr>
          <p:nvPr/>
        </p:nvCxnSpPr>
        <p:spPr>
          <a:xfrm flipV="1">
            <a:off x="10538584" y="1732414"/>
            <a:ext cx="493745" cy="2143275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/>
          <p:cNvGrpSpPr/>
          <p:nvPr/>
        </p:nvGrpSpPr>
        <p:grpSpPr>
          <a:xfrm>
            <a:off x="1542662" y="3030650"/>
            <a:ext cx="151694" cy="171029"/>
            <a:chOff x="4873292" y="581648"/>
            <a:chExt cx="151694" cy="171029"/>
          </a:xfrm>
        </p:grpSpPr>
        <p:sp>
          <p:nvSpPr>
            <p:cNvPr id="206" name="Line 104"/>
            <p:cNvSpPr>
              <a:spLocks noChangeShapeType="1"/>
            </p:cNvSpPr>
            <p:nvPr/>
          </p:nvSpPr>
          <p:spPr bwMode="auto">
            <a:xfrm flipH="1" flipV="1">
              <a:off x="4900280" y="581648"/>
              <a:ext cx="0" cy="40770"/>
            </a:xfrm>
            <a:prstGeom prst="line">
              <a:avLst/>
            </a:prstGeom>
            <a:noFill/>
            <a:ln w="8890">
              <a:solidFill>
                <a:schemeClr val="tx1"/>
              </a:solidFill>
              <a:round/>
              <a:headEnd/>
              <a:tailEnd type="stealth" w="med" len="med"/>
            </a:ln>
          </p:spPr>
          <p:txBody>
            <a:bodyPr lIns="90000" tIns="46800" rIns="90000" bIns="46800" anchor="ctr"/>
            <a:lstStyle/>
            <a:p>
              <a:endParaRPr lang="en-US"/>
            </a:p>
          </p:txBody>
        </p:sp>
        <p:sp>
          <p:nvSpPr>
            <p:cNvPr id="207" name="Text Box 105"/>
            <p:cNvSpPr txBox="1">
              <a:spLocks noChangeArrowheads="1"/>
            </p:cNvSpPr>
            <p:nvPr/>
          </p:nvSpPr>
          <p:spPr bwMode="auto">
            <a:xfrm>
              <a:off x="4873292" y="630439"/>
              <a:ext cx="85725" cy="12223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l">
                <a:buClrTx/>
                <a:buSzTx/>
                <a:buFontTx/>
                <a:buNone/>
              </a:pPr>
              <a:r>
                <a:rPr lang="en-US" sz="800" b="1"/>
                <a:t>R</a:t>
              </a:r>
            </a:p>
          </p:txBody>
        </p:sp>
        <p:sp>
          <p:nvSpPr>
            <p:cNvPr id="205" name="AutoShape 76"/>
            <p:cNvSpPr>
              <a:spLocks noChangeArrowheads="1"/>
            </p:cNvSpPr>
            <p:nvPr/>
          </p:nvSpPr>
          <p:spPr bwMode="auto">
            <a:xfrm rot="5400000">
              <a:off x="4952986" y="623443"/>
              <a:ext cx="72000" cy="72000"/>
            </a:xfrm>
            <a:prstGeom prst="flowChartConnector">
              <a:avLst/>
            </a:prstGeom>
            <a:solidFill>
              <a:schemeClr val="bg1"/>
            </a:solidFill>
            <a:ln w="1778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endParaRPr lang="en-US"/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-277953" y="5986667"/>
            <a:ext cx="180269" cy="171029"/>
            <a:chOff x="5145186" y="581648"/>
            <a:chExt cx="180269" cy="171029"/>
          </a:xfrm>
        </p:grpSpPr>
        <p:sp>
          <p:nvSpPr>
            <p:cNvPr id="225" name="Line 104"/>
            <p:cNvSpPr>
              <a:spLocks noChangeShapeType="1"/>
            </p:cNvSpPr>
            <p:nvPr/>
          </p:nvSpPr>
          <p:spPr bwMode="auto">
            <a:xfrm flipV="1">
              <a:off x="5266717" y="581648"/>
              <a:ext cx="0" cy="40770"/>
            </a:xfrm>
            <a:prstGeom prst="line">
              <a:avLst/>
            </a:prstGeom>
            <a:noFill/>
            <a:ln w="8890">
              <a:solidFill>
                <a:schemeClr val="tx1"/>
              </a:solidFill>
              <a:round/>
              <a:headEnd/>
              <a:tailEnd type="stealth" w="med" len="med"/>
            </a:ln>
          </p:spPr>
          <p:txBody>
            <a:bodyPr lIns="90000" tIns="46800" rIns="90000" bIns="46800" anchor="ctr"/>
            <a:lstStyle/>
            <a:p>
              <a:endParaRPr lang="en-US"/>
            </a:p>
          </p:txBody>
        </p:sp>
        <p:sp>
          <p:nvSpPr>
            <p:cNvPr id="226" name="Text Box 105"/>
            <p:cNvSpPr txBox="1">
              <a:spLocks noChangeArrowheads="1"/>
            </p:cNvSpPr>
            <p:nvPr/>
          </p:nvSpPr>
          <p:spPr bwMode="auto">
            <a:xfrm flipH="1">
              <a:off x="5239730" y="630439"/>
              <a:ext cx="85725" cy="12223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l">
                <a:buClrTx/>
                <a:buSzTx/>
                <a:buFontTx/>
                <a:buNone/>
              </a:pPr>
              <a:r>
                <a:rPr lang="en-US" sz="800" b="1"/>
                <a:t>R</a:t>
              </a:r>
            </a:p>
          </p:txBody>
        </p:sp>
        <p:sp>
          <p:nvSpPr>
            <p:cNvPr id="224" name="AutoShape 76"/>
            <p:cNvSpPr>
              <a:spLocks noChangeArrowheads="1"/>
            </p:cNvSpPr>
            <p:nvPr/>
          </p:nvSpPr>
          <p:spPr bwMode="auto">
            <a:xfrm rot="16200000" flipH="1">
              <a:off x="5145186" y="623443"/>
              <a:ext cx="72000" cy="72000"/>
            </a:xfrm>
            <a:prstGeom prst="flowChartConnector">
              <a:avLst/>
            </a:prstGeom>
            <a:solidFill>
              <a:schemeClr val="bg1"/>
            </a:solidFill>
            <a:ln w="1778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endParaRPr lang="en-US"/>
            </a:p>
          </p:txBody>
        </p:sp>
      </p:grpSp>
      <p:sp>
        <p:nvSpPr>
          <p:cNvPr id="227" name="Line 104"/>
          <p:cNvSpPr>
            <a:spLocks noChangeShapeType="1"/>
          </p:cNvSpPr>
          <p:nvPr/>
        </p:nvSpPr>
        <p:spPr bwMode="auto">
          <a:xfrm flipH="1">
            <a:off x="-637314" y="5846399"/>
            <a:ext cx="0" cy="34744"/>
          </a:xfrm>
          <a:prstGeom prst="line">
            <a:avLst/>
          </a:prstGeom>
          <a:noFill/>
          <a:ln w="8890">
            <a:solidFill>
              <a:schemeClr val="tx1"/>
            </a:solidFill>
            <a:round/>
            <a:headEnd/>
            <a:tailEnd type="stealth" w="med" len="med"/>
          </a:ln>
        </p:spPr>
        <p:txBody>
          <a:bodyPr lIns="90000" tIns="46800" rIns="90000" bIns="46800" anchor="ctr"/>
          <a:lstStyle/>
          <a:p>
            <a:endParaRPr lang="en-US"/>
          </a:p>
        </p:txBody>
      </p:sp>
      <p:sp>
        <p:nvSpPr>
          <p:cNvPr id="228" name="Text Box 105"/>
          <p:cNvSpPr txBox="1">
            <a:spLocks noChangeArrowheads="1"/>
          </p:cNvSpPr>
          <p:nvPr/>
        </p:nvSpPr>
        <p:spPr bwMode="auto">
          <a:xfrm>
            <a:off x="-664302" y="5709692"/>
            <a:ext cx="85725" cy="1222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l">
              <a:buClrTx/>
              <a:buSzTx/>
              <a:buFontTx/>
              <a:buNone/>
            </a:pPr>
            <a:r>
              <a:rPr lang="en-US" sz="800" b="1"/>
              <a:t>R</a:t>
            </a:r>
          </a:p>
        </p:txBody>
      </p:sp>
      <p:sp>
        <p:nvSpPr>
          <p:cNvPr id="229" name="AutoShape 76"/>
          <p:cNvSpPr>
            <a:spLocks noChangeArrowheads="1"/>
          </p:cNvSpPr>
          <p:nvPr/>
        </p:nvSpPr>
        <p:spPr bwMode="auto">
          <a:xfrm rot="5400000">
            <a:off x="-584608" y="5774399"/>
            <a:ext cx="72000" cy="72000"/>
          </a:xfrm>
          <a:prstGeom prst="flowChartConnector">
            <a:avLst/>
          </a:prstGeom>
          <a:solidFill>
            <a:schemeClr val="bg1"/>
          </a:solidFill>
          <a:ln w="17780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-277953" y="5709692"/>
            <a:ext cx="180269" cy="171451"/>
            <a:chOff x="5145186" y="193240"/>
            <a:chExt cx="180269" cy="171451"/>
          </a:xfrm>
        </p:grpSpPr>
        <p:sp>
          <p:nvSpPr>
            <p:cNvPr id="239" name="Line 104"/>
            <p:cNvSpPr>
              <a:spLocks noChangeShapeType="1"/>
            </p:cNvSpPr>
            <p:nvPr/>
          </p:nvSpPr>
          <p:spPr bwMode="auto">
            <a:xfrm>
              <a:off x="5266717" y="329947"/>
              <a:ext cx="0" cy="34744"/>
            </a:xfrm>
            <a:prstGeom prst="line">
              <a:avLst/>
            </a:prstGeom>
            <a:noFill/>
            <a:ln w="8890">
              <a:solidFill>
                <a:schemeClr val="tx1"/>
              </a:solidFill>
              <a:round/>
              <a:headEnd/>
              <a:tailEnd type="stealth" w="med" len="med"/>
            </a:ln>
          </p:spPr>
          <p:txBody>
            <a:bodyPr lIns="90000" tIns="46800" rIns="90000" bIns="46800" anchor="ctr"/>
            <a:lstStyle/>
            <a:p>
              <a:endParaRPr lang="en-US"/>
            </a:p>
          </p:txBody>
        </p:sp>
        <p:sp>
          <p:nvSpPr>
            <p:cNvPr id="240" name="Text Box 105"/>
            <p:cNvSpPr txBox="1">
              <a:spLocks noChangeArrowheads="1"/>
            </p:cNvSpPr>
            <p:nvPr/>
          </p:nvSpPr>
          <p:spPr bwMode="auto">
            <a:xfrm flipH="1">
              <a:off x="5239730" y="193240"/>
              <a:ext cx="85725" cy="12223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l">
                <a:buClrTx/>
                <a:buSzTx/>
                <a:buFontTx/>
                <a:buNone/>
              </a:pPr>
              <a:r>
                <a:rPr lang="en-US" sz="800" b="1"/>
                <a:t>R</a:t>
              </a:r>
            </a:p>
          </p:txBody>
        </p:sp>
        <p:sp>
          <p:nvSpPr>
            <p:cNvPr id="241" name="AutoShape 76"/>
            <p:cNvSpPr>
              <a:spLocks noChangeArrowheads="1"/>
            </p:cNvSpPr>
            <p:nvPr/>
          </p:nvSpPr>
          <p:spPr bwMode="auto">
            <a:xfrm rot="16200000" flipH="1">
              <a:off x="5145186" y="257947"/>
              <a:ext cx="72000" cy="72000"/>
            </a:xfrm>
            <a:prstGeom prst="flowChartConnector">
              <a:avLst/>
            </a:prstGeom>
            <a:solidFill>
              <a:schemeClr val="bg1"/>
            </a:solidFill>
            <a:ln w="1778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endParaRPr lang="en-US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-664302" y="6591355"/>
            <a:ext cx="161055" cy="182227"/>
            <a:chOff x="5728872" y="623443"/>
            <a:chExt cx="161055" cy="182227"/>
          </a:xfrm>
        </p:grpSpPr>
        <p:sp>
          <p:nvSpPr>
            <p:cNvPr id="251" name="Text Box 105"/>
            <p:cNvSpPr txBox="1">
              <a:spLocks noChangeArrowheads="1"/>
            </p:cNvSpPr>
            <p:nvPr/>
          </p:nvSpPr>
          <p:spPr bwMode="auto">
            <a:xfrm>
              <a:off x="5804202" y="683432"/>
              <a:ext cx="85725" cy="12223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l">
                <a:buClrTx/>
                <a:buSzTx/>
                <a:buFontTx/>
                <a:buNone/>
              </a:pPr>
              <a:r>
                <a:rPr lang="en-US" sz="800" b="1"/>
                <a:t>R</a:t>
              </a:r>
            </a:p>
          </p:txBody>
        </p:sp>
        <p:sp>
          <p:nvSpPr>
            <p:cNvPr id="252" name="AutoShape 76"/>
            <p:cNvSpPr>
              <a:spLocks noChangeArrowheads="1"/>
            </p:cNvSpPr>
            <p:nvPr/>
          </p:nvSpPr>
          <p:spPr bwMode="auto">
            <a:xfrm rot="5400000">
              <a:off x="5769537" y="623443"/>
              <a:ext cx="72000" cy="72000"/>
            </a:xfrm>
            <a:prstGeom prst="flowChartConnector">
              <a:avLst/>
            </a:prstGeom>
            <a:solidFill>
              <a:schemeClr val="bg1"/>
            </a:solidFill>
            <a:ln w="1778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endParaRPr lang="en-US"/>
            </a:p>
          </p:txBody>
        </p:sp>
        <p:sp>
          <p:nvSpPr>
            <p:cNvPr id="256" name="Line 104"/>
            <p:cNvSpPr>
              <a:spLocks noChangeShapeType="1"/>
            </p:cNvSpPr>
            <p:nvPr/>
          </p:nvSpPr>
          <p:spPr bwMode="auto">
            <a:xfrm flipH="1" flipV="1">
              <a:off x="5728872" y="746245"/>
              <a:ext cx="44226" cy="0"/>
            </a:xfrm>
            <a:prstGeom prst="line">
              <a:avLst/>
            </a:prstGeom>
            <a:noFill/>
            <a:ln w="8890">
              <a:solidFill>
                <a:schemeClr val="tx1"/>
              </a:solidFill>
              <a:round/>
              <a:headEnd/>
              <a:tailEnd type="stealth" w="med" len="med"/>
            </a:ln>
          </p:spPr>
          <p:txBody>
            <a:bodyPr lIns="90000" tIns="46800" rIns="90000" bIns="46800" anchor="ctr"/>
            <a:lstStyle/>
            <a:p>
              <a:endParaRPr lang="en-US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-664302" y="6313103"/>
            <a:ext cx="133802" cy="181810"/>
            <a:chOff x="5750967" y="257947"/>
            <a:chExt cx="133802" cy="181810"/>
          </a:xfrm>
        </p:grpSpPr>
        <p:sp>
          <p:nvSpPr>
            <p:cNvPr id="257" name="Text Box 105"/>
            <p:cNvSpPr txBox="1">
              <a:spLocks noChangeArrowheads="1"/>
            </p:cNvSpPr>
            <p:nvPr/>
          </p:nvSpPr>
          <p:spPr bwMode="auto">
            <a:xfrm>
              <a:off x="5750967" y="317519"/>
              <a:ext cx="85725" cy="12223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l">
                <a:buClrTx/>
                <a:buSzTx/>
                <a:buFontTx/>
                <a:buNone/>
              </a:pPr>
              <a:r>
                <a:rPr lang="en-US" sz="800" b="1"/>
                <a:t>R</a:t>
              </a:r>
            </a:p>
          </p:txBody>
        </p:sp>
        <p:sp>
          <p:nvSpPr>
            <p:cNvPr id="258" name="AutoShape 76"/>
            <p:cNvSpPr>
              <a:spLocks noChangeArrowheads="1"/>
            </p:cNvSpPr>
            <p:nvPr/>
          </p:nvSpPr>
          <p:spPr bwMode="auto">
            <a:xfrm rot="5400000">
              <a:off x="5769537" y="257947"/>
              <a:ext cx="72000" cy="72000"/>
            </a:xfrm>
            <a:prstGeom prst="flowChartConnector">
              <a:avLst/>
            </a:prstGeom>
            <a:solidFill>
              <a:schemeClr val="bg1"/>
            </a:solidFill>
            <a:ln w="1778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endParaRPr lang="en-US"/>
            </a:p>
          </p:txBody>
        </p:sp>
        <p:sp>
          <p:nvSpPr>
            <p:cNvPr id="294" name="Line 104"/>
            <p:cNvSpPr>
              <a:spLocks noChangeShapeType="1"/>
            </p:cNvSpPr>
            <p:nvPr/>
          </p:nvSpPr>
          <p:spPr bwMode="auto">
            <a:xfrm flipV="1">
              <a:off x="5840543" y="379967"/>
              <a:ext cx="44226" cy="0"/>
            </a:xfrm>
            <a:prstGeom prst="line">
              <a:avLst/>
            </a:prstGeom>
            <a:noFill/>
            <a:ln w="8890">
              <a:solidFill>
                <a:schemeClr val="tx1"/>
              </a:solidFill>
              <a:round/>
              <a:headEnd/>
              <a:tailEnd type="stealth" w="med" len="med"/>
            </a:ln>
          </p:spPr>
          <p:txBody>
            <a:bodyPr lIns="90000" tIns="46800" rIns="90000" bIns="46800" anchor="ctr"/>
            <a:lstStyle/>
            <a:p>
              <a:endParaRPr lang="en-US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7594740" y="5918979"/>
            <a:ext cx="161055" cy="189811"/>
            <a:chOff x="6020928" y="505632"/>
            <a:chExt cx="161055" cy="189811"/>
          </a:xfrm>
        </p:grpSpPr>
        <p:sp>
          <p:nvSpPr>
            <p:cNvPr id="295" name="Text Box 105"/>
            <p:cNvSpPr txBox="1">
              <a:spLocks noChangeArrowheads="1"/>
            </p:cNvSpPr>
            <p:nvPr/>
          </p:nvSpPr>
          <p:spPr bwMode="auto">
            <a:xfrm>
              <a:off x="6096258" y="505632"/>
              <a:ext cx="85725" cy="12223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l">
                <a:buClrTx/>
                <a:buSzTx/>
                <a:buFontTx/>
                <a:buNone/>
              </a:pPr>
              <a:r>
                <a:rPr lang="en-US" sz="800" b="1"/>
                <a:t>R</a:t>
              </a:r>
            </a:p>
          </p:txBody>
        </p:sp>
        <p:sp>
          <p:nvSpPr>
            <p:cNvPr id="296" name="AutoShape 76"/>
            <p:cNvSpPr>
              <a:spLocks noChangeArrowheads="1"/>
            </p:cNvSpPr>
            <p:nvPr/>
          </p:nvSpPr>
          <p:spPr bwMode="auto">
            <a:xfrm rot="5400000">
              <a:off x="6061593" y="623443"/>
              <a:ext cx="72000" cy="72000"/>
            </a:xfrm>
            <a:prstGeom prst="flowChartConnector">
              <a:avLst/>
            </a:prstGeom>
            <a:solidFill>
              <a:schemeClr val="bg1"/>
            </a:solidFill>
            <a:ln w="1778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endParaRPr lang="en-US"/>
            </a:p>
          </p:txBody>
        </p:sp>
        <p:sp>
          <p:nvSpPr>
            <p:cNvPr id="297" name="Line 104"/>
            <p:cNvSpPr>
              <a:spLocks noChangeShapeType="1"/>
            </p:cNvSpPr>
            <p:nvPr/>
          </p:nvSpPr>
          <p:spPr bwMode="auto">
            <a:xfrm flipH="1" flipV="1">
              <a:off x="6020928" y="568445"/>
              <a:ext cx="44226" cy="0"/>
            </a:xfrm>
            <a:prstGeom prst="line">
              <a:avLst/>
            </a:prstGeom>
            <a:noFill/>
            <a:ln w="8890">
              <a:solidFill>
                <a:schemeClr val="tx1"/>
              </a:solidFill>
              <a:round/>
              <a:headEnd/>
              <a:tailEnd type="stealth" w="med" len="med"/>
            </a:ln>
          </p:spPr>
          <p:txBody>
            <a:bodyPr lIns="90000" tIns="46800" rIns="90000" bIns="46800" anchor="ctr"/>
            <a:lstStyle/>
            <a:p>
              <a:endParaRPr 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-298637" y="6313103"/>
            <a:ext cx="133802" cy="188751"/>
            <a:chOff x="6043023" y="141196"/>
            <a:chExt cx="133802" cy="188751"/>
          </a:xfrm>
        </p:grpSpPr>
        <p:sp>
          <p:nvSpPr>
            <p:cNvPr id="298" name="Text Box 105"/>
            <p:cNvSpPr txBox="1">
              <a:spLocks noChangeArrowheads="1"/>
            </p:cNvSpPr>
            <p:nvPr/>
          </p:nvSpPr>
          <p:spPr bwMode="auto">
            <a:xfrm>
              <a:off x="6043023" y="141196"/>
              <a:ext cx="85725" cy="12223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l">
                <a:buClrTx/>
                <a:buSzTx/>
                <a:buFontTx/>
                <a:buNone/>
              </a:pPr>
              <a:r>
                <a:rPr lang="en-US" sz="800" b="1"/>
                <a:t>R</a:t>
              </a:r>
            </a:p>
          </p:txBody>
        </p:sp>
        <p:sp>
          <p:nvSpPr>
            <p:cNvPr id="299" name="AutoShape 76"/>
            <p:cNvSpPr>
              <a:spLocks noChangeArrowheads="1"/>
            </p:cNvSpPr>
            <p:nvPr/>
          </p:nvSpPr>
          <p:spPr bwMode="auto">
            <a:xfrm rot="5400000">
              <a:off x="6061593" y="257947"/>
              <a:ext cx="72000" cy="72000"/>
            </a:xfrm>
            <a:prstGeom prst="flowChartConnector">
              <a:avLst/>
            </a:prstGeom>
            <a:solidFill>
              <a:schemeClr val="bg1"/>
            </a:solidFill>
            <a:ln w="1778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endParaRPr lang="en-US"/>
            </a:p>
          </p:txBody>
        </p:sp>
        <p:sp>
          <p:nvSpPr>
            <p:cNvPr id="301" name="Line 104"/>
            <p:cNvSpPr>
              <a:spLocks noChangeShapeType="1"/>
            </p:cNvSpPr>
            <p:nvPr/>
          </p:nvSpPr>
          <p:spPr bwMode="auto">
            <a:xfrm flipV="1">
              <a:off x="6132599" y="203644"/>
              <a:ext cx="44226" cy="0"/>
            </a:xfrm>
            <a:prstGeom prst="line">
              <a:avLst/>
            </a:prstGeom>
            <a:noFill/>
            <a:ln w="8890">
              <a:solidFill>
                <a:schemeClr val="tx1"/>
              </a:solidFill>
              <a:round/>
              <a:headEnd/>
              <a:tailEnd type="stealth" w="med" len="med"/>
            </a:ln>
          </p:spPr>
          <p:txBody>
            <a:bodyPr lIns="90000" tIns="46800" rIns="90000" bIns="46800" anchor="ctr"/>
            <a:lstStyle/>
            <a:p>
              <a:endParaRPr lang="en-US"/>
            </a:p>
          </p:txBody>
        </p:sp>
      </p:grpSp>
      <p:grpSp>
        <p:nvGrpSpPr>
          <p:cNvPr id="317" name="Group 316"/>
          <p:cNvGrpSpPr/>
          <p:nvPr/>
        </p:nvGrpSpPr>
        <p:grpSpPr>
          <a:xfrm>
            <a:off x="10577292" y="703174"/>
            <a:ext cx="151694" cy="171451"/>
            <a:chOff x="4873292" y="193240"/>
            <a:chExt cx="151694" cy="171451"/>
          </a:xfrm>
        </p:grpSpPr>
        <p:sp>
          <p:nvSpPr>
            <p:cNvPr id="318" name="Line 104"/>
            <p:cNvSpPr>
              <a:spLocks noChangeShapeType="1"/>
            </p:cNvSpPr>
            <p:nvPr/>
          </p:nvSpPr>
          <p:spPr bwMode="auto">
            <a:xfrm flipH="1">
              <a:off x="4900280" y="329947"/>
              <a:ext cx="0" cy="34744"/>
            </a:xfrm>
            <a:prstGeom prst="line">
              <a:avLst/>
            </a:prstGeom>
            <a:noFill/>
            <a:ln w="8890">
              <a:solidFill>
                <a:schemeClr val="tx1"/>
              </a:solidFill>
              <a:round/>
              <a:headEnd/>
              <a:tailEnd type="stealth" w="med" len="med"/>
            </a:ln>
          </p:spPr>
          <p:txBody>
            <a:bodyPr lIns="90000" tIns="46800" rIns="90000" bIns="46800" anchor="ctr"/>
            <a:lstStyle/>
            <a:p>
              <a:endParaRPr lang="en-US"/>
            </a:p>
          </p:txBody>
        </p:sp>
        <p:sp>
          <p:nvSpPr>
            <p:cNvPr id="320" name="Text Box 105"/>
            <p:cNvSpPr txBox="1">
              <a:spLocks noChangeArrowheads="1"/>
            </p:cNvSpPr>
            <p:nvPr/>
          </p:nvSpPr>
          <p:spPr bwMode="auto">
            <a:xfrm>
              <a:off x="4873292" y="193240"/>
              <a:ext cx="85725" cy="12223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l">
                <a:buClrTx/>
                <a:buSzTx/>
                <a:buFontTx/>
                <a:buNone/>
              </a:pPr>
              <a:r>
                <a:rPr lang="en-US" sz="800" b="1"/>
                <a:t>R</a:t>
              </a:r>
            </a:p>
          </p:txBody>
        </p:sp>
        <p:sp>
          <p:nvSpPr>
            <p:cNvPr id="325" name="AutoShape 76"/>
            <p:cNvSpPr>
              <a:spLocks noChangeArrowheads="1"/>
            </p:cNvSpPr>
            <p:nvPr/>
          </p:nvSpPr>
          <p:spPr bwMode="auto">
            <a:xfrm rot="5400000">
              <a:off x="4952986" y="257947"/>
              <a:ext cx="72000" cy="72000"/>
            </a:xfrm>
            <a:prstGeom prst="flowChartConnector">
              <a:avLst/>
            </a:prstGeom>
            <a:solidFill>
              <a:schemeClr val="bg1"/>
            </a:solidFill>
            <a:ln w="1778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endParaRPr lang="en-US"/>
            </a:p>
          </p:txBody>
        </p:sp>
      </p:grpSp>
      <p:grpSp>
        <p:nvGrpSpPr>
          <p:cNvPr id="333" name="Group 332"/>
          <p:cNvGrpSpPr/>
          <p:nvPr/>
        </p:nvGrpSpPr>
        <p:grpSpPr>
          <a:xfrm>
            <a:off x="9093191" y="703174"/>
            <a:ext cx="151694" cy="171451"/>
            <a:chOff x="4873292" y="193240"/>
            <a:chExt cx="151694" cy="171451"/>
          </a:xfrm>
        </p:grpSpPr>
        <p:sp>
          <p:nvSpPr>
            <p:cNvPr id="335" name="Line 104"/>
            <p:cNvSpPr>
              <a:spLocks noChangeShapeType="1"/>
            </p:cNvSpPr>
            <p:nvPr/>
          </p:nvSpPr>
          <p:spPr bwMode="auto">
            <a:xfrm flipH="1">
              <a:off x="4900280" y="329947"/>
              <a:ext cx="0" cy="34744"/>
            </a:xfrm>
            <a:prstGeom prst="line">
              <a:avLst/>
            </a:prstGeom>
            <a:noFill/>
            <a:ln w="8890">
              <a:solidFill>
                <a:schemeClr val="tx1"/>
              </a:solidFill>
              <a:round/>
              <a:headEnd/>
              <a:tailEnd type="stealth" w="med" len="med"/>
            </a:ln>
          </p:spPr>
          <p:txBody>
            <a:bodyPr lIns="90000" tIns="46800" rIns="90000" bIns="46800" anchor="ctr"/>
            <a:lstStyle/>
            <a:p>
              <a:endParaRPr lang="en-US"/>
            </a:p>
          </p:txBody>
        </p:sp>
        <p:sp>
          <p:nvSpPr>
            <p:cNvPr id="339" name="Text Box 105"/>
            <p:cNvSpPr txBox="1">
              <a:spLocks noChangeArrowheads="1"/>
            </p:cNvSpPr>
            <p:nvPr/>
          </p:nvSpPr>
          <p:spPr bwMode="auto">
            <a:xfrm>
              <a:off x="4873292" y="193240"/>
              <a:ext cx="85725" cy="12223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l">
                <a:buClrTx/>
                <a:buSzTx/>
                <a:buFontTx/>
                <a:buNone/>
              </a:pPr>
              <a:r>
                <a:rPr lang="en-US" sz="800" b="1"/>
                <a:t>R</a:t>
              </a:r>
            </a:p>
          </p:txBody>
        </p:sp>
        <p:sp>
          <p:nvSpPr>
            <p:cNvPr id="340" name="AutoShape 76"/>
            <p:cNvSpPr>
              <a:spLocks noChangeArrowheads="1"/>
            </p:cNvSpPr>
            <p:nvPr/>
          </p:nvSpPr>
          <p:spPr bwMode="auto">
            <a:xfrm rot="5400000">
              <a:off x="4952986" y="257947"/>
              <a:ext cx="72000" cy="72000"/>
            </a:xfrm>
            <a:prstGeom prst="flowChartConnector">
              <a:avLst/>
            </a:prstGeom>
            <a:solidFill>
              <a:schemeClr val="bg1"/>
            </a:solidFill>
            <a:ln w="1778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endParaRPr lang="en-US"/>
            </a:p>
          </p:txBody>
        </p:sp>
      </p:grpSp>
      <p:grpSp>
        <p:nvGrpSpPr>
          <p:cNvPr id="342" name="Group 341"/>
          <p:cNvGrpSpPr/>
          <p:nvPr/>
        </p:nvGrpSpPr>
        <p:grpSpPr>
          <a:xfrm>
            <a:off x="1207224" y="703174"/>
            <a:ext cx="151694" cy="171451"/>
            <a:chOff x="4873292" y="193240"/>
            <a:chExt cx="151694" cy="171451"/>
          </a:xfrm>
        </p:grpSpPr>
        <p:sp>
          <p:nvSpPr>
            <p:cNvPr id="343" name="Line 104"/>
            <p:cNvSpPr>
              <a:spLocks noChangeShapeType="1"/>
            </p:cNvSpPr>
            <p:nvPr/>
          </p:nvSpPr>
          <p:spPr bwMode="auto">
            <a:xfrm flipH="1">
              <a:off x="4900280" y="329947"/>
              <a:ext cx="0" cy="34744"/>
            </a:xfrm>
            <a:prstGeom prst="line">
              <a:avLst/>
            </a:prstGeom>
            <a:noFill/>
            <a:ln w="8890">
              <a:solidFill>
                <a:schemeClr val="tx1"/>
              </a:solidFill>
              <a:round/>
              <a:headEnd/>
              <a:tailEnd type="stealth" w="med" len="med"/>
            </a:ln>
          </p:spPr>
          <p:txBody>
            <a:bodyPr lIns="90000" tIns="46800" rIns="90000" bIns="46800" anchor="ctr"/>
            <a:lstStyle/>
            <a:p>
              <a:endParaRPr lang="en-US"/>
            </a:p>
          </p:txBody>
        </p:sp>
        <p:sp>
          <p:nvSpPr>
            <p:cNvPr id="345" name="Text Box 105"/>
            <p:cNvSpPr txBox="1">
              <a:spLocks noChangeArrowheads="1"/>
            </p:cNvSpPr>
            <p:nvPr/>
          </p:nvSpPr>
          <p:spPr bwMode="auto">
            <a:xfrm>
              <a:off x="4873292" y="193240"/>
              <a:ext cx="85725" cy="12223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l">
                <a:buClrTx/>
                <a:buSzTx/>
                <a:buFontTx/>
                <a:buNone/>
              </a:pPr>
              <a:r>
                <a:rPr lang="en-US" sz="800" b="1"/>
                <a:t>R</a:t>
              </a:r>
            </a:p>
          </p:txBody>
        </p:sp>
        <p:sp>
          <p:nvSpPr>
            <p:cNvPr id="354" name="AutoShape 76"/>
            <p:cNvSpPr>
              <a:spLocks noChangeArrowheads="1"/>
            </p:cNvSpPr>
            <p:nvPr/>
          </p:nvSpPr>
          <p:spPr bwMode="auto">
            <a:xfrm rot="5400000">
              <a:off x="4952986" y="257947"/>
              <a:ext cx="72000" cy="72000"/>
            </a:xfrm>
            <a:prstGeom prst="flowChartConnector">
              <a:avLst/>
            </a:prstGeom>
            <a:solidFill>
              <a:schemeClr val="bg1"/>
            </a:solidFill>
            <a:ln w="1778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endParaRPr lang="en-US"/>
            </a:p>
          </p:txBody>
        </p:sp>
      </p:grpSp>
      <p:grpSp>
        <p:nvGrpSpPr>
          <p:cNvPr id="355" name="Group 354"/>
          <p:cNvGrpSpPr/>
          <p:nvPr/>
        </p:nvGrpSpPr>
        <p:grpSpPr>
          <a:xfrm>
            <a:off x="2444709" y="703174"/>
            <a:ext cx="151694" cy="171451"/>
            <a:chOff x="4873292" y="193240"/>
            <a:chExt cx="151694" cy="171451"/>
          </a:xfrm>
        </p:grpSpPr>
        <p:sp>
          <p:nvSpPr>
            <p:cNvPr id="356" name="Line 104"/>
            <p:cNvSpPr>
              <a:spLocks noChangeShapeType="1"/>
            </p:cNvSpPr>
            <p:nvPr/>
          </p:nvSpPr>
          <p:spPr bwMode="auto">
            <a:xfrm flipH="1">
              <a:off x="4900280" y="329947"/>
              <a:ext cx="0" cy="34744"/>
            </a:xfrm>
            <a:prstGeom prst="line">
              <a:avLst/>
            </a:prstGeom>
            <a:noFill/>
            <a:ln w="8890">
              <a:solidFill>
                <a:schemeClr val="tx1"/>
              </a:solidFill>
              <a:round/>
              <a:headEnd/>
              <a:tailEnd type="stealth" w="med" len="med"/>
            </a:ln>
          </p:spPr>
          <p:txBody>
            <a:bodyPr lIns="90000" tIns="46800" rIns="90000" bIns="46800" anchor="ctr"/>
            <a:lstStyle/>
            <a:p>
              <a:endParaRPr lang="en-US"/>
            </a:p>
          </p:txBody>
        </p:sp>
        <p:sp>
          <p:nvSpPr>
            <p:cNvPr id="357" name="Text Box 105"/>
            <p:cNvSpPr txBox="1">
              <a:spLocks noChangeArrowheads="1"/>
            </p:cNvSpPr>
            <p:nvPr/>
          </p:nvSpPr>
          <p:spPr bwMode="auto">
            <a:xfrm>
              <a:off x="4873292" y="193240"/>
              <a:ext cx="85725" cy="12223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l">
                <a:buClrTx/>
                <a:buSzTx/>
                <a:buFontTx/>
                <a:buNone/>
              </a:pPr>
              <a:r>
                <a:rPr lang="en-US" sz="800" b="1"/>
                <a:t>R</a:t>
              </a:r>
            </a:p>
          </p:txBody>
        </p:sp>
        <p:sp>
          <p:nvSpPr>
            <p:cNvPr id="358" name="AutoShape 76"/>
            <p:cNvSpPr>
              <a:spLocks noChangeArrowheads="1"/>
            </p:cNvSpPr>
            <p:nvPr/>
          </p:nvSpPr>
          <p:spPr bwMode="auto">
            <a:xfrm rot="5400000">
              <a:off x="4952986" y="257947"/>
              <a:ext cx="72000" cy="72000"/>
            </a:xfrm>
            <a:prstGeom prst="flowChartConnector">
              <a:avLst/>
            </a:prstGeom>
            <a:solidFill>
              <a:schemeClr val="bg1"/>
            </a:solidFill>
            <a:ln w="1778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endParaRPr lang="en-US"/>
            </a:p>
          </p:txBody>
        </p:sp>
      </p:grpSp>
      <p:grpSp>
        <p:nvGrpSpPr>
          <p:cNvPr id="364" name="Group 363"/>
          <p:cNvGrpSpPr/>
          <p:nvPr/>
        </p:nvGrpSpPr>
        <p:grpSpPr>
          <a:xfrm>
            <a:off x="1371146" y="1283862"/>
            <a:ext cx="151694" cy="171451"/>
            <a:chOff x="4873292" y="193240"/>
            <a:chExt cx="151694" cy="171451"/>
          </a:xfrm>
        </p:grpSpPr>
        <p:sp>
          <p:nvSpPr>
            <p:cNvPr id="365" name="Line 104"/>
            <p:cNvSpPr>
              <a:spLocks noChangeShapeType="1"/>
            </p:cNvSpPr>
            <p:nvPr/>
          </p:nvSpPr>
          <p:spPr bwMode="auto">
            <a:xfrm flipH="1">
              <a:off x="4900280" y="329947"/>
              <a:ext cx="0" cy="34744"/>
            </a:xfrm>
            <a:prstGeom prst="line">
              <a:avLst/>
            </a:prstGeom>
            <a:noFill/>
            <a:ln w="8890">
              <a:solidFill>
                <a:schemeClr val="tx1"/>
              </a:solidFill>
              <a:round/>
              <a:headEnd/>
              <a:tailEnd type="stealth" w="med" len="med"/>
            </a:ln>
          </p:spPr>
          <p:txBody>
            <a:bodyPr lIns="90000" tIns="46800" rIns="90000" bIns="46800" anchor="ctr"/>
            <a:lstStyle/>
            <a:p>
              <a:endParaRPr lang="en-US"/>
            </a:p>
          </p:txBody>
        </p:sp>
        <p:sp>
          <p:nvSpPr>
            <p:cNvPr id="366" name="Text Box 105"/>
            <p:cNvSpPr txBox="1">
              <a:spLocks noChangeArrowheads="1"/>
            </p:cNvSpPr>
            <p:nvPr/>
          </p:nvSpPr>
          <p:spPr bwMode="auto">
            <a:xfrm>
              <a:off x="4873292" y="193240"/>
              <a:ext cx="85725" cy="12223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l">
                <a:buClrTx/>
                <a:buSzTx/>
                <a:buFontTx/>
                <a:buNone/>
              </a:pPr>
              <a:r>
                <a:rPr lang="en-US" sz="800" b="1" dirty="0"/>
                <a:t>R</a:t>
              </a:r>
            </a:p>
          </p:txBody>
        </p:sp>
        <p:sp>
          <p:nvSpPr>
            <p:cNvPr id="368" name="AutoShape 76"/>
            <p:cNvSpPr>
              <a:spLocks noChangeArrowheads="1"/>
            </p:cNvSpPr>
            <p:nvPr/>
          </p:nvSpPr>
          <p:spPr bwMode="auto">
            <a:xfrm rot="5400000">
              <a:off x="4952986" y="257947"/>
              <a:ext cx="72000" cy="72000"/>
            </a:xfrm>
            <a:prstGeom prst="flowChartConnector">
              <a:avLst/>
            </a:prstGeom>
            <a:solidFill>
              <a:schemeClr val="bg1"/>
            </a:solidFill>
            <a:ln w="1778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endParaRPr lang="en-US"/>
            </a:p>
          </p:txBody>
        </p:sp>
      </p:grpSp>
      <p:grpSp>
        <p:nvGrpSpPr>
          <p:cNvPr id="370" name="Group 369"/>
          <p:cNvGrpSpPr/>
          <p:nvPr/>
        </p:nvGrpSpPr>
        <p:grpSpPr>
          <a:xfrm>
            <a:off x="3741333" y="1283862"/>
            <a:ext cx="151694" cy="171451"/>
            <a:chOff x="4873292" y="193240"/>
            <a:chExt cx="151694" cy="171451"/>
          </a:xfrm>
        </p:grpSpPr>
        <p:sp>
          <p:nvSpPr>
            <p:cNvPr id="371" name="Line 104"/>
            <p:cNvSpPr>
              <a:spLocks noChangeShapeType="1"/>
            </p:cNvSpPr>
            <p:nvPr/>
          </p:nvSpPr>
          <p:spPr bwMode="auto">
            <a:xfrm flipH="1">
              <a:off x="4900280" y="329947"/>
              <a:ext cx="0" cy="34744"/>
            </a:xfrm>
            <a:prstGeom prst="line">
              <a:avLst/>
            </a:prstGeom>
            <a:noFill/>
            <a:ln w="8890">
              <a:solidFill>
                <a:schemeClr val="tx1"/>
              </a:solidFill>
              <a:round/>
              <a:headEnd/>
              <a:tailEnd type="stealth" w="med" len="med"/>
            </a:ln>
          </p:spPr>
          <p:txBody>
            <a:bodyPr lIns="90000" tIns="46800" rIns="90000" bIns="46800" anchor="ctr"/>
            <a:lstStyle/>
            <a:p>
              <a:endParaRPr lang="en-US"/>
            </a:p>
          </p:txBody>
        </p:sp>
        <p:sp>
          <p:nvSpPr>
            <p:cNvPr id="372" name="Text Box 105"/>
            <p:cNvSpPr txBox="1">
              <a:spLocks noChangeArrowheads="1"/>
            </p:cNvSpPr>
            <p:nvPr/>
          </p:nvSpPr>
          <p:spPr bwMode="auto">
            <a:xfrm>
              <a:off x="4873292" y="193240"/>
              <a:ext cx="85725" cy="12223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l">
                <a:buClrTx/>
                <a:buSzTx/>
                <a:buFontTx/>
                <a:buNone/>
              </a:pPr>
              <a:r>
                <a:rPr lang="en-US" sz="800" b="1" dirty="0"/>
                <a:t>R</a:t>
              </a:r>
            </a:p>
          </p:txBody>
        </p:sp>
        <p:sp>
          <p:nvSpPr>
            <p:cNvPr id="373" name="AutoShape 76"/>
            <p:cNvSpPr>
              <a:spLocks noChangeArrowheads="1"/>
            </p:cNvSpPr>
            <p:nvPr/>
          </p:nvSpPr>
          <p:spPr bwMode="auto">
            <a:xfrm rot="5400000">
              <a:off x="4952986" y="257947"/>
              <a:ext cx="72000" cy="72000"/>
            </a:xfrm>
            <a:prstGeom prst="flowChartConnector">
              <a:avLst/>
            </a:prstGeom>
            <a:solidFill>
              <a:schemeClr val="bg1"/>
            </a:solidFill>
            <a:ln w="1778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endParaRPr lang="en-US"/>
            </a:p>
          </p:txBody>
        </p:sp>
      </p:grpSp>
      <p:cxnSp>
        <p:nvCxnSpPr>
          <p:cNvPr id="384" name="Straight Connector 383"/>
          <p:cNvCxnSpPr>
            <a:cxnSpLocks/>
          </p:cNvCxnSpPr>
          <p:nvPr/>
        </p:nvCxnSpPr>
        <p:spPr>
          <a:xfrm flipV="1">
            <a:off x="5293146" y="3002516"/>
            <a:ext cx="0" cy="45493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Straight Connector 271"/>
          <p:cNvCxnSpPr>
            <a:cxnSpLocks/>
          </p:cNvCxnSpPr>
          <p:nvPr/>
        </p:nvCxnSpPr>
        <p:spPr>
          <a:xfrm flipV="1">
            <a:off x="1662385" y="2419776"/>
            <a:ext cx="0" cy="19553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9" name="Group 378"/>
          <p:cNvGrpSpPr/>
          <p:nvPr/>
        </p:nvGrpSpPr>
        <p:grpSpPr>
          <a:xfrm>
            <a:off x="1546238" y="2410925"/>
            <a:ext cx="151694" cy="171451"/>
            <a:chOff x="4873292" y="193240"/>
            <a:chExt cx="151694" cy="171451"/>
          </a:xfrm>
        </p:grpSpPr>
        <p:sp>
          <p:nvSpPr>
            <p:cNvPr id="380" name="Line 104"/>
            <p:cNvSpPr>
              <a:spLocks noChangeShapeType="1"/>
            </p:cNvSpPr>
            <p:nvPr/>
          </p:nvSpPr>
          <p:spPr bwMode="auto">
            <a:xfrm flipH="1">
              <a:off x="4900280" y="329947"/>
              <a:ext cx="0" cy="34744"/>
            </a:xfrm>
            <a:prstGeom prst="line">
              <a:avLst/>
            </a:prstGeom>
            <a:noFill/>
            <a:ln w="8890">
              <a:solidFill>
                <a:schemeClr val="tx1"/>
              </a:solidFill>
              <a:round/>
              <a:headEnd/>
              <a:tailEnd type="stealth" w="med" len="med"/>
            </a:ln>
          </p:spPr>
          <p:txBody>
            <a:bodyPr lIns="90000" tIns="46800" rIns="90000" bIns="46800" anchor="ctr"/>
            <a:lstStyle/>
            <a:p>
              <a:endParaRPr lang="en-US"/>
            </a:p>
          </p:txBody>
        </p:sp>
        <p:sp>
          <p:nvSpPr>
            <p:cNvPr id="383" name="AutoShape 76"/>
            <p:cNvSpPr>
              <a:spLocks noChangeArrowheads="1"/>
            </p:cNvSpPr>
            <p:nvPr/>
          </p:nvSpPr>
          <p:spPr bwMode="auto">
            <a:xfrm rot="5400000">
              <a:off x="4952986" y="257947"/>
              <a:ext cx="72000" cy="72000"/>
            </a:xfrm>
            <a:prstGeom prst="flowChartConnector">
              <a:avLst/>
            </a:prstGeom>
            <a:solidFill>
              <a:schemeClr val="bg1"/>
            </a:solidFill>
            <a:ln w="1778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endParaRPr lang="en-US"/>
            </a:p>
          </p:txBody>
        </p:sp>
        <p:sp>
          <p:nvSpPr>
            <p:cNvPr id="381" name="Text Box 105"/>
            <p:cNvSpPr txBox="1">
              <a:spLocks noChangeArrowheads="1"/>
            </p:cNvSpPr>
            <p:nvPr/>
          </p:nvSpPr>
          <p:spPr bwMode="auto">
            <a:xfrm>
              <a:off x="4873292" y="193240"/>
              <a:ext cx="85725" cy="12223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l">
                <a:buClrTx/>
                <a:buSzTx/>
                <a:buFontTx/>
                <a:buNone/>
              </a:pPr>
              <a:r>
                <a:rPr lang="en-US" sz="800" b="1"/>
                <a:t>R</a:t>
              </a:r>
            </a:p>
          </p:txBody>
        </p:sp>
      </p:grpSp>
      <p:grpSp>
        <p:nvGrpSpPr>
          <p:cNvPr id="405" name="Group 404"/>
          <p:cNvGrpSpPr/>
          <p:nvPr/>
        </p:nvGrpSpPr>
        <p:grpSpPr>
          <a:xfrm>
            <a:off x="9088878" y="1283862"/>
            <a:ext cx="151694" cy="171451"/>
            <a:chOff x="4873292" y="193240"/>
            <a:chExt cx="151694" cy="171451"/>
          </a:xfrm>
        </p:grpSpPr>
        <p:sp>
          <p:nvSpPr>
            <p:cNvPr id="406" name="Line 104"/>
            <p:cNvSpPr>
              <a:spLocks noChangeShapeType="1"/>
            </p:cNvSpPr>
            <p:nvPr/>
          </p:nvSpPr>
          <p:spPr bwMode="auto">
            <a:xfrm flipH="1">
              <a:off x="4900280" y="329947"/>
              <a:ext cx="0" cy="34744"/>
            </a:xfrm>
            <a:prstGeom prst="line">
              <a:avLst/>
            </a:prstGeom>
            <a:noFill/>
            <a:ln w="8890">
              <a:solidFill>
                <a:schemeClr val="tx1"/>
              </a:solidFill>
              <a:round/>
              <a:headEnd/>
              <a:tailEnd type="stealth" w="med" len="med"/>
            </a:ln>
          </p:spPr>
          <p:txBody>
            <a:bodyPr lIns="90000" tIns="46800" rIns="90000" bIns="46800" anchor="ctr"/>
            <a:lstStyle/>
            <a:p>
              <a:endParaRPr lang="en-US"/>
            </a:p>
          </p:txBody>
        </p:sp>
        <p:sp>
          <p:nvSpPr>
            <p:cNvPr id="407" name="Text Box 105"/>
            <p:cNvSpPr txBox="1">
              <a:spLocks noChangeArrowheads="1"/>
            </p:cNvSpPr>
            <p:nvPr/>
          </p:nvSpPr>
          <p:spPr bwMode="auto">
            <a:xfrm>
              <a:off x="4873292" y="193240"/>
              <a:ext cx="85725" cy="12223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l">
                <a:buClrTx/>
                <a:buSzTx/>
                <a:buFontTx/>
                <a:buNone/>
              </a:pPr>
              <a:r>
                <a:rPr lang="en-US" sz="800" b="1"/>
                <a:t>R</a:t>
              </a:r>
            </a:p>
          </p:txBody>
        </p:sp>
        <p:sp>
          <p:nvSpPr>
            <p:cNvPr id="408" name="AutoShape 76"/>
            <p:cNvSpPr>
              <a:spLocks noChangeArrowheads="1"/>
            </p:cNvSpPr>
            <p:nvPr/>
          </p:nvSpPr>
          <p:spPr bwMode="auto">
            <a:xfrm rot="5400000">
              <a:off x="4952986" y="257947"/>
              <a:ext cx="72000" cy="72000"/>
            </a:xfrm>
            <a:prstGeom prst="flowChartConnector">
              <a:avLst/>
            </a:prstGeom>
            <a:solidFill>
              <a:schemeClr val="bg1"/>
            </a:solidFill>
            <a:ln w="1778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endParaRPr lang="en-US"/>
            </a:p>
          </p:txBody>
        </p:sp>
      </p:grpSp>
      <p:grpSp>
        <p:nvGrpSpPr>
          <p:cNvPr id="417" name="Group 416"/>
          <p:cNvGrpSpPr/>
          <p:nvPr/>
        </p:nvGrpSpPr>
        <p:grpSpPr>
          <a:xfrm>
            <a:off x="1767315" y="3030650"/>
            <a:ext cx="151694" cy="171029"/>
            <a:chOff x="4873292" y="581648"/>
            <a:chExt cx="151694" cy="171029"/>
          </a:xfrm>
        </p:grpSpPr>
        <p:sp>
          <p:nvSpPr>
            <p:cNvPr id="420" name="Line 104"/>
            <p:cNvSpPr>
              <a:spLocks noChangeShapeType="1"/>
            </p:cNvSpPr>
            <p:nvPr/>
          </p:nvSpPr>
          <p:spPr bwMode="auto">
            <a:xfrm flipH="1" flipV="1">
              <a:off x="4900280" y="581648"/>
              <a:ext cx="0" cy="40770"/>
            </a:xfrm>
            <a:prstGeom prst="line">
              <a:avLst/>
            </a:prstGeom>
            <a:noFill/>
            <a:ln w="8890">
              <a:solidFill>
                <a:schemeClr val="tx1"/>
              </a:solidFill>
              <a:round/>
              <a:headEnd/>
              <a:tailEnd type="stealth" w="med" len="med"/>
            </a:ln>
          </p:spPr>
          <p:txBody>
            <a:bodyPr lIns="90000" tIns="46800" rIns="90000" bIns="46800" anchor="ctr"/>
            <a:lstStyle/>
            <a:p>
              <a:endParaRPr lang="en-US"/>
            </a:p>
          </p:txBody>
        </p:sp>
        <p:sp>
          <p:nvSpPr>
            <p:cNvPr id="423" name="Text Box 105"/>
            <p:cNvSpPr txBox="1">
              <a:spLocks noChangeArrowheads="1"/>
            </p:cNvSpPr>
            <p:nvPr/>
          </p:nvSpPr>
          <p:spPr bwMode="auto">
            <a:xfrm>
              <a:off x="4873292" y="630439"/>
              <a:ext cx="85725" cy="12223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l">
                <a:buClrTx/>
                <a:buSzTx/>
                <a:buFontTx/>
                <a:buNone/>
              </a:pPr>
              <a:r>
                <a:rPr lang="en-US" sz="800" b="1" dirty="0"/>
                <a:t>R</a:t>
              </a:r>
            </a:p>
          </p:txBody>
        </p:sp>
        <p:sp>
          <p:nvSpPr>
            <p:cNvPr id="429" name="AutoShape 76"/>
            <p:cNvSpPr>
              <a:spLocks noChangeArrowheads="1"/>
            </p:cNvSpPr>
            <p:nvPr/>
          </p:nvSpPr>
          <p:spPr bwMode="auto">
            <a:xfrm rot="5400000">
              <a:off x="4952986" y="623443"/>
              <a:ext cx="72000" cy="72000"/>
            </a:xfrm>
            <a:prstGeom prst="flowChartConnector">
              <a:avLst/>
            </a:prstGeom>
            <a:solidFill>
              <a:schemeClr val="bg1"/>
            </a:solidFill>
            <a:ln w="1778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endParaRPr lang="en-US"/>
            </a:p>
          </p:txBody>
        </p:sp>
      </p:grpSp>
      <p:grpSp>
        <p:nvGrpSpPr>
          <p:cNvPr id="433" name="Group 432"/>
          <p:cNvGrpSpPr/>
          <p:nvPr/>
        </p:nvGrpSpPr>
        <p:grpSpPr>
          <a:xfrm>
            <a:off x="1996002" y="3030650"/>
            <a:ext cx="151694" cy="171029"/>
            <a:chOff x="4873292" y="581648"/>
            <a:chExt cx="151694" cy="171029"/>
          </a:xfrm>
        </p:grpSpPr>
        <p:sp>
          <p:nvSpPr>
            <p:cNvPr id="439" name="Line 104"/>
            <p:cNvSpPr>
              <a:spLocks noChangeShapeType="1"/>
            </p:cNvSpPr>
            <p:nvPr/>
          </p:nvSpPr>
          <p:spPr bwMode="auto">
            <a:xfrm flipH="1" flipV="1">
              <a:off x="4900280" y="581648"/>
              <a:ext cx="0" cy="40770"/>
            </a:xfrm>
            <a:prstGeom prst="line">
              <a:avLst/>
            </a:prstGeom>
            <a:noFill/>
            <a:ln w="8890">
              <a:solidFill>
                <a:schemeClr val="tx1"/>
              </a:solidFill>
              <a:round/>
              <a:headEnd/>
              <a:tailEnd type="stealth" w="med" len="med"/>
            </a:ln>
          </p:spPr>
          <p:txBody>
            <a:bodyPr lIns="90000" tIns="46800" rIns="90000" bIns="46800" anchor="ctr"/>
            <a:lstStyle/>
            <a:p>
              <a:endParaRPr lang="en-US"/>
            </a:p>
          </p:txBody>
        </p:sp>
        <p:sp>
          <p:nvSpPr>
            <p:cNvPr id="482" name="Text Box 105"/>
            <p:cNvSpPr txBox="1">
              <a:spLocks noChangeArrowheads="1"/>
            </p:cNvSpPr>
            <p:nvPr/>
          </p:nvSpPr>
          <p:spPr bwMode="auto">
            <a:xfrm>
              <a:off x="4873292" y="630439"/>
              <a:ext cx="85725" cy="12223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l">
                <a:buClrTx/>
                <a:buSzTx/>
                <a:buFontTx/>
                <a:buNone/>
              </a:pPr>
              <a:r>
                <a:rPr lang="en-US" sz="800" b="1"/>
                <a:t>R</a:t>
              </a:r>
            </a:p>
          </p:txBody>
        </p:sp>
        <p:sp>
          <p:nvSpPr>
            <p:cNvPr id="483" name="AutoShape 76"/>
            <p:cNvSpPr>
              <a:spLocks noChangeArrowheads="1"/>
            </p:cNvSpPr>
            <p:nvPr/>
          </p:nvSpPr>
          <p:spPr bwMode="auto">
            <a:xfrm rot="5400000">
              <a:off x="4952986" y="623443"/>
              <a:ext cx="72000" cy="72000"/>
            </a:xfrm>
            <a:prstGeom prst="flowChartConnector">
              <a:avLst/>
            </a:prstGeom>
            <a:solidFill>
              <a:schemeClr val="bg1"/>
            </a:solidFill>
            <a:ln w="1778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endParaRPr lang="en-US"/>
            </a:p>
          </p:txBody>
        </p:sp>
      </p:grpSp>
      <p:grpSp>
        <p:nvGrpSpPr>
          <p:cNvPr id="489" name="Group 488"/>
          <p:cNvGrpSpPr/>
          <p:nvPr/>
        </p:nvGrpSpPr>
        <p:grpSpPr>
          <a:xfrm>
            <a:off x="-664302" y="5986667"/>
            <a:ext cx="151694" cy="171029"/>
            <a:chOff x="4873292" y="581648"/>
            <a:chExt cx="151694" cy="171029"/>
          </a:xfrm>
        </p:grpSpPr>
        <p:sp>
          <p:nvSpPr>
            <p:cNvPr id="490" name="Line 104"/>
            <p:cNvSpPr>
              <a:spLocks noChangeShapeType="1"/>
            </p:cNvSpPr>
            <p:nvPr/>
          </p:nvSpPr>
          <p:spPr bwMode="auto">
            <a:xfrm flipH="1" flipV="1">
              <a:off x="4900280" y="581648"/>
              <a:ext cx="0" cy="40770"/>
            </a:xfrm>
            <a:prstGeom prst="line">
              <a:avLst/>
            </a:prstGeom>
            <a:noFill/>
            <a:ln w="8890">
              <a:solidFill>
                <a:schemeClr val="tx1"/>
              </a:solidFill>
              <a:round/>
              <a:headEnd/>
              <a:tailEnd type="stealth" w="med" len="med"/>
            </a:ln>
          </p:spPr>
          <p:txBody>
            <a:bodyPr lIns="90000" tIns="46800" rIns="90000" bIns="46800" anchor="ctr"/>
            <a:lstStyle/>
            <a:p>
              <a:endParaRPr lang="en-US"/>
            </a:p>
          </p:txBody>
        </p:sp>
        <p:sp>
          <p:nvSpPr>
            <p:cNvPr id="491" name="Text Box 105"/>
            <p:cNvSpPr txBox="1">
              <a:spLocks noChangeArrowheads="1"/>
            </p:cNvSpPr>
            <p:nvPr/>
          </p:nvSpPr>
          <p:spPr bwMode="auto">
            <a:xfrm>
              <a:off x="4873292" y="630439"/>
              <a:ext cx="85725" cy="12223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l">
                <a:buClrTx/>
                <a:buSzTx/>
                <a:buFontTx/>
                <a:buNone/>
              </a:pPr>
              <a:r>
                <a:rPr lang="en-US" sz="800" b="1"/>
                <a:t>R</a:t>
              </a:r>
            </a:p>
          </p:txBody>
        </p:sp>
        <p:sp>
          <p:nvSpPr>
            <p:cNvPr id="492" name="AutoShape 76"/>
            <p:cNvSpPr>
              <a:spLocks noChangeArrowheads="1"/>
            </p:cNvSpPr>
            <p:nvPr/>
          </p:nvSpPr>
          <p:spPr bwMode="auto">
            <a:xfrm rot="5400000">
              <a:off x="4952986" y="623443"/>
              <a:ext cx="72000" cy="72000"/>
            </a:xfrm>
            <a:prstGeom prst="flowChartConnector">
              <a:avLst/>
            </a:prstGeom>
            <a:solidFill>
              <a:schemeClr val="bg1"/>
            </a:solidFill>
            <a:ln w="1778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endParaRPr lang="en-US"/>
            </a:p>
          </p:txBody>
        </p:sp>
      </p:grpSp>
      <p:grpSp>
        <p:nvGrpSpPr>
          <p:cNvPr id="618" name="Group 617"/>
          <p:cNvGrpSpPr/>
          <p:nvPr/>
        </p:nvGrpSpPr>
        <p:grpSpPr>
          <a:xfrm>
            <a:off x="5176955" y="3030650"/>
            <a:ext cx="151694" cy="171029"/>
            <a:chOff x="4873292" y="581648"/>
            <a:chExt cx="151694" cy="171029"/>
          </a:xfrm>
        </p:grpSpPr>
        <p:sp>
          <p:nvSpPr>
            <p:cNvPr id="619" name="Line 104"/>
            <p:cNvSpPr>
              <a:spLocks noChangeShapeType="1"/>
            </p:cNvSpPr>
            <p:nvPr/>
          </p:nvSpPr>
          <p:spPr bwMode="auto">
            <a:xfrm flipH="1" flipV="1">
              <a:off x="4900280" y="581648"/>
              <a:ext cx="0" cy="40770"/>
            </a:xfrm>
            <a:prstGeom prst="line">
              <a:avLst/>
            </a:prstGeom>
            <a:noFill/>
            <a:ln w="8890">
              <a:solidFill>
                <a:schemeClr val="tx1"/>
              </a:solidFill>
              <a:round/>
              <a:headEnd/>
              <a:tailEnd type="stealth" w="med" len="med"/>
            </a:ln>
          </p:spPr>
          <p:txBody>
            <a:bodyPr lIns="90000" tIns="46800" rIns="90000" bIns="46800" anchor="ctr"/>
            <a:lstStyle/>
            <a:p>
              <a:endParaRPr lang="en-US"/>
            </a:p>
          </p:txBody>
        </p:sp>
        <p:sp>
          <p:nvSpPr>
            <p:cNvPr id="620" name="Text Box 105"/>
            <p:cNvSpPr txBox="1">
              <a:spLocks noChangeArrowheads="1"/>
            </p:cNvSpPr>
            <p:nvPr/>
          </p:nvSpPr>
          <p:spPr bwMode="auto">
            <a:xfrm>
              <a:off x="4873292" y="630439"/>
              <a:ext cx="85725" cy="12223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l">
                <a:buClrTx/>
                <a:buSzTx/>
                <a:buFontTx/>
                <a:buNone/>
              </a:pPr>
              <a:r>
                <a:rPr lang="en-US" sz="800" b="1"/>
                <a:t>R</a:t>
              </a:r>
            </a:p>
          </p:txBody>
        </p:sp>
        <p:sp>
          <p:nvSpPr>
            <p:cNvPr id="621" name="AutoShape 76"/>
            <p:cNvSpPr>
              <a:spLocks noChangeArrowheads="1"/>
            </p:cNvSpPr>
            <p:nvPr/>
          </p:nvSpPr>
          <p:spPr bwMode="auto">
            <a:xfrm rot="5400000">
              <a:off x="4952986" y="623443"/>
              <a:ext cx="72000" cy="72000"/>
            </a:xfrm>
            <a:prstGeom prst="flowChartConnector">
              <a:avLst/>
            </a:prstGeom>
            <a:solidFill>
              <a:schemeClr val="bg1"/>
            </a:solidFill>
            <a:ln w="1778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endParaRPr lang="en-US"/>
            </a:p>
          </p:txBody>
        </p:sp>
      </p:grpSp>
      <p:grpSp>
        <p:nvGrpSpPr>
          <p:cNvPr id="622" name="Group 621"/>
          <p:cNvGrpSpPr/>
          <p:nvPr/>
        </p:nvGrpSpPr>
        <p:grpSpPr>
          <a:xfrm>
            <a:off x="5176259" y="2410925"/>
            <a:ext cx="151694" cy="171451"/>
            <a:chOff x="4873292" y="193240"/>
            <a:chExt cx="151694" cy="171451"/>
          </a:xfrm>
        </p:grpSpPr>
        <p:sp>
          <p:nvSpPr>
            <p:cNvPr id="623" name="Line 104"/>
            <p:cNvSpPr>
              <a:spLocks noChangeShapeType="1"/>
            </p:cNvSpPr>
            <p:nvPr/>
          </p:nvSpPr>
          <p:spPr bwMode="auto">
            <a:xfrm flipH="1">
              <a:off x="4900280" y="329947"/>
              <a:ext cx="0" cy="34744"/>
            </a:xfrm>
            <a:prstGeom prst="line">
              <a:avLst/>
            </a:prstGeom>
            <a:noFill/>
            <a:ln w="8890">
              <a:solidFill>
                <a:schemeClr val="tx1"/>
              </a:solidFill>
              <a:round/>
              <a:headEnd/>
              <a:tailEnd type="stealth" w="med" len="med"/>
            </a:ln>
          </p:spPr>
          <p:txBody>
            <a:bodyPr lIns="90000" tIns="46800" rIns="90000" bIns="46800" anchor="ctr"/>
            <a:lstStyle/>
            <a:p>
              <a:endParaRPr lang="en-US"/>
            </a:p>
          </p:txBody>
        </p:sp>
        <p:sp>
          <p:nvSpPr>
            <p:cNvPr id="624" name="AutoShape 76"/>
            <p:cNvSpPr>
              <a:spLocks noChangeArrowheads="1"/>
            </p:cNvSpPr>
            <p:nvPr/>
          </p:nvSpPr>
          <p:spPr bwMode="auto">
            <a:xfrm rot="5400000">
              <a:off x="4952986" y="257947"/>
              <a:ext cx="72000" cy="72000"/>
            </a:xfrm>
            <a:prstGeom prst="flowChartConnector">
              <a:avLst/>
            </a:prstGeom>
            <a:solidFill>
              <a:schemeClr val="bg1"/>
            </a:solidFill>
            <a:ln w="1778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endParaRPr lang="en-US"/>
            </a:p>
          </p:txBody>
        </p:sp>
        <p:sp>
          <p:nvSpPr>
            <p:cNvPr id="625" name="Text Box 105"/>
            <p:cNvSpPr txBox="1">
              <a:spLocks noChangeArrowheads="1"/>
            </p:cNvSpPr>
            <p:nvPr/>
          </p:nvSpPr>
          <p:spPr bwMode="auto">
            <a:xfrm>
              <a:off x="4873292" y="193240"/>
              <a:ext cx="85725" cy="12223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l">
                <a:buClrTx/>
                <a:buSzTx/>
                <a:buFontTx/>
                <a:buNone/>
              </a:pPr>
              <a:r>
                <a:rPr lang="en-US" sz="800" b="1"/>
                <a:t>R</a:t>
              </a:r>
            </a:p>
          </p:txBody>
        </p:sp>
      </p:grpSp>
      <p:sp>
        <p:nvSpPr>
          <p:cNvPr id="338" name="Rectangular Callout 337"/>
          <p:cNvSpPr/>
          <p:nvPr/>
        </p:nvSpPr>
        <p:spPr bwMode="gray">
          <a:xfrm>
            <a:off x="1455505" y="4971008"/>
            <a:ext cx="2401263" cy="1234020"/>
          </a:xfrm>
          <a:prstGeom prst="wedgeRectCallout">
            <a:avLst>
              <a:gd name="adj1" fmla="val 15006"/>
              <a:gd name="adj2" fmla="val -64883"/>
            </a:avLst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de-DE" sz="800" b="1" kern="0" dirty="0">
                <a:ea typeface="Arial Unicode MS" pitchFamily="34" charset="-128"/>
                <a:cs typeface="Arial Unicode MS" pitchFamily="34" charset="-128"/>
              </a:rPr>
              <a:t>New shoot </a:t>
            </a:r>
            <a:r>
              <a:rPr lang="de-DE" sz="800" b="1" kern="0" dirty="0" err="1">
                <a:ea typeface="Arial Unicode MS" pitchFamily="34" charset="-128"/>
                <a:cs typeface="Arial Unicode MS" pitchFamily="34" charset="-128"/>
              </a:rPr>
              <a:t>clusters</a:t>
            </a:r>
            <a:r>
              <a:rPr lang="de-DE" sz="800" b="1" kern="0" dirty="0"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de-DE" sz="800" b="1" kern="0" dirty="0" err="1">
                <a:ea typeface="Arial Unicode MS" pitchFamily="34" charset="-128"/>
                <a:cs typeface="Arial Unicode MS" pitchFamily="34" charset="-128"/>
              </a:rPr>
              <a:t>can</a:t>
            </a:r>
            <a:r>
              <a:rPr lang="de-DE" sz="800" b="1" kern="0" dirty="0"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de-DE" sz="800" b="1" kern="0" dirty="0" err="1">
                <a:ea typeface="Arial Unicode MS" pitchFamily="34" charset="-128"/>
                <a:cs typeface="Arial Unicode MS" pitchFamily="34" charset="-128"/>
              </a:rPr>
              <a:t>be</a:t>
            </a:r>
            <a:r>
              <a:rPr lang="de-DE" sz="800" b="1" kern="0" dirty="0"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de-DE" sz="800" b="1" kern="0" dirty="0" err="1">
                <a:ea typeface="Arial Unicode MS" pitchFamily="34" charset="-128"/>
                <a:cs typeface="Arial Unicode MS" pitchFamily="34" charset="-128"/>
              </a:rPr>
              <a:t>created</a:t>
            </a:r>
            <a:r>
              <a:rPr lang="de-DE" sz="800" b="1" kern="0" dirty="0">
                <a:ea typeface="Arial Unicode MS" pitchFamily="34" charset="-128"/>
                <a:cs typeface="Arial Unicode MS" pitchFamily="34" charset="-128"/>
              </a:rPr>
              <a:t> via </a:t>
            </a:r>
            <a:r>
              <a:rPr lang="de-DE" sz="800" b="1" kern="0" dirty="0" err="1">
                <a:ea typeface="Arial Unicode MS" pitchFamily="34" charset="-128"/>
                <a:cs typeface="Arial Unicode MS" pitchFamily="34" charset="-128"/>
              </a:rPr>
              <a:t>the</a:t>
            </a:r>
            <a:r>
              <a:rPr lang="de-DE" sz="800" b="1" kern="0" dirty="0">
                <a:ea typeface="Arial Unicode MS" pitchFamily="34" charset="-128"/>
                <a:cs typeface="Arial Unicode MS" pitchFamily="34" charset="-128"/>
              </a:rPr>
              <a:t> Gardener </a:t>
            </a:r>
            <a:r>
              <a:rPr lang="de-DE" sz="800" b="1" kern="0" dirty="0" err="1">
                <a:ea typeface="Arial Unicode MS" pitchFamily="34" charset="-128"/>
                <a:cs typeface="Arial Unicode MS" pitchFamily="34" charset="-128"/>
              </a:rPr>
              <a:t>dashboard</a:t>
            </a:r>
            <a:r>
              <a:rPr lang="de-DE" sz="800" b="1" kern="0" dirty="0"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de-DE" sz="800" b="1" kern="0" dirty="0" err="1">
                <a:ea typeface="Arial Unicode MS" pitchFamily="34" charset="-128"/>
                <a:cs typeface="Arial Unicode MS" pitchFamily="34" charset="-128"/>
              </a:rPr>
              <a:t>or</a:t>
            </a:r>
            <a:r>
              <a:rPr lang="de-DE" sz="800" b="1" kern="0" dirty="0"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de-DE" sz="800" b="1" kern="0" dirty="0" err="1">
                <a:ea typeface="Arial Unicode MS" pitchFamily="34" charset="-128"/>
                <a:cs typeface="Arial Unicode MS" pitchFamily="34" charset="-128"/>
              </a:rPr>
              <a:t>by</a:t>
            </a:r>
            <a:r>
              <a:rPr lang="de-DE" sz="800" b="1" kern="0" dirty="0"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de-DE" sz="800" b="1" kern="0" dirty="0" err="1">
                <a:ea typeface="Arial Unicode MS" pitchFamily="34" charset="-128"/>
                <a:cs typeface="Arial Unicode MS" pitchFamily="34" charset="-128"/>
              </a:rPr>
              <a:t>uploading</a:t>
            </a:r>
            <a:r>
              <a:rPr lang="de-DE" sz="800" b="1" kern="0" dirty="0">
                <a:ea typeface="Arial Unicode MS" pitchFamily="34" charset="-128"/>
                <a:cs typeface="Arial Unicode MS" pitchFamily="34" charset="-128"/>
              </a:rPr>
              <a:t> a </a:t>
            </a:r>
            <a:r>
              <a:rPr lang="de-DE" sz="800" b="1" kern="0" dirty="0" err="1">
                <a:ea typeface="Arial Unicode MS" pitchFamily="34" charset="-128"/>
                <a:cs typeface="Arial Unicode MS" pitchFamily="34" charset="-128"/>
              </a:rPr>
              <a:t>new</a:t>
            </a:r>
            <a:r>
              <a:rPr lang="de-DE" sz="800" b="1" kern="0" dirty="0">
                <a:ea typeface="Arial Unicode MS" pitchFamily="34" charset="-128"/>
                <a:cs typeface="Arial Unicode MS" pitchFamily="34" charset="-128"/>
              </a:rPr>
              <a:t> shoot </a:t>
            </a:r>
            <a:r>
              <a:rPr lang="de-DE" sz="800" b="1" kern="0" dirty="0" err="1">
                <a:ea typeface="Arial Unicode MS" pitchFamily="34" charset="-128"/>
                <a:cs typeface="Arial Unicode MS" pitchFamily="34" charset="-128"/>
              </a:rPr>
              <a:t>resource</a:t>
            </a:r>
            <a:r>
              <a:rPr lang="de-DE" sz="800" b="1" kern="0" dirty="0"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de-DE" sz="800" b="1" kern="0" dirty="0" err="1">
                <a:ea typeface="Arial Unicode MS" pitchFamily="34" charset="-128"/>
                <a:cs typeface="Arial Unicode MS" pitchFamily="34" charset="-128"/>
              </a:rPr>
              <a:t>to</a:t>
            </a:r>
            <a:r>
              <a:rPr lang="de-DE" sz="800" b="1" kern="0" dirty="0"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de-DE" sz="800" b="1" kern="0" dirty="0" err="1">
                <a:ea typeface="Arial Unicode MS" pitchFamily="34" charset="-128"/>
                <a:cs typeface="Arial Unicode MS" pitchFamily="34" charset="-128"/>
              </a:rPr>
              <a:t>the</a:t>
            </a:r>
            <a:r>
              <a:rPr lang="de-DE" sz="800" b="1" kern="0" dirty="0"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de-DE" sz="800" b="1" kern="0" dirty="0" err="1">
                <a:ea typeface="Arial Unicode MS" pitchFamily="34" charset="-128"/>
                <a:cs typeface="Arial Unicode MS" pitchFamily="34" charset="-128"/>
              </a:rPr>
              <a:t>garden</a:t>
            </a:r>
            <a:r>
              <a:rPr lang="de-DE" sz="800" b="1" kern="0" dirty="0"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de-DE" sz="800" b="1" kern="0" dirty="0" err="1">
                <a:ea typeface="Arial Unicode MS" pitchFamily="34" charset="-128"/>
                <a:cs typeface="Arial Unicode MS" pitchFamily="34" charset="-128"/>
              </a:rPr>
              <a:t>cluster</a:t>
            </a:r>
            <a:r>
              <a:rPr lang="de-DE" sz="800" b="1" kern="0" dirty="0">
                <a:ea typeface="Arial Unicode MS" pitchFamily="34" charset="-128"/>
                <a:cs typeface="Arial Unicode MS" pitchFamily="34" charset="-128"/>
              </a:rPr>
              <a:t>. The Gardener </a:t>
            </a:r>
            <a:r>
              <a:rPr lang="de-DE" sz="800" b="1" kern="0" dirty="0" err="1">
                <a:ea typeface="Arial Unicode MS" pitchFamily="34" charset="-128"/>
                <a:cs typeface="Arial Unicode MS" pitchFamily="34" charset="-128"/>
              </a:rPr>
              <a:t>scheduler</a:t>
            </a:r>
            <a:r>
              <a:rPr lang="de-DE" sz="800" b="1" kern="0" dirty="0"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de-DE" sz="800" b="1" kern="0" dirty="0" err="1">
                <a:ea typeface="Arial Unicode MS" pitchFamily="34" charset="-128"/>
                <a:cs typeface="Arial Unicode MS" pitchFamily="34" charset="-128"/>
              </a:rPr>
              <a:t>finds</a:t>
            </a:r>
            <a:r>
              <a:rPr lang="de-DE" sz="800" b="1" kern="0" dirty="0"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de-DE" sz="800" b="1" kern="0" dirty="0" err="1">
                <a:ea typeface="Arial Unicode MS" pitchFamily="34" charset="-128"/>
                <a:cs typeface="Arial Unicode MS" pitchFamily="34" charset="-128"/>
              </a:rPr>
              <a:t>the</a:t>
            </a:r>
            <a:r>
              <a:rPr lang="de-DE" sz="800" b="1" kern="0" dirty="0"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de-DE" sz="800" b="1" kern="0" dirty="0" err="1">
                <a:ea typeface="Arial Unicode MS" pitchFamily="34" charset="-128"/>
                <a:cs typeface="Arial Unicode MS" pitchFamily="34" charset="-128"/>
              </a:rPr>
              <a:t>best</a:t>
            </a:r>
            <a:r>
              <a:rPr lang="de-DE" sz="800" b="1" kern="0" dirty="0"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de-DE" sz="800" b="1" kern="0" dirty="0" err="1">
                <a:ea typeface="Arial Unicode MS" pitchFamily="34" charset="-128"/>
                <a:cs typeface="Arial Unicode MS" pitchFamily="34" charset="-128"/>
              </a:rPr>
              <a:t>seed</a:t>
            </a:r>
            <a:r>
              <a:rPr lang="de-DE" sz="800" b="1" kern="0" dirty="0"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de-DE" sz="800" b="1" kern="0" dirty="0" err="1">
                <a:ea typeface="Arial Unicode MS" pitchFamily="34" charset="-128"/>
                <a:cs typeface="Arial Unicode MS" pitchFamily="34" charset="-128"/>
              </a:rPr>
              <a:t>cluster</a:t>
            </a:r>
            <a:r>
              <a:rPr lang="de-DE" sz="800" b="1" kern="0" dirty="0"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de-DE" sz="800" b="1" kern="0" dirty="0" err="1">
                <a:ea typeface="Arial Unicode MS" pitchFamily="34" charset="-128"/>
                <a:cs typeface="Arial Unicode MS" pitchFamily="34" charset="-128"/>
              </a:rPr>
              <a:t>for</a:t>
            </a:r>
            <a:r>
              <a:rPr lang="de-DE" sz="800" b="1" kern="0" dirty="0"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de-DE" sz="800" b="1" kern="0" dirty="0" err="1">
                <a:ea typeface="Arial Unicode MS" pitchFamily="34" charset="-128"/>
                <a:cs typeface="Arial Unicode MS" pitchFamily="34" charset="-128"/>
              </a:rPr>
              <a:t>the</a:t>
            </a:r>
            <a:r>
              <a:rPr lang="de-DE" sz="800" b="1" kern="0" dirty="0">
                <a:ea typeface="Arial Unicode MS" pitchFamily="34" charset="-128"/>
                <a:cs typeface="Arial Unicode MS" pitchFamily="34" charset="-128"/>
              </a:rPr>
              <a:t> shoot </a:t>
            </a:r>
            <a:r>
              <a:rPr lang="de-DE" sz="800" b="1" kern="0" dirty="0" err="1">
                <a:ea typeface="Arial Unicode MS" pitchFamily="34" charset="-128"/>
                <a:cs typeface="Arial Unicode MS" pitchFamily="34" charset="-128"/>
              </a:rPr>
              <a:t>cluster</a:t>
            </a:r>
            <a:r>
              <a:rPr lang="de-DE" sz="800" b="1" kern="0" dirty="0">
                <a:ea typeface="Arial Unicode MS" pitchFamily="34" charset="-128"/>
                <a:cs typeface="Arial Unicode MS" pitchFamily="34" charset="-128"/>
              </a:rPr>
              <a:t>. </a:t>
            </a:r>
            <a:r>
              <a:rPr lang="de-DE" sz="800" b="1" kern="0" dirty="0" err="1">
                <a:ea typeface="Arial Unicode MS" pitchFamily="34" charset="-128"/>
                <a:cs typeface="Arial Unicode MS" pitchFamily="34" charset="-128"/>
              </a:rPr>
              <a:t>Then</a:t>
            </a:r>
            <a:r>
              <a:rPr lang="de-DE" sz="800" b="1" kern="0" dirty="0">
                <a:ea typeface="Arial Unicode MS" pitchFamily="34" charset="-128"/>
                <a:cs typeface="Arial Unicode MS" pitchFamily="34" charset="-128"/>
              </a:rPr>
              <a:t>, </a:t>
            </a:r>
            <a:r>
              <a:rPr lang="de-DE" sz="800" b="1" kern="0" dirty="0" err="1">
                <a:ea typeface="Arial Unicode MS" pitchFamily="34" charset="-128"/>
                <a:cs typeface="Arial Unicode MS" pitchFamily="34" charset="-128"/>
              </a:rPr>
              <a:t>the</a:t>
            </a:r>
            <a:r>
              <a:rPr lang="de-DE" sz="800" b="1" kern="0" dirty="0">
                <a:ea typeface="Arial Unicode MS" pitchFamily="34" charset="-128"/>
                <a:cs typeface="Arial Unicode MS" pitchFamily="34" charset="-128"/>
              </a:rPr>
              <a:t> Gardenlet in </a:t>
            </a:r>
            <a:r>
              <a:rPr lang="de-DE" sz="800" b="1" kern="0" dirty="0" err="1">
                <a:ea typeface="Arial Unicode MS" pitchFamily="34" charset="-128"/>
                <a:cs typeface="Arial Unicode MS" pitchFamily="34" charset="-128"/>
              </a:rPr>
              <a:t>the</a:t>
            </a:r>
            <a:r>
              <a:rPr lang="de-DE" sz="800" b="1" kern="0" dirty="0"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de-DE" sz="800" b="1" kern="0" dirty="0" err="1">
                <a:ea typeface="Arial Unicode MS" pitchFamily="34" charset="-128"/>
                <a:cs typeface="Arial Unicode MS" pitchFamily="34" charset="-128"/>
              </a:rPr>
              <a:t>seed</a:t>
            </a:r>
            <a:r>
              <a:rPr lang="de-DE" sz="800" b="1" kern="0" dirty="0"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de-DE" sz="800" b="1" kern="0" dirty="0" err="1">
                <a:ea typeface="Arial Unicode MS" pitchFamily="34" charset="-128"/>
                <a:cs typeface="Arial Unicode MS" pitchFamily="34" charset="-128"/>
              </a:rPr>
              <a:t>picks</a:t>
            </a:r>
            <a:r>
              <a:rPr lang="de-DE" sz="800" b="1" kern="0" dirty="0"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de-DE" sz="800" b="1" kern="0" dirty="0" err="1">
                <a:ea typeface="Arial Unicode MS" pitchFamily="34" charset="-128"/>
                <a:cs typeface="Arial Unicode MS" pitchFamily="34" charset="-128"/>
              </a:rPr>
              <a:t>it</a:t>
            </a:r>
            <a:r>
              <a:rPr lang="de-DE" sz="800" b="1" kern="0" dirty="0"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de-DE" sz="800" b="1" kern="0" dirty="0" err="1">
                <a:ea typeface="Arial Unicode MS" pitchFamily="34" charset="-128"/>
                <a:cs typeface="Arial Unicode MS" pitchFamily="34" charset="-128"/>
              </a:rPr>
              <a:t>up</a:t>
            </a:r>
            <a:r>
              <a:rPr lang="de-DE" sz="800" b="1" kern="0" dirty="0"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de-DE" sz="800" b="1" kern="0" dirty="0" err="1">
                <a:ea typeface="Arial Unicode MS" pitchFamily="34" charset="-128"/>
                <a:cs typeface="Arial Unicode MS" pitchFamily="34" charset="-128"/>
              </a:rPr>
              <a:t>and</a:t>
            </a:r>
            <a:r>
              <a:rPr lang="de-DE" sz="800" b="1" kern="0" dirty="0"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de-DE" sz="800" b="1" kern="0" dirty="0" err="1">
                <a:ea typeface="Arial Unicode MS" pitchFamily="34" charset="-128"/>
                <a:cs typeface="Arial Unicode MS" pitchFamily="34" charset="-128"/>
              </a:rPr>
              <a:t>lets</a:t>
            </a:r>
            <a:r>
              <a:rPr lang="de-DE" sz="800" b="1" kern="0" dirty="0"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de-DE" sz="800" b="1" kern="0" dirty="0" err="1">
                <a:ea typeface="Arial Unicode MS" pitchFamily="34" charset="-128"/>
                <a:cs typeface="Arial Unicode MS" pitchFamily="34" charset="-128"/>
              </a:rPr>
              <a:t>the</a:t>
            </a:r>
            <a:r>
              <a:rPr lang="de-DE" sz="800" b="1" kern="0" dirty="0"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de-DE" sz="800" b="1" kern="0" dirty="0" err="1">
                <a:ea typeface="Arial Unicode MS" pitchFamily="34" charset="-128"/>
                <a:cs typeface="Arial Unicode MS" pitchFamily="34" charset="-128"/>
              </a:rPr>
              <a:t>extensions</a:t>
            </a:r>
            <a:r>
              <a:rPr lang="de-DE" sz="800" b="1" kern="0" dirty="0">
                <a:ea typeface="Arial Unicode MS" pitchFamily="34" charset="-128"/>
                <a:cs typeface="Arial Unicode MS" pitchFamily="34" charset="-128"/>
              </a:rPr>
              <a:t> do </a:t>
            </a:r>
            <a:r>
              <a:rPr lang="de-DE" sz="800" b="1" kern="0" dirty="0" err="1">
                <a:ea typeface="Arial Unicode MS" pitchFamily="34" charset="-128"/>
                <a:cs typeface="Arial Unicode MS" pitchFamily="34" charset="-128"/>
              </a:rPr>
              <a:t>their</a:t>
            </a:r>
            <a:r>
              <a:rPr lang="de-DE" sz="800" b="1" kern="0" dirty="0"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de-DE" sz="800" b="1" kern="0" dirty="0" err="1">
                <a:ea typeface="Arial Unicode MS" pitchFamily="34" charset="-128"/>
                <a:cs typeface="Arial Unicode MS" pitchFamily="34" charset="-128"/>
              </a:rPr>
              <a:t>work</a:t>
            </a:r>
            <a:r>
              <a:rPr lang="de-DE" sz="800" b="1" kern="0" dirty="0">
                <a:ea typeface="Arial Unicode MS" pitchFamily="34" charset="-128"/>
                <a:cs typeface="Arial Unicode MS" pitchFamily="34" charset="-128"/>
              </a:rPr>
              <a:t>, e.g. </a:t>
            </a:r>
            <a:r>
              <a:rPr lang="de-DE" sz="800" b="1" kern="0" dirty="0" err="1">
                <a:ea typeface="Arial Unicode MS" pitchFamily="34" charset="-128"/>
                <a:cs typeface="Arial Unicode MS" pitchFamily="34" charset="-128"/>
              </a:rPr>
              <a:t>creating</a:t>
            </a:r>
            <a:r>
              <a:rPr lang="de-DE" sz="800" b="1" kern="0" dirty="0"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de-DE" sz="800" b="1" kern="0" dirty="0" err="1">
                <a:ea typeface="Arial Unicode MS" pitchFamily="34" charset="-128"/>
                <a:cs typeface="Arial Unicode MS" pitchFamily="34" charset="-128"/>
              </a:rPr>
              <a:t>the</a:t>
            </a:r>
            <a:r>
              <a:rPr lang="de-DE" sz="800" b="1" kern="0" dirty="0"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de-DE" sz="800" b="1" kern="0" dirty="0" err="1">
                <a:ea typeface="Arial Unicode MS" pitchFamily="34" charset="-128"/>
                <a:cs typeface="Arial Unicode MS" pitchFamily="34" charset="-128"/>
              </a:rPr>
              <a:t>necessary</a:t>
            </a:r>
            <a:r>
              <a:rPr lang="de-DE" sz="800" b="1" kern="0" dirty="0">
                <a:ea typeface="Arial Unicode MS" pitchFamily="34" charset="-128"/>
                <a:cs typeface="Arial Unicode MS" pitchFamily="34" charset="-128"/>
              </a:rPr>
              <a:t> IaaS </a:t>
            </a:r>
            <a:r>
              <a:rPr lang="de-DE" sz="800" b="1" kern="0" dirty="0" err="1">
                <a:ea typeface="Arial Unicode MS" pitchFamily="34" charset="-128"/>
                <a:cs typeface="Arial Unicode MS" pitchFamily="34" charset="-128"/>
              </a:rPr>
              <a:t>resources</a:t>
            </a:r>
            <a:r>
              <a:rPr lang="de-DE" sz="800" b="1" kern="0" dirty="0">
                <a:ea typeface="Arial Unicode MS" pitchFamily="34" charset="-128"/>
                <a:cs typeface="Arial Unicode MS" pitchFamily="34" charset="-128"/>
              </a:rPr>
              <a:t>. </a:t>
            </a:r>
            <a:r>
              <a:rPr lang="de-DE" sz="800" b="1" kern="0" dirty="0" err="1">
                <a:ea typeface="Arial Unicode MS" pitchFamily="34" charset="-128"/>
                <a:cs typeface="Arial Unicode MS" pitchFamily="34" charset="-128"/>
              </a:rPr>
              <a:t>It</a:t>
            </a:r>
            <a:r>
              <a:rPr lang="de-DE" sz="800" b="1" kern="0" dirty="0"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de-DE" sz="800" b="1" kern="0" dirty="0" err="1">
                <a:ea typeface="Arial Unicode MS" pitchFamily="34" charset="-128"/>
                <a:cs typeface="Arial Unicode MS" pitchFamily="34" charset="-128"/>
              </a:rPr>
              <a:t>then</a:t>
            </a:r>
            <a:r>
              <a:rPr lang="de-DE" sz="800" b="1" kern="0" dirty="0"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de-DE" sz="800" b="1" kern="0" dirty="0" err="1">
                <a:ea typeface="Arial Unicode MS" pitchFamily="34" charset="-128"/>
                <a:cs typeface="Arial Unicode MS" pitchFamily="34" charset="-128"/>
              </a:rPr>
              <a:t>deploys</a:t>
            </a:r>
            <a:r>
              <a:rPr lang="de-DE" sz="800" b="1" kern="0" dirty="0"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de-DE" sz="800" b="1" kern="0" dirty="0" err="1">
                <a:ea typeface="Arial Unicode MS" pitchFamily="34" charset="-128"/>
                <a:cs typeface="Arial Unicode MS" pitchFamily="34" charset="-128"/>
              </a:rPr>
              <a:t>the</a:t>
            </a:r>
            <a:r>
              <a:rPr lang="de-DE" sz="800" b="1" kern="0" dirty="0">
                <a:ea typeface="Arial Unicode MS" pitchFamily="34" charset="-128"/>
                <a:cs typeface="Arial Unicode MS" pitchFamily="34" charset="-128"/>
              </a:rPr>
              <a:t> shoot </a:t>
            </a:r>
            <a:r>
              <a:rPr lang="de-DE" sz="800" b="1" kern="0" dirty="0" err="1">
                <a:ea typeface="Arial Unicode MS" pitchFamily="34" charset="-128"/>
                <a:cs typeface="Arial Unicode MS" pitchFamily="34" charset="-128"/>
              </a:rPr>
              <a:t>cluster</a:t>
            </a:r>
            <a:r>
              <a:rPr lang="de-DE" sz="800" b="1" kern="0" dirty="0"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de-DE" sz="800" b="1" kern="0" dirty="0" err="1">
                <a:ea typeface="Arial Unicode MS" pitchFamily="34" charset="-128"/>
                <a:cs typeface="Arial Unicode MS" pitchFamily="34" charset="-128"/>
              </a:rPr>
              <a:t>control</a:t>
            </a:r>
            <a:r>
              <a:rPr lang="de-DE" sz="800" b="1" kern="0" dirty="0">
                <a:ea typeface="Arial Unicode MS" pitchFamily="34" charset="-128"/>
                <a:cs typeface="Arial Unicode MS" pitchFamily="34" charset="-128"/>
              </a:rPr>
              <a:t> plane </a:t>
            </a:r>
            <a:r>
              <a:rPr lang="de-DE" sz="800" b="1" kern="0" dirty="0" err="1">
                <a:ea typeface="Arial Unicode MS" pitchFamily="34" charset="-128"/>
                <a:cs typeface="Arial Unicode MS" pitchFamily="34" charset="-128"/>
              </a:rPr>
              <a:t>as</a:t>
            </a:r>
            <a:r>
              <a:rPr lang="de-DE" sz="800" b="1" kern="0" dirty="0"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de-DE" sz="800" b="1" kern="0" dirty="0" err="1">
                <a:ea typeface="Arial Unicode MS" pitchFamily="34" charset="-128"/>
                <a:cs typeface="Arial Unicode MS" pitchFamily="34" charset="-128"/>
              </a:rPr>
              <a:t>pods</a:t>
            </a:r>
            <a:r>
              <a:rPr lang="de-DE" sz="800" b="1" kern="0" dirty="0">
                <a:ea typeface="Arial Unicode MS" pitchFamily="34" charset="-128"/>
                <a:cs typeface="Arial Unicode MS" pitchFamily="34" charset="-128"/>
              </a:rPr>
              <a:t> and </a:t>
            </a:r>
            <a:r>
              <a:rPr lang="de-DE" sz="800" b="1" kern="0" dirty="0" err="1">
                <a:ea typeface="Arial Unicode MS" pitchFamily="34" charset="-128"/>
                <a:cs typeface="Arial Unicode MS" pitchFamily="34" charset="-128"/>
              </a:rPr>
              <a:t>the</a:t>
            </a:r>
            <a:r>
              <a:rPr lang="de-DE" sz="800" b="1" kern="0" dirty="0"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de-DE" sz="800" b="1" kern="0" dirty="0" err="1">
                <a:ea typeface="Arial Unicode MS" pitchFamily="34" charset="-128"/>
                <a:cs typeface="Arial Unicode MS" pitchFamily="34" charset="-128"/>
              </a:rPr>
              <a:t>required</a:t>
            </a:r>
            <a:r>
              <a:rPr lang="de-DE" sz="800" b="1" kern="0" dirty="0"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de-DE" sz="800" b="1" kern="0" dirty="0" err="1">
                <a:ea typeface="Arial Unicode MS" pitchFamily="34" charset="-128"/>
                <a:cs typeface="Arial Unicode MS" pitchFamily="34" charset="-128"/>
              </a:rPr>
              <a:t>add-ons</a:t>
            </a:r>
            <a:r>
              <a:rPr lang="de-DE" sz="800" b="1" kern="0" dirty="0"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de-DE" sz="800" b="1" kern="0" dirty="0" err="1">
                <a:ea typeface="Arial Unicode MS" pitchFamily="34" charset="-128"/>
                <a:cs typeface="Arial Unicode MS" pitchFamily="34" charset="-128"/>
              </a:rPr>
              <a:t>into</a:t>
            </a:r>
            <a:r>
              <a:rPr lang="de-DE" sz="800" b="1" kern="0" dirty="0"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de-DE" sz="800" b="1" kern="0" dirty="0" err="1">
                <a:ea typeface="Arial Unicode MS" pitchFamily="34" charset="-128"/>
                <a:cs typeface="Arial Unicode MS" pitchFamily="34" charset="-128"/>
              </a:rPr>
              <a:t>the</a:t>
            </a:r>
            <a:r>
              <a:rPr lang="de-DE" sz="800" b="1" kern="0" dirty="0">
                <a:ea typeface="Arial Unicode MS" pitchFamily="34" charset="-128"/>
                <a:cs typeface="Arial Unicode MS" pitchFamily="34" charset="-128"/>
              </a:rPr>
              <a:t> shoot </a:t>
            </a:r>
            <a:r>
              <a:rPr lang="de-DE" sz="800" b="1" kern="0" dirty="0" err="1">
                <a:ea typeface="Arial Unicode MS" pitchFamily="34" charset="-128"/>
                <a:cs typeface="Arial Unicode MS" pitchFamily="34" charset="-128"/>
              </a:rPr>
              <a:t>cluster</a:t>
            </a:r>
            <a:r>
              <a:rPr lang="de-DE" sz="800" b="1" kern="0" dirty="0"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de-DE" sz="800" b="1" kern="0" dirty="0" err="1">
                <a:ea typeface="Arial Unicode MS" pitchFamily="34" charset="-128"/>
                <a:cs typeface="Arial Unicode MS" pitchFamily="34" charset="-128"/>
              </a:rPr>
              <a:t>itself</a:t>
            </a:r>
            <a:r>
              <a:rPr lang="de-DE" sz="800" b="1" kern="0" dirty="0">
                <a:ea typeface="Arial Unicode MS" pitchFamily="34" charset="-128"/>
                <a:cs typeface="Arial Unicode MS" pitchFamily="34" charset="-128"/>
              </a:rPr>
              <a:t>. Update and </a:t>
            </a:r>
            <a:r>
              <a:rPr lang="de-DE" sz="800" b="1" kern="0" dirty="0" err="1">
                <a:ea typeface="Arial Unicode MS" pitchFamily="34" charset="-128"/>
                <a:cs typeface="Arial Unicode MS" pitchFamily="34" charset="-128"/>
              </a:rPr>
              <a:t>delete</a:t>
            </a:r>
            <a:r>
              <a:rPr lang="de-DE" sz="800" b="1" kern="0" dirty="0"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de-DE" sz="800" b="1" kern="0" dirty="0" err="1">
                <a:ea typeface="Arial Unicode MS" pitchFamily="34" charset="-128"/>
                <a:cs typeface="Arial Unicode MS" pitchFamily="34" charset="-128"/>
              </a:rPr>
              <a:t>operations</a:t>
            </a:r>
            <a:r>
              <a:rPr lang="de-DE" sz="800" b="1" kern="0" dirty="0"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de-DE" sz="800" b="1" kern="0" dirty="0" err="1">
                <a:ea typeface="Arial Unicode MS" pitchFamily="34" charset="-128"/>
                <a:cs typeface="Arial Unicode MS" pitchFamily="34" charset="-128"/>
              </a:rPr>
              <a:t>are</a:t>
            </a:r>
            <a:r>
              <a:rPr lang="de-DE" sz="800" b="1" kern="0" dirty="0"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de-DE" sz="800" b="1" kern="0" dirty="0" err="1">
                <a:ea typeface="Arial Unicode MS" pitchFamily="34" charset="-128"/>
                <a:cs typeface="Arial Unicode MS" pitchFamily="34" charset="-128"/>
              </a:rPr>
              <a:t>handled</a:t>
            </a:r>
            <a:r>
              <a:rPr lang="de-DE" sz="800" b="1" kern="0" dirty="0"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de-DE" sz="800" b="1" kern="0" dirty="0" err="1">
                <a:ea typeface="Arial Unicode MS" pitchFamily="34" charset="-128"/>
                <a:cs typeface="Arial Unicode MS" pitchFamily="34" charset="-128"/>
              </a:rPr>
              <a:t>by</a:t>
            </a:r>
            <a:r>
              <a:rPr lang="de-DE" sz="800" b="1" kern="0" dirty="0"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de-DE" sz="800" b="1" kern="0" dirty="0" err="1">
                <a:ea typeface="Arial Unicode MS" pitchFamily="34" charset="-128"/>
                <a:cs typeface="Arial Unicode MS" pitchFamily="34" charset="-128"/>
              </a:rPr>
              <a:t>the</a:t>
            </a:r>
            <a:r>
              <a:rPr lang="de-DE" sz="800" b="1" kern="0" dirty="0">
                <a:ea typeface="Arial Unicode MS" pitchFamily="34" charset="-128"/>
                <a:cs typeface="Arial Unicode MS" pitchFamily="34" charset="-128"/>
              </a:rPr>
              <a:t> Gardenlet fully </a:t>
            </a:r>
            <a:r>
              <a:rPr lang="de-DE" sz="800" b="1" kern="0" dirty="0" err="1">
                <a:ea typeface="Arial Unicode MS" pitchFamily="34" charset="-128"/>
                <a:cs typeface="Arial Unicode MS" pitchFamily="34" charset="-128"/>
              </a:rPr>
              <a:t>automatically</a:t>
            </a:r>
            <a:r>
              <a:rPr lang="de-DE" sz="800" b="1" kern="0" dirty="0"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de-DE" sz="800" b="1" kern="0" dirty="0" err="1">
                <a:ea typeface="Arial Unicode MS" pitchFamily="34" charset="-128"/>
                <a:cs typeface="Arial Unicode MS" pitchFamily="34" charset="-128"/>
              </a:rPr>
              <a:t>as</a:t>
            </a:r>
            <a:r>
              <a:rPr lang="de-DE" sz="800" b="1" kern="0" dirty="0"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de-DE" sz="800" b="1" kern="0" dirty="0" err="1">
                <a:ea typeface="Arial Unicode MS" pitchFamily="34" charset="-128"/>
                <a:cs typeface="Arial Unicode MS" pitchFamily="34" charset="-128"/>
              </a:rPr>
              <a:t>well</a:t>
            </a:r>
            <a:r>
              <a:rPr lang="de-DE" sz="800" b="1" kern="0" dirty="0">
                <a:ea typeface="Arial Unicode MS" pitchFamily="34" charset="-128"/>
                <a:cs typeface="Arial Unicode MS" pitchFamily="34" charset="-128"/>
              </a:rPr>
              <a:t>.</a:t>
            </a:r>
            <a:endParaRPr lang="en-US" sz="800" b="1" kern="0" dirty="0"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49" name="Rectangle 138"/>
          <p:cNvSpPr>
            <a:spLocks noChangeArrowheads="1"/>
          </p:cNvSpPr>
          <p:nvPr/>
        </p:nvSpPr>
        <p:spPr bwMode="auto">
          <a:xfrm>
            <a:off x="8944008" y="4291703"/>
            <a:ext cx="1379891" cy="1995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7780">
            <a:solidFill>
              <a:schemeClr val="tx1"/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algn="ctr">
              <a:buClrTx/>
              <a:buSzTx/>
              <a:buFontTx/>
              <a:buNone/>
            </a:pPr>
            <a:r>
              <a:rPr lang="en-US" sz="1000" err="1"/>
              <a:t>Kube</a:t>
            </a:r>
            <a:r>
              <a:rPr lang="en-US" sz="1000"/>
              <a:t> Proxy</a:t>
            </a:r>
          </a:p>
        </p:txBody>
      </p:sp>
      <p:sp>
        <p:nvSpPr>
          <p:cNvPr id="351" name="Rectangle 138"/>
          <p:cNvSpPr>
            <a:spLocks noChangeArrowheads="1"/>
          </p:cNvSpPr>
          <p:nvPr/>
        </p:nvSpPr>
        <p:spPr bwMode="auto">
          <a:xfrm>
            <a:off x="10323902" y="4291703"/>
            <a:ext cx="214682" cy="1995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7780">
            <a:solidFill>
              <a:schemeClr val="tx1"/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algn="ctr">
              <a:buClrTx/>
              <a:buSzTx/>
              <a:buFontTx/>
              <a:buNone/>
            </a:pPr>
            <a:r>
              <a:rPr lang="en-US" sz="1000"/>
              <a:t>DS</a:t>
            </a:r>
          </a:p>
        </p:txBody>
      </p:sp>
      <p:sp>
        <p:nvSpPr>
          <p:cNvPr id="441" name="Rectangle 138">
            <a:extLst>
              <a:ext uri="{FF2B5EF4-FFF2-40B4-BE49-F238E27FC236}">
                <a16:creationId xmlns:a16="http://schemas.microsoft.com/office/drawing/2014/main" id="{88B16B84-5406-6645-85C5-ECF6DC7E58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7517" y="896980"/>
            <a:ext cx="780758" cy="39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7780">
            <a:solidFill>
              <a:schemeClr val="tx1"/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algn="ctr"/>
            <a:r>
              <a:rPr lang="en-US" sz="1200" dirty="0" err="1"/>
              <a:t>gardenctl</a:t>
            </a:r>
            <a:endParaRPr lang="en-US" sz="1200" dirty="0"/>
          </a:p>
        </p:txBody>
      </p:sp>
      <p:cxnSp>
        <p:nvCxnSpPr>
          <p:cNvPr id="466" name="Straight Connector 465">
            <a:extLst>
              <a:ext uri="{FF2B5EF4-FFF2-40B4-BE49-F238E27FC236}">
                <a16:creationId xmlns:a16="http://schemas.microsoft.com/office/drawing/2014/main" id="{A4B471A6-202C-054A-B1C7-FEA92B811041}"/>
              </a:ext>
            </a:extLst>
          </p:cNvPr>
          <p:cNvCxnSpPr>
            <a:cxnSpLocks/>
            <a:endCxn id="222" idx="0"/>
          </p:cNvCxnSpPr>
          <p:nvPr/>
        </p:nvCxnSpPr>
        <p:spPr>
          <a:xfrm>
            <a:off x="3687450" y="710626"/>
            <a:ext cx="0" cy="18612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6" name="Group 475">
            <a:extLst>
              <a:ext uri="{FF2B5EF4-FFF2-40B4-BE49-F238E27FC236}">
                <a16:creationId xmlns:a16="http://schemas.microsoft.com/office/drawing/2014/main" id="{BAD9BFB3-BD22-6045-9491-8132BCE056D1}"/>
              </a:ext>
            </a:extLst>
          </p:cNvPr>
          <p:cNvGrpSpPr/>
          <p:nvPr/>
        </p:nvGrpSpPr>
        <p:grpSpPr>
          <a:xfrm>
            <a:off x="3742328" y="703174"/>
            <a:ext cx="151694" cy="171451"/>
            <a:chOff x="4873292" y="193240"/>
            <a:chExt cx="151694" cy="171451"/>
          </a:xfrm>
        </p:grpSpPr>
        <p:sp>
          <p:nvSpPr>
            <p:cNvPr id="477" name="Line 104">
              <a:extLst>
                <a:ext uri="{FF2B5EF4-FFF2-40B4-BE49-F238E27FC236}">
                  <a16:creationId xmlns:a16="http://schemas.microsoft.com/office/drawing/2014/main" id="{086B97D7-E8BC-9D43-B0D3-8BB134D2C4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00280" y="329947"/>
              <a:ext cx="0" cy="34744"/>
            </a:xfrm>
            <a:prstGeom prst="line">
              <a:avLst/>
            </a:prstGeom>
            <a:noFill/>
            <a:ln w="8890">
              <a:solidFill>
                <a:schemeClr val="tx1"/>
              </a:solidFill>
              <a:round/>
              <a:headEnd/>
              <a:tailEnd type="stealth" w="med" len="med"/>
            </a:ln>
          </p:spPr>
          <p:txBody>
            <a:bodyPr lIns="90000" tIns="46800" rIns="90000" bIns="46800" anchor="ctr"/>
            <a:lstStyle/>
            <a:p>
              <a:endParaRPr lang="en-US"/>
            </a:p>
          </p:txBody>
        </p:sp>
        <p:sp>
          <p:nvSpPr>
            <p:cNvPr id="503" name="Text Box 105">
              <a:extLst>
                <a:ext uri="{FF2B5EF4-FFF2-40B4-BE49-F238E27FC236}">
                  <a16:creationId xmlns:a16="http://schemas.microsoft.com/office/drawing/2014/main" id="{3E366F9B-7C93-5E47-9DCB-E1E40416AE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3292" y="193240"/>
              <a:ext cx="85725" cy="12223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l">
                <a:buClrTx/>
                <a:buSzTx/>
                <a:buFontTx/>
                <a:buNone/>
              </a:pPr>
              <a:r>
                <a:rPr lang="en-US" sz="800" b="1"/>
                <a:t>R</a:t>
              </a:r>
            </a:p>
          </p:txBody>
        </p:sp>
        <p:sp>
          <p:nvSpPr>
            <p:cNvPr id="504" name="AutoShape 76">
              <a:extLst>
                <a:ext uri="{FF2B5EF4-FFF2-40B4-BE49-F238E27FC236}">
                  <a16:creationId xmlns:a16="http://schemas.microsoft.com/office/drawing/2014/main" id="{84119F4E-AF54-8C4C-8F97-4103092A509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952986" y="257947"/>
              <a:ext cx="72000" cy="72000"/>
            </a:xfrm>
            <a:prstGeom prst="flowChartConnector">
              <a:avLst/>
            </a:prstGeom>
            <a:solidFill>
              <a:schemeClr val="bg1"/>
            </a:solidFill>
            <a:ln w="1778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endParaRPr lang="en-US"/>
            </a:p>
          </p:txBody>
        </p:sp>
      </p:grpSp>
      <p:cxnSp>
        <p:nvCxnSpPr>
          <p:cNvPr id="505" name="Elbow Connector 504">
            <a:extLst>
              <a:ext uri="{FF2B5EF4-FFF2-40B4-BE49-F238E27FC236}">
                <a16:creationId xmlns:a16="http://schemas.microsoft.com/office/drawing/2014/main" id="{416E3016-EFE5-6F44-AD34-23AA56DA15CD}"/>
              </a:ext>
            </a:extLst>
          </p:cNvPr>
          <p:cNvCxnSpPr>
            <a:cxnSpLocks/>
            <a:stCxn id="441" idx="2"/>
          </p:cNvCxnSpPr>
          <p:nvPr/>
        </p:nvCxnSpPr>
        <p:spPr>
          <a:xfrm rot="5400000">
            <a:off x="1978315" y="1159803"/>
            <a:ext cx="466404" cy="732759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6" name="Group 505">
            <a:extLst>
              <a:ext uri="{FF2B5EF4-FFF2-40B4-BE49-F238E27FC236}">
                <a16:creationId xmlns:a16="http://schemas.microsoft.com/office/drawing/2014/main" id="{7047FB74-8A94-864A-8025-EA6542A89A96}"/>
              </a:ext>
            </a:extLst>
          </p:cNvPr>
          <p:cNvGrpSpPr/>
          <p:nvPr/>
        </p:nvGrpSpPr>
        <p:grpSpPr>
          <a:xfrm>
            <a:off x="2462244" y="1283862"/>
            <a:ext cx="151694" cy="171451"/>
            <a:chOff x="4873292" y="193240"/>
            <a:chExt cx="151694" cy="171451"/>
          </a:xfrm>
        </p:grpSpPr>
        <p:sp>
          <p:nvSpPr>
            <p:cNvPr id="507" name="Line 104">
              <a:extLst>
                <a:ext uri="{FF2B5EF4-FFF2-40B4-BE49-F238E27FC236}">
                  <a16:creationId xmlns:a16="http://schemas.microsoft.com/office/drawing/2014/main" id="{6847E469-B24F-3A4D-88B1-5413FC88E1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00280" y="329947"/>
              <a:ext cx="0" cy="34744"/>
            </a:xfrm>
            <a:prstGeom prst="line">
              <a:avLst/>
            </a:prstGeom>
            <a:noFill/>
            <a:ln w="8890">
              <a:solidFill>
                <a:schemeClr val="tx1"/>
              </a:solidFill>
              <a:round/>
              <a:headEnd/>
              <a:tailEnd type="stealth" w="med" len="med"/>
            </a:ln>
          </p:spPr>
          <p:txBody>
            <a:bodyPr lIns="90000" tIns="46800" rIns="90000" bIns="46800" anchor="ctr"/>
            <a:lstStyle/>
            <a:p>
              <a:endParaRPr lang="en-US"/>
            </a:p>
          </p:txBody>
        </p:sp>
        <p:sp>
          <p:nvSpPr>
            <p:cNvPr id="508" name="Text Box 105">
              <a:extLst>
                <a:ext uri="{FF2B5EF4-FFF2-40B4-BE49-F238E27FC236}">
                  <a16:creationId xmlns:a16="http://schemas.microsoft.com/office/drawing/2014/main" id="{11A5B0CA-BC0D-9B45-AA0E-8CC8AB9679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3292" y="193240"/>
              <a:ext cx="85725" cy="12223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l">
                <a:buClrTx/>
                <a:buSzTx/>
                <a:buFontTx/>
                <a:buNone/>
              </a:pPr>
              <a:r>
                <a:rPr lang="en-US" sz="800" b="1"/>
                <a:t>R</a:t>
              </a:r>
            </a:p>
          </p:txBody>
        </p:sp>
        <p:sp>
          <p:nvSpPr>
            <p:cNvPr id="509" name="AutoShape 76">
              <a:extLst>
                <a:ext uri="{FF2B5EF4-FFF2-40B4-BE49-F238E27FC236}">
                  <a16:creationId xmlns:a16="http://schemas.microsoft.com/office/drawing/2014/main" id="{E13279A9-4BFC-984D-A361-B0CE19A6D6B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952986" y="257947"/>
              <a:ext cx="72000" cy="72000"/>
            </a:xfrm>
            <a:prstGeom prst="flowChartConnector">
              <a:avLst/>
            </a:prstGeom>
            <a:solidFill>
              <a:schemeClr val="bg1"/>
            </a:solidFill>
            <a:ln w="1778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endParaRPr lang="en-US"/>
            </a:p>
          </p:txBody>
        </p:sp>
      </p:grpSp>
      <p:cxnSp>
        <p:nvCxnSpPr>
          <p:cNvPr id="510" name="Elbow Connector 509">
            <a:extLst>
              <a:ext uri="{FF2B5EF4-FFF2-40B4-BE49-F238E27FC236}">
                <a16:creationId xmlns:a16="http://schemas.microsoft.com/office/drawing/2014/main" id="{9612D32E-3618-B642-BAC8-73597BE6ADC6}"/>
              </a:ext>
            </a:extLst>
          </p:cNvPr>
          <p:cNvCxnSpPr>
            <a:cxnSpLocks/>
          </p:cNvCxnSpPr>
          <p:nvPr/>
        </p:nvCxnSpPr>
        <p:spPr>
          <a:xfrm rot="16200000" flipH="1">
            <a:off x="1939680" y="3971044"/>
            <a:ext cx="5166269" cy="184550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4" name="Rectangle 138">
            <a:extLst>
              <a:ext uri="{FF2B5EF4-FFF2-40B4-BE49-F238E27FC236}">
                <a16:creationId xmlns:a16="http://schemas.microsoft.com/office/drawing/2014/main" id="{A604DD9B-2DF4-2B46-9249-1BC8E84627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47430" y="4805301"/>
            <a:ext cx="1379891" cy="1995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7780">
            <a:solidFill>
              <a:schemeClr val="tx1"/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algn="ctr">
              <a:buClrTx/>
              <a:buSzTx/>
              <a:buFontTx/>
              <a:buNone/>
            </a:pPr>
            <a:r>
              <a:rPr lang="en-US" sz="1000" dirty="0"/>
              <a:t>Optional Add-ons</a:t>
            </a:r>
          </a:p>
        </p:txBody>
      </p:sp>
      <p:sp>
        <p:nvSpPr>
          <p:cNvPr id="515" name="Rectangle 138">
            <a:extLst>
              <a:ext uri="{FF2B5EF4-FFF2-40B4-BE49-F238E27FC236}">
                <a16:creationId xmlns:a16="http://schemas.microsoft.com/office/drawing/2014/main" id="{0412FEEE-9E0F-DA4F-99DC-9B0E4A0CB2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27324" y="4805301"/>
            <a:ext cx="214682" cy="1995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7780">
            <a:solidFill>
              <a:schemeClr val="tx1"/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algn="ctr">
              <a:buClrTx/>
              <a:buSzTx/>
              <a:buFontTx/>
              <a:buNone/>
            </a:pPr>
            <a:endParaRPr lang="en-US" sz="1000"/>
          </a:p>
        </p:txBody>
      </p:sp>
      <p:grpSp>
        <p:nvGrpSpPr>
          <p:cNvPr id="549" name="Group 548"/>
          <p:cNvGrpSpPr/>
          <p:nvPr/>
        </p:nvGrpSpPr>
        <p:grpSpPr>
          <a:xfrm>
            <a:off x="10684443" y="3978101"/>
            <a:ext cx="133802" cy="188751"/>
            <a:chOff x="6043023" y="141196"/>
            <a:chExt cx="133802" cy="188751"/>
          </a:xfrm>
        </p:grpSpPr>
        <p:sp>
          <p:nvSpPr>
            <p:cNvPr id="561" name="Text Box 105"/>
            <p:cNvSpPr txBox="1">
              <a:spLocks noChangeArrowheads="1"/>
            </p:cNvSpPr>
            <p:nvPr/>
          </p:nvSpPr>
          <p:spPr bwMode="auto">
            <a:xfrm>
              <a:off x="6043023" y="141196"/>
              <a:ext cx="85725" cy="12223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l">
                <a:buClrTx/>
                <a:buSzTx/>
                <a:buFontTx/>
                <a:buNone/>
              </a:pPr>
              <a:r>
                <a:rPr lang="en-US" sz="800" b="1" dirty="0"/>
                <a:t>R</a:t>
              </a:r>
            </a:p>
          </p:txBody>
        </p:sp>
        <p:sp>
          <p:nvSpPr>
            <p:cNvPr id="562" name="AutoShape 76"/>
            <p:cNvSpPr>
              <a:spLocks noChangeArrowheads="1"/>
            </p:cNvSpPr>
            <p:nvPr/>
          </p:nvSpPr>
          <p:spPr bwMode="auto">
            <a:xfrm rot="5400000">
              <a:off x="6061593" y="257947"/>
              <a:ext cx="72000" cy="72000"/>
            </a:xfrm>
            <a:prstGeom prst="flowChartConnector">
              <a:avLst/>
            </a:prstGeom>
            <a:solidFill>
              <a:schemeClr val="bg1"/>
            </a:solidFill>
            <a:ln w="1778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endParaRPr lang="en-US"/>
            </a:p>
          </p:txBody>
        </p:sp>
        <p:sp>
          <p:nvSpPr>
            <p:cNvPr id="563" name="Line 104"/>
            <p:cNvSpPr>
              <a:spLocks noChangeShapeType="1"/>
            </p:cNvSpPr>
            <p:nvPr/>
          </p:nvSpPr>
          <p:spPr bwMode="auto">
            <a:xfrm flipV="1">
              <a:off x="6132599" y="203644"/>
              <a:ext cx="44226" cy="0"/>
            </a:xfrm>
            <a:prstGeom prst="line">
              <a:avLst/>
            </a:prstGeom>
            <a:noFill/>
            <a:ln w="8890">
              <a:solidFill>
                <a:schemeClr val="tx1"/>
              </a:solidFill>
              <a:round/>
              <a:headEnd/>
              <a:tailEnd type="stealth" w="med" len="med"/>
            </a:ln>
          </p:spPr>
          <p:txBody>
            <a:bodyPr lIns="90000" tIns="46800" rIns="90000" bIns="46800" anchor="ctr"/>
            <a:lstStyle/>
            <a:p>
              <a:endParaRPr lang="en-US"/>
            </a:p>
          </p:txBody>
        </p:sp>
      </p:grpSp>
      <p:cxnSp>
        <p:nvCxnSpPr>
          <p:cNvPr id="540" name="Elbow Connector 539">
            <a:extLst>
              <a:ext uri="{FF2B5EF4-FFF2-40B4-BE49-F238E27FC236}">
                <a16:creationId xmlns:a16="http://schemas.microsoft.com/office/drawing/2014/main" id="{C8F16789-7EE4-5244-A1F5-1498A577FFB9}"/>
              </a:ext>
            </a:extLst>
          </p:cNvPr>
          <p:cNvCxnSpPr>
            <a:cxnSpLocks/>
          </p:cNvCxnSpPr>
          <p:nvPr/>
        </p:nvCxnSpPr>
        <p:spPr>
          <a:xfrm flipV="1">
            <a:off x="10538584" y="4136322"/>
            <a:ext cx="761663" cy="258349"/>
          </a:xfrm>
          <a:prstGeom prst="bentConnector3">
            <a:avLst>
              <a:gd name="adj1" fmla="val 99605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3" name="Group 392"/>
          <p:cNvGrpSpPr/>
          <p:nvPr/>
        </p:nvGrpSpPr>
        <p:grpSpPr>
          <a:xfrm>
            <a:off x="10684443" y="4244035"/>
            <a:ext cx="133802" cy="188751"/>
            <a:chOff x="6043023" y="141196"/>
            <a:chExt cx="133802" cy="188751"/>
          </a:xfrm>
        </p:grpSpPr>
        <p:sp>
          <p:nvSpPr>
            <p:cNvPr id="399" name="Text Box 105"/>
            <p:cNvSpPr txBox="1">
              <a:spLocks noChangeArrowheads="1"/>
            </p:cNvSpPr>
            <p:nvPr/>
          </p:nvSpPr>
          <p:spPr bwMode="auto">
            <a:xfrm>
              <a:off x="6043023" y="141196"/>
              <a:ext cx="85725" cy="12223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l">
                <a:buClrTx/>
                <a:buSzTx/>
                <a:buFontTx/>
                <a:buNone/>
              </a:pPr>
              <a:r>
                <a:rPr lang="en-US" sz="800" b="1"/>
                <a:t>R</a:t>
              </a:r>
            </a:p>
          </p:txBody>
        </p:sp>
        <p:sp>
          <p:nvSpPr>
            <p:cNvPr id="409" name="AutoShape 76"/>
            <p:cNvSpPr>
              <a:spLocks noChangeArrowheads="1"/>
            </p:cNvSpPr>
            <p:nvPr/>
          </p:nvSpPr>
          <p:spPr bwMode="auto">
            <a:xfrm rot="5400000">
              <a:off x="6061593" y="257947"/>
              <a:ext cx="72000" cy="72000"/>
            </a:xfrm>
            <a:prstGeom prst="flowChartConnector">
              <a:avLst/>
            </a:prstGeom>
            <a:solidFill>
              <a:schemeClr val="bg1"/>
            </a:solidFill>
            <a:ln w="1778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endParaRPr lang="en-US"/>
            </a:p>
          </p:txBody>
        </p:sp>
        <p:sp>
          <p:nvSpPr>
            <p:cNvPr id="410" name="Line 104"/>
            <p:cNvSpPr>
              <a:spLocks noChangeShapeType="1"/>
            </p:cNvSpPr>
            <p:nvPr/>
          </p:nvSpPr>
          <p:spPr bwMode="auto">
            <a:xfrm flipV="1">
              <a:off x="6132599" y="203644"/>
              <a:ext cx="44226" cy="0"/>
            </a:xfrm>
            <a:prstGeom prst="line">
              <a:avLst/>
            </a:prstGeom>
            <a:noFill/>
            <a:ln w="8890">
              <a:solidFill>
                <a:schemeClr val="tx1"/>
              </a:solidFill>
              <a:round/>
              <a:headEnd/>
              <a:tailEnd type="stealth" w="med" len="med"/>
            </a:ln>
          </p:spPr>
          <p:txBody>
            <a:bodyPr lIns="90000" tIns="46800" rIns="90000" bIns="46800" anchor="ctr"/>
            <a:lstStyle/>
            <a:p>
              <a:endParaRPr lang="en-US"/>
            </a:p>
          </p:txBody>
        </p:sp>
      </p:grpSp>
      <p:cxnSp>
        <p:nvCxnSpPr>
          <p:cNvPr id="541" name="Elbow Connector 540">
            <a:extLst>
              <a:ext uri="{FF2B5EF4-FFF2-40B4-BE49-F238E27FC236}">
                <a16:creationId xmlns:a16="http://schemas.microsoft.com/office/drawing/2014/main" id="{7B0D9708-A700-5749-9F58-FB0C30C49200}"/>
              </a:ext>
            </a:extLst>
          </p:cNvPr>
          <p:cNvCxnSpPr>
            <a:cxnSpLocks/>
            <a:stCxn id="571" idx="3"/>
          </p:cNvCxnSpPr>
          <p:nvPr/>
        </p:nvCxnSpPr>
        <p:spPr>
          <a:xfrm flipV="1">
            <a:off x="10538584" y="4394203"/>
            <a:ext cx="761663" cy="252453"/>
          </a:xfrm>
          <a:prstGeom prst="bentConnector3">
            <a:avLst>
              <a:gd name="adj1" fmla="val 99605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1" name="Group 410"/>
          <p:cNvGrpSpPr/>
          <p:nvPr/>
        </p:nvGrpSpPr>
        <p:grpSpPr>
          <a:xfrm>
            <a:off x="10684443" y="4495074"/>
            <a:ext cx="133802" cy="188751"/>
            <a:chOff x="6043023" y="141196"/>
            <a:chExt cx="133802" cy="188751"/>
          </a:xfrm>
        </p:grpSpPr>
        <p:sp>
          <p:nvSpPr>
            <p:cNvPr id="412" name="Text Box 105"/>
            <p:cNvSpPr txBox="1">
              <a:spLocks noChangeArrowheads="1"/>
            </p:cNvSpPr>
            <p:nvPr/>
          </p:nvSpPr>
          <p:spPr bwMode="auto">
            <a:xfrm>
              <a:off x="6043023" y="141196"/>
              <a:ext cx="85725" cy="12223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l">
                <a:buClrTx/>
                <a:buSzTx/>
                <a:buFontTx/>
                <a:buNone/>
              </a:pPr>
              <a:r>
                <a:rPr lang="en-US" sz="800" b="1"/>
                <a:t>R</a:t>
              </a:r>
            </a:p>
          </p:txBody>
        </p:sp>
        <p:sp>
          <p:nvSpPr>
            <p:cNvPr id="413" name="AutoShape 76"/>
            <p:cNvSpPr>
              <a:spLocks noChangeArrowheads="1"/>
            </p:cNvSpPr>
            <p:nvPr/>
          </p:nvSpPr>
          <p:spPr bwMode="auto">
            <a:xfrm rot="5400000">
              <a:off x="6061593" y="257947"/>
              <a:ext cx="72000" cy="72000"/>
            </a:xfrm>
            <a:prstGeom prst="flowChartConnector">
              <a:avLst/>
            </a:prstGeom>
            <a:solidFill>
              <a:schemeClr val="bg1"/>
            </a:solidFill>
            <a:ln w="1778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endParaRPr lang="en-US"/>
            </a:p>
          </p:txBody>
        </p:sp>
        <p:sp>
          <p:nvSpPr>
            <p:cNvPr id="454" name="Line 104"/>
            <p:cNvSpPr>
              <a:spLocks noChangeShapeType="1"/>
            </p:cNvSpPr>
            <p:nvPr/>
          </p:nvSpPr>
          <p:spPr bwMode="auto">
            <a:xfrm flipV="1">
              <a:off x="6132599" y="203644"/>
              <a:ext cx="44226" cy="0"/>
            </a:xfrm>
            <a:prstGeom prst="line">
              <a:avLst/>
            </a:prstGeom>
            <a:noFill/>
            <a:ln w="8890">
              <a:solidFill>
                <a:schemeClr val="tx1"/>
              </a:solidFill>
              <a:round/>
              <a:headEnd/>
              <a:tailEnd type="stealth" w="med" len="med"/>
            </a:ln>
          </p:spPr>
          <p:txBody>
            <a:bodyPr lIns="90000" tIns="46800" rIns="90000" bIns="46800" anchor="ctr"/>
            <a:lstStyle/>
            <a:p>
              <a:endParaRPr lang="en-US"/>
            </a:p>
          </p:txBody>
        </p:sp>
      </p:grpSp>
      <p:sp>
        <p:nvSpPr>
          <p:cNvPr id="644" name="Text Box 139">
            <a:extLst>
              <a:ext uri="{FF2B5EF4-FFF2-40B4-BE49-F238E27FC236}">
                <a16:creationId xmlns:a16="http://schemas.microsoft.com/office/drawing/2014/main" id="{C770DCD3-2B62-BB47-A099-A58BE190A4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96367" y="6065919"/>
            <a:ext cx="431800" cy="3667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sz="1800" b="1" dirty="0">
                <a:latin typeface="Times New Roman" pitchFamily="18" charset="0"/>
              </a:rPr>
              <a:t>...</a:t>
            </a:r>
          </a:p>
        </p:txBody>
      </p:sp>
      <p:sp>
        <p:nvSpPr>
          <p:cNvPr id="458" name="Line 104">
            <a:extLst>
              <a:ext uri="{FF2B5EF4-FFF2-40B4-BE49-F238E27FC236}">
                <a16:creationId xmlns:a16="http://schemas.microsoft.com/office/drawing/2014/main" id="{2F03B1DA-A342-8341-A448-CD4C8449156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94163" y="3218173"/>
            <a:ext cx="0" cy="34744"/>
          </a:xfrm>
          <a:prstGeom prst="line">
            <a:avLst/>
          </a:prstGeom>
          <a:noFill/>
          <a:ln w="8890">
            <a:solidFill>
              <a:schemeClr val="tx1"/>
            </a:solidFill>
            <a:round/>
            <a:headEnd/>
            <a:tailEnd type="stealth" w="med" len="med"/>
          </a:ln>
        </p:spPr>
        <p:txBody>
          <a:bodyPr lIns="90000" tIns="46800" rIns="90000" bIns="46800" anchor="ctr"/>
          <a:lstStyle/>
          <a:p>
            <a:endParaRPr lang="en-US"/>
          </a:p>
        </p:txBody>
      </p:sp>
      <p:sp>
        <p:nvSpPr>
          <p:cNvPr id="459" name="Rectangle 138">
            <a:extLst>
              <a:ext uri="{FF2B5EF4-FFF2-40B4-BE49-F238E27FC236}">
                <a16:creationId xmlns:a16="http://schemas.microsoft.com/office/drawing/2014/main" id="{3F88B054-21BF-F849-8B6F-52D2336E4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6277" y="3774715"/>
            <a:ext cx="1672684" cy="19958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7780">
            <a:solidFill>
              <a:schemeClr val="tx1"/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algn="ctr">
              <a:buClrTx/>
              <a:buSzTx/>
              <a:buFontTx/>
              <a:buNone/>
            </a:pPr>
            <a:r>
              <a:rPr lang="en-US" sz="1000" dirty="0"/>
              <a:t>Gardener Dashboard</a:t>
            </a:r>
          </a:p>
        </p:txBody>
      </p:sp>
      <p:sp>
        <p:nvSpPr>
          <p:cNvPr id="460" name="Rectangle 138">
            <a:extLst>
              <a:ext uri="{FF2B5EF4-FFF2-40B4-BE49-F238E27FC236}">
                <a16:creationId xmlns:a16="http://schemas.microsoft.com/office/drawing/2014/main" id="{C31C793D-E6E8-4C46-B400-6419EB0707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3879" y="3774715"/>
            <a:ext cx="214682" cy="19958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7780">
            <a:solidFill>
              <a:schemeClr val="tx1"/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algn="ctr">
              <a:buClrTx/>
              <a:buSzTx/>
              <a:buFontTx/>
              <a:buNone/>
            </a:pPr>
            <a:r>
              <a:rPr lang="en-US" sz="1000" dirty="0"/>
              <a:t>D</a:t>
            </a:r>
          </a:p>
        </p:txBody>
      </p:sp>
      <p:cxnSp>
        <p:nvCxnSpPr>
          <p:cNvPr id="461" name="Elbow Connector 460">
            <a:extLst>
              <a:ext uri="{FF2B5EF4-FFF2-40B4-BE49-F238E27FC236}">
                <a16:creationId xmlns:a16="http://schemas.microsoft.com/office/drawing/2014/main" id="{CF2B2843-AE0E-444E-BCE2-57FB76CE691D}"/>
              </a:ext>
            </a:extLst>
          </p:cNvPr>
          <p:cNvCxnSpPr>
            <a:cxnSpLocks/>
          </p:cNvCxnSpPr>
          <p:nvPr/>
        </p:nvCxnSpPr>
        <p:spPr>
          <a:xfrm rot="5400000">
            <a:off x="2781272" y="2990028"/>
            <a:ext cx="1430665" cy="297917"/>
          </a:xfrm>
          <a:prstGeom prst="bentConnector3">
            <a:avLst>
              <a:gd name="adj1" fmla="val 99711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4" name="Group 483"/>
          <p:cNvGrpSpPr/>
          <p:nvPr/>
        </p:nvGrpSpPr>
        <p:grpSpPr>
          <a:xfrm>
            <a:off x="3526584" y="2425422"/>
            <a:ext cx="151694" cy="171451"/>
            <a:chOff x="4873292" y="193240"/>
            <a:chExt cx="151694" cy="171451"/>
          </a:xfrm>
        </p:grpSpPr>
        <p:sp>
          <p:nvSpPr>
            <p:cNvPr id="485" name="Line 104"/>
            <p:cNvSpPr>
              <a:spLocks noChangeShapeType="1"/>
            </p:cNvSpPr>
            <p:nvPr/>
          </p:nvSpPr>
          <p:spPr bwMode="auto">
            <a:xfrm flipH="1">
              <a:off x="4900280" y="329947"/>
              <a:ext cx="0" cy="34744"/>
            </a:xfrm>
            <a:prstGeom prst="line">
              <a:avLst/>
            </a:prstGeom>
            <a:noFill/>
            <a:ln w="8890">
              <a:solidFill>
                <a:schemeClr val="tx1"/>
              </a:solidFill>
              <a:round/>
              <a:headEnd/>
              <a:tailEnd type="stealth" w="med" len="med"/>
            </a:ln>
          </p:spPr>
          <p:txBody>
            <a:bodyPr lIns="90000" tIns="46800" rIns="90000" bIns="46800" anchor="ctr"/>
            <a:lstStyle/>
            <a:p>
              <a:endParaRPr lang="en-US"/>
            </a:p>
          </p:txBody>
        </p:sp>
        <p:sp>
          <p:nvSpPr>
            <p:cNvPr id="486" name="Text Box 105"/>
            <p:cNvSpPr txBox="1">
              <a:spLocks noChangeArrowheads="1"/>
            </p:cNvSpPr>
            <p:nvPr/>
          </p:nvSpPr>
          <p:spPr bwMode="auto">
            <a:xfrm>
              <a:off x="4873292" y="193240"/>
              <a:ext cx="85725" cy="12223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l">
                <a:buClrTx/>
                <a:buSzTx/>
                <a:buFontTx/>
                <a:buNone/>
              </a:pPr>
              <a:r>
                <a:rPr lang="en-US" sz="800" b="1"/>
                <a:t>R</a:t>
              </a:r>
            </a:p>
          </p:txBody>
        </p:sp>
        <p:sp>
          <p:nvSpPr>
            <p:cNvPr id="487" name="AutoShape 76"/>
            <p:cNvSpPr>
              <a:spLocks noChangeArrowheads="1"/>
            </p:cNvSpPr>
            <p:nvPr/>
          </p:nvSpPr>
          <p:spPr bwMode="auto">
            <a:xfrm rot="5400000">
              <a:off x="4952986" y="257947"/>
              <a:ext cx="72000" cy="72000"/>
            </a:xfrm>
            <a:prstGeom prst="flowChartConnector">
              <a:avLst/>
            </a:prstGeom>
            <a:solidFill>
              <a:schemeClr val="bg1"/>
            </a:solidFill>
            <a:ln w="1778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endParaRPr lang="en-US"/>
            </a:p>
          </p:txBody>
        </p:sp>
      </p:grp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7C948D0C-1057-D546-BE5D-FD81F6F5A8F5}"/>
              </a:ext>
            </a:extLst>
          </p:cNvPr>
          <p:cNvCxnSpPr>
            <a:cxnSpLocks/>
            <a:stCxn id="270" idx="2"/>
          </p:cNvCxnSpPr>
          <p:nvPr/>
        </p:nvCxnSpPr>
        <p:spPr>
          <a:xfrm>
            <a:off x="10692835" y="1285413"/>
            <a:ext cx="0" cy="36221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0" name="Group 399"/>
          <p:cNvGrpSpPr/>
          <p:nvPr/>
        </p:nvGrpSpPr>
        <p:grpSpPr>
          <a:xfrm>
            <a:off x="10571976" y="1283862"/>
            <a:ext cx="151694" cy="171451"/>
            <a:chOff x="4873292" y="193240"/>
            <a:chExt cx="151694" cy="171451"/>
          </a:xfrm>
        </p:grpSpPr>
        <p:sp>
          <p:nvSpPr>
            <p:cNvPr id="401" name="Line 104"/>
            <p:cNvSpPr>
              <a:spLocks noChangeShapeType="1"/>
            </p:cNvSpPr>
            <p:nvPr/>
          </p:nvSpPr>
          <p:spPr bwMode="auto">
            <a:xfrm flipH="1">
              <a:off x="4900280" y="329947"/>
              <a:ext cx="0" cy="34744"/>
            </a:xfrm>
            <a:prstGeom prst="line">
              <a:avLst/>
            </a:prstGeom>
            <a:noFill/>
            <a:ln w="8890">
              <a:solidFill>
                <a:schemeClr val="tx1"/>
              </a:solidFill>
              <a:round/>
              <a:headEnd/>
              <a:tailEnd type="stealth" w="med" len="med"/>
            </a:ln>
          </p:spPr>
          <p:txBody>
            <a:bodyPr lIns="90000" tIns="46800" rIns="90000" bIns="46800" anchor="ctr"/>
            <a:lstStyle/>
            <a:p>
              <a:endParaRPr lang="en-US"/>
            </a:p>
          </p:txBody>
        </p:sp>
        <p:sp>
          <p:nvSpPr>
            <p:cNvPr id="403" name="Text Box 105"/>
            <p:cNvSpPr txBox="1">
              <a:spLocks noChangeArrowheads="1"/>
            </p:cNvSpPr>
            <p:nvPr/>
          </p:nvSpPr>
          <p:spPr bwMode="auto">
            <a:xfrm>
              <a:off x="4873292" y="193240"/>
              <a:ext cx="85725" cy="12223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l">
                <a:buClrTx/>
                <a:buSzTx/>
                <a:buFontTx/>
                <a:buNone/>
              </a:pPr>
              <a:r>
                <a:rPr lang="en-US" sz="800" b="1" dirty="0"/>
                <a:t>R</a:t>
              </a:r>
            </a:p>
          </p:txBody>
        </p:sp>
        <p:sp>
          <p:nvSpPr>
            <p:cNvPr id="404" name="AutoShape 76"/>
            <p:cNvSpPr>
              <a:spLocks noChangeArrowheads="1"/>
            </p:cNvSpPr>
            <p:nvPr/>
          </p:nvSpPr>
          <p:spPr bwMode="auto">
            <a:xfrm rot="5400000">
              <a:off x="4952986" y="257947"/>
              <a:ext cx="72000" cy="72000"/>
            </a:xfrm>
            <a:prstGeom prst="flowChartConnector">
              <a:avLst/>
            </a:prstGeom>
            <a:solidFill>
              <a:schemeClr val="bg1"/>
            </a:solidFill>
            <a:ln w="1778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endParaRPr lang="en-US"/>
            </a:p>
          </p:txBody>
        </p:sp>
      </p:grpSp>
      <p:sp>
        <p:nvSpPr>
          <p:cNvPr id="548" name="Rectangle 138">
            <a:extLst>
              <a:ext uri="{FF2B5EF4-FFF2-40B4-BE49-F238E27FC236}">
                <a16:creationId xmlns:a16="http://schemas.microsoft.com/office/drawing/2014/main" id="{032EFB19-8818-3D41-8E7A-16475BDF1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8238" y="6511992"/>
            <a:ext cx="3113435" cy="261590"/>
          </a:xfrm>
          <a:prstGeom prst="rect">
            <a:avLst/>
          </a:prstGeom>
          <a:solidFill>
            <a:srgbClr val="DDDDDD"/>
          </a:solidFill>
          <a:ln w="17780">
            <a:solidFill>
              <a:schemeClr val="tx1"/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algn="ctr"/>
            <a:r>
              <a:rPr lang="en-US" sz="1200" dirty="0"/>
              <a:t>IaaS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792BA5E-018B-DB4C-80CA-FF611A3E2DCE}"/>
              </a:ext>
            </a:extLst>
          </p:cNvPr>
          <p:cNvCxnSpPr>
            <a:cxnSpLocks/>
          </p:cNvCxnSpPr>
          <p:nvPr/>
        </p:nvCxnSpPr>
        <p:spPr>
          <a:xfrm>
            <a:off x="3343679" y="3911897"/>
            <a:ext cx="19485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DF11BE8-5306-C642-8260-E906F6EC452E}"/>
              </a:ext>
            </a:extLst>
          </p:cNvPr>
          <p:cNvCxnSpPr/>
          <p:nvPr/>
        </p:nvCxnSpPr>
        <p:spPr>
          <a:xfrm>
            <a:off x="4417989" y="1541722"/>
            <a:ext cx="0" cy="33960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1" name="Straight Connector 470">
            <a:extLst>
              <a:ext uri="{FF2B5EF4-FFF2-40B4-BE49-F238E27FC236}">
                <a16:creationId xmlns:a16="http://schemas.microsoft.com/office/drawing/2014/main" id="{7ECAED43-6A8A-F04B-BAA0-3EEB5C535C42}"/>
              </a:ext>
            </a:extLst>
          </p:cNvPr>
          <p:cNvCxnSpPr/>
          <p:nvPr/>
        </p:nvCxnSpPr>
        <p:spPr>
          <a:xfrm>
            <a:off x="4443126" y="1545401"/>
            <a:ext cx="0" cy="33960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3" name="Straight Connector 472">
            <a:extLst>
              <a:ext uri="{FF2B5EF4-FFF2-40B4-BE49-F238E27FC236}">
                <a16:creationId xmlns:a16="http://schemas.microsoft.com/office/drawing/2014/main" id="{286ECCDE-5B92-4C40-87DF-2460F2360A51}"/>
              </a:ext>
            </a:extLst>
          </p:cNvPr>
          <p:cNvCxnSpPr/>
          <p:nvPr/>
        </p:nvCxnSpPr>
        <p:spPr>
          <a:xfrm>
            <a:off x="4417989" y="1639265"/>
            <a:ext cx="0" cy="33960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0" name="Straight Connector 479">
            <a:extLst>
              <a:ext uri="{FF2B5EF4-FFF2-40B4-BE49-F238E27FC236}">
                <a16:creationId xmlns:a16="http://schemas.microsoft.com/office/drawing/2014/main" id="{355452FA-90A0-F94C-AAF6-88081729023F}"/>
              </a:ext>
            </a:extLst>
          </p:cNvPr>
          <p:cNvCxnSpPr/>
          <p:nvPr/>
        </p:nvCxnSpPr>
        <p:spPr>
          <a:xfrm>
            <a:off x="4443252" y="1636090"/>
            <a:ext cx="0" cy="33960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008FBC65-9891-9F40-A25D-A29D2462FAA4}"/>
              </a:ext>
            </a:extLst>
          </p:cNvPr>
          <p:cNvCxnSpPr>
            <a:cxnSpLocks/>
          </p:cNvCxnSpPr>
          <p:nvPr/>
        </p:nvCxnSpPr>
        <p:spPr>
          <a:xfrm flipV="1">
            <a:off x="2819105" y="1300062"/>
            <a:ext cx="0" cy="18012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2" name="Straight Connector 541">
            <a:extLst>
              <a:ext uri="{FF2B5EF4-FFF2-40B4-BE49-F238E27FC236}">
                <a16:creationId xmlns:a16="http://schemas.microsoft.com/office/drawing/2014/main" id="{4615AC02-7AF4-654B-A839-A41A4203216B}"/>
              </a:ext>
            </a:extLst>
          </p:cNvPr>
          <p:cNvCxnSpPr/>
          <p:nvPr/>
        </p:nvCxnSpPr>
        <p:spPr>
          <a:xfrm>
            <a:off x="3853317" y="1464039"/>
            <a:ext cx="0" cy="33960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DE31D95D-A749-6C4F-A84A-B967D0ECC8F5}"/>
              </a:ext>
            </a:extLst>
          </p:cNvPr>
          <p:cNvSpPr/>
          <p:nvPr/>
        </p:nvSpPr>
        <p:spPr>
          <a:xfrm>
            <a:off x="5105577" y="4039169"/>
            <a:ext cx="1548000" cy="1699200"/>
          </a:xfrm>
          <a:prstGeom prst="rect">
            <a:avLst/>
          </a:prstGeom>
          <a:solidFill>
            <a:srgbClr val="E56A1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543" name="Straight Connector 542">
            <a:extLst>
              <a:ext uri="{FF2B5EF4-FFF2-40B4-BE49-F238E27FC236}">
                <a16:creationId xmlns:a16="http://schemas.microsoft.com/office/drawing/2014/main" id="{ACFB9C3C-5A07-524E-9C2F-2C5BED82459A}"/>
              </a:ext>
            </a:extLst>
          </p:cNvPr>
          <p:cNvCxnSpPr/>
          <p:nvPr/>
        </p:nvCxnSpPr>
        <p:spPr>
          <a:xfrm>
            <a:off x="3825822" y="1470915"/>
            <a:ext cx="0" cy="33960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4ADE26E-3651-864B-A6BA-5CE675B4FB94}"/>
              </a:ext>
            </a:extLst>
          </p:cNvPr>
          <p:cNvGrpSpPr/>
          <p:nvPr/>
        </p:nvGrpSpPr>
        <p:grpSpPr>
          <a:xfrm>
            <a:off x="5145952" y="4993920"/>
            <a:ext cx="1468800" cy="162000"/>
            <a:chOff x="5414400" y="5018400"/>
            <a:chExt cx="1468800" cy="162000"/>
          </a:xfrm>
        </p:grpSpPr>
        <p:sp>
          <p:nvSpPr>
            <p:cNvPr id="434" name="Rectangle 138"/>
            <p:cNvSpPr>
              <a:spLocks noChangeArrowheads="1"/>
            </p:cNvSpPr>
            <p:nvPr/>
          </p:nvSpPr>
          <p:spPr bwMode="auto">
            <a:xfrm>
              <a:off x="5414400" y="5018400"/>
              <a:ext cx="1260000" cy="162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778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algn="ctr">
                <a:buClrTx/>
                <a:buSzTx/>
                <a:buFontTx/>
                <a:buNone/>
              </a:pPr>
              <a:r>
                <a:rPr lang="en-US" sz="1000" dirty="0"/>
                <a:t>Scheduler</a:t>
              </a:r>
            </a:p>
          </p:txBody>
        </p:sp>
        <p:sp>
          <p:nvSpPr>
            <p:cNvPr id="435" name="Rectangle 138"/>
            <p:cNvSpPr>
              <a:spLocks noChangeArrowheads="1"/>
            </p:cNvSpPr>
            <p:nvPr/>
          </p:nvSpPr>
          <p:spPr bwMode="auto">
            <a:xfrm>
              <a:off x="6667200" y="5018400"/>
              <a:ext cx="216000" cy="162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778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algn="ctr">
                <a:buClrTx/>
                <a:buSzTx/>
                <a:buFontTx/>
                <a:buNone/>
              </a:pPr>
              <a:r>
                <a:rPr lang="en-US" sz="1000" dirty="0"/>
                <a:t>D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26759D6-0671-AC4A-9F53-ED5478FB4677}"/>
              </a:ext>
            </a:extLst>
          </p:cNvPr>
          <p:cNvGrpSpPr/>
          <p:nvPr/>
        </p:nvGrpSpPr>
        <p:grpSpPr>
          <a:xfrm>
            <a:off x="5145952" y="5211360"/>
            <a:ext cx="1465200" cy="162000"/>
            <a:chOff x="5414400" y="5220000"/>
            <a:chExt cx="1465200" cy="162000"/>
          </a:xfrm>
        </p:grpSpPr>
        <p:sp>
          <p:nvSpPr>
            <p:cNvPr id="436" name="Rectangle 138"/>
            <p:cNvSpPr>
              <a:spLocks noChangeArrowheads="1"/>
            </p:cNvSpPr>
            <p:nvPr/>
          </p:nvSpPr>
          <p:spPr bwMode="auto">
            <a:xfrm>
              <a:off x="5414400" y="5220000"/>
              <a:ext cx="1260000" cy="162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778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algn="ctr">
                <a:buClrTx/>
                <a:buSzTx/>
                <a:buFontTx/>
                <a:buNone/>
              </a:pPr>
              <a:r>
                <a:rPr lang="en-US" sz="1000" dirty="0"/>
                <a:t>Controller Manager</a:t>
              </a:r>
            </a:p>
          </p:txBody>
        </p:sp>
        <p:sp>
          <p:nvSpPr>
            <p:cNvPr id="437" name="Rectangle 138"/>
            <p:cNvSpPr>
              <a:spLocks noChangeArrowheads="1"/>
            </p:cNvSpPr>
            <p:nvPr/>
          </p:nvSpPr>
          <p:spPr bwMode="auto">
            <a:xfrm>
              <a:off x="6667200" y="5220000"/>
              <a:ext cx="212400" cy="162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778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algn="ctr">
                <a:buClrTx/>
                <a:buSzTx/>
                <a:buFontTx/>
                <a:buNone/>
              </a:pPr>
              <a:r>
                <a:rPr lang="en-US" sz="1000" dirty="0"/>
                <a:t>D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C92CB0B-32C1-C348-A17F-E440CC3D71EF}"/>
              </a:ext>
            </a:extLst>
          </p:cNvPr>
          <p:cNvGrpSpPr/>
          <p:nvPr/>
        </p:nvGrpSpPr>
        <p:grpSpPr>
          <a:xfrm>
            <a:off x="5145823" y="4085581"/>
            <a:ext cx="1468929" cy="162000"/>
            <a:chOff x="5414271" y="4085581"/>
            <a:chExt cx="1468929" cy="162000"/>
          </a:xfrm>
        </p:grpSpPr>
        <p:sp>
          <p:nvSpPr>
            <p:cNvPr id="425" name="Rectangle 138"/>
            <p:cNvSpPr>
              <a:spLocks noChangeArrowheads="1"/>
            </p:cNvSpPr>
            <p:nvPr/>
          </p:nvSpPr>
          <p:spPr bwMode="auto">
            <a:xfrm>
              <a:off x="6667200" y="4085581"/>
              <a:ext cx="216000" cy="162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778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algn="ctr">
                <a:buClrTx/>
                <a:buSzTx/>
                <a:buFontTx/>
                <a:buNone/>
              </a:pPr>
              <a:r>
                <a:rPr lang="en-US" sz="1000" dirty="0"/>
                <a:t>SS</a:t>
              </a:r>
            </a:p>
          </p:txBody>
        </p:sp>
        <p:sp>
          <p:nvSpPr>
            <p:cNvPr id="424" name="Rectangle 138"/>
            <p:cNvSpPr>
              <a:spLocks noChangeArrowheads="1"/>
            </p:cNvSpPr>
            <p:nvPr/>
          </p:nvSpPr>
          <p:spPr bwMode="auto">
            <a:xfrm>
              <a:off x="5414271" y="4085581"/>
              <a:ext cx="810000" cy="162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778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algn="ctr">
                <a:buClrTx/>
                <a:buSzTx/>
                <a:buFontTx/>
                <a:buNone/>
              </a:pPr>
              <a:r>
                <a:rPr lang="en-US" sz="1000" dirty="0"/>
                <a:t>ETCD Main</a:t>
              </a:r>
            </a:p>
          </p:txBody>
        </p:sp>
        <p:sp>
          <p:nvSpPr>
            <p:cNvPr id="475" name="Rectangle 138">
              <a:extLst>
                <a:ext uri="{FF2B5EF4-FFF2-40B4-BE49-F238E27FC236}">
                  <a16:creationId xmlns:a16="http://schemas.microsoft.com/office/drawing/2014/main" id="{68F62DF4-6899-5646-9217-0B1E5976A5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0519" y="4085581"/>
              <a:ext cx="450000" cy="162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778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algn="ctr">
                <a:buClrTx/>
                <a:buSzTx/>
                <a:buFontTx/>
                <a:buNone/>
              </a:pPr>
              <a:r>
                <a:rPr lang="en-US" sz="1000" dirty="0"/>
                <a:t>Backup</a:t>
              </a:r>
            </a:p>
          </p:txBody>
        </p:sp>
      </p:grpSp>
      <p:grpSp>
        <p:nvGrpSpPr>
          <p:cNvPr id="442" name="Group 133"/>
          <p:cNvGrpSpPr>
            <a:grpSpLocks/>
          </p:cNvGrpSpPr>
          <p:nvPr/>
        </p:nvGrpSpPr>
        <p:grpSpPr bwMode="auto">
          <a:xfrm rot="5400000">
            <a:off x="6624814" y="4348395"/>
            <a:ext cx="166994" cy="162315"/>
            <a:chOff x="998" y="3624"/>
            <a:chExt cx="271" cy="271"/>
          </a:xfrm>
        </p:grpSpPr>
        <p:sp>
          <p:nvSpPr>
            <p:cNvPr id="443" name="Freeform 134"/>
            <p:cNvSpPr>
              <a:spLocks/>
            </p:cNvSpPr>
            <p:nvPr/>
          </p:nvSpPr>
          <p:spPr bwMode="auto">
            <a:xfrm>
              <a:off x="1043" y="3624"/>
              <a:ext cx="46" cy="272"/>
            </a:xfrm>
            <a:custGeom>
              <a:avLst/>
              <a:gdLst>
                <a:gd name="T0" fmla="*/ 3 w 201"/>
                <a:gd name="T1" fmla="*/ 0 h 1201"/>
                <a:gd name="T2" fmla="*/ 3 w 201"/>
                <a:gd name="T3" fmla="*/ 14 h 1201"/>
                <a:gd name="T4" fmla="*/ 0 60000 65536"/>
                <a:gd name="T5" fmla="*/ 0 60000 65536"/>
                <a:gd name="T6" fmla="*/ 0 w 201"/>
                <a:gd name="T7" fmla="*/ 0 h 1201"/>
                <a:gd name="T8" fmla="*/ 201 w 201"/>
                <a:gd name="T9" fmla="*/ 1201 h 120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01" h="1201">
                  <a:moveTo>
                    <a:pt x="200" y="0"/>
                  </a:moveTo>
                  <a:cubicBezTo>
                    <a:pt x="0" y="400"/>
                    <a:pt x="0" y="800"/>
                    <a:pt x="200" y="1200"/>
                  </a:cubicBezTo>
                </a:path>
              </a:pathLst>
            </a:custGeom>
            <a:noFill/>
            <a:ln w="72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4" name="Freeform 135"/>
            <p:cNvSpPr>
              <a:spLocks/>
            </p:cNvSpPr>
            <p:nvPr/>
          </p:nvSpPr>
          <p:spPr bwMode="auto">
            <a:xfrm>
              <a:off x="1179" y="3624"/>
              <a:ext cx="46" cy="272"/>
            </a:xfrm>
            <a:custGeom>
              <a:avLst/>
              <a:gdLst>
                <a:gd name="T0" fmla="*/ 0 w 201"/>
                <a:gd name="T1" fmla="*/ 14 h 1201"/>
                <a:gd name="T2" fmla="*/ 0 w 201"/>
                <a:gd name="T3" fmla="*/ 0 h 1201"/>
                <a:gd name="T4" fmla="*/ 0 60000 65536"/>
                <a:gd name="T5" fmla="*/ 0 60000 65536"/>
                <a:gd name="T6" fmla="*/ 0 w 201"/>
                <a:gd name="T7" fmla="*/ 0 h 1201"/>
                <a:gd name="T8" fmla="*/ 201 w 201"/>
                <a:gd name="T9" fmla="*/ 1201 h 120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01" h="1201">
                  <a:moveTo>
                    <a:pt x="0" y="1200"/>
                  </a:moveTo>
                  <a:cubicBezTo>
                    <a:pt x="200" y="800"/>
                    <a:pt x="200" y="400"/>
                    <a:pt x="0" y="0"/>
                  </a:cubicBezTo>
                </a:path>
              </a:pathLst>
            </a:custGeom>
            <a:noFill/>
            <a:ln w="72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5" name="AutoShape 136"/>
            <p:cNvSpPr>
              <a:spLocks noChangeArrowheads="1"/>
            </p:cNvSpPr>
            <p:nvPr/>
          </p:nvSpPr>
          <p:spPr bwMode="auto">
            <a:xfrm>
              <a:off x="998" y="3624"/>
              <a:ext cx="272" cy="272"/>
            </a:xfrm>
            <a:prstGeom prst="roundRect">
              <a:avLst>
                <a:gd name="adj" fmla="val 366"/>
              </a:avLst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46" name="AutoShape 29"/>
          <p:cNvSpPr>
            <a:spLocks noChangeArrowheads="1"/>
          </p:cNvSpPr>
          <p:nvPr/>
        </p:nvSpPr>
        <p:spPr bwMode="auto">
          <a:xfrm>
            <a:off x="6787552" y="4341600"/>
            <a:ext cx="709200" cy="162000"/>
          </a:xfrm>
          <a:prstGeom prst="roundRect">
            <a:avLst>
              <a:gd name="adj" fmla="val 50000"/>
            </a:avLst>
          </a:prstGeom>
          <a:solidFill>
            <a:schemeClr val="accent2">
              <a:lumMod val="60000"/>
              <a:lumOff val="40000"/>
            </a:schemeClr>
          </a:solidFill>
          <a:ln w="17780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 anchor="ctr"/>
          <a:lstStyle/>
          <a:p>
            <a:pPr algn="ctr">
              <a:buClrTx/>
              <a:buSzTx/>
              <a:buFontTx/>
              <a:buNone/>
            </a:pPr>
            <a:r>
              <a:rPr lang="en-US" sz="1000" dirty="0"/>
              <a:t>Events   PV</a:t>
            </a:r>
          </a:p>
        </p:txBody>
      </p:sp>
      <p:cxnSp>
        <p:nvCxnSpPr>
          <p:cNvPr id="453" name="Straight Connector 452"/>
          <p:cNvCxnSpPr>
            <a:cxnSpLocks/>
          </p:cNvCxnSpPr>
          <p:nvPr/>
        </p:nvCxnSpPr>
        <p:spPr>
          <a:xfrm flipH="1">
            <a:off x="7237552" y="4341600"/>
            <a:ext cx="0" cy="162000"/>
          </a:xfrm>
          <a:prstGeom prst="line">
            <a:avLst/>
          </a:prstGeom>
          <a:solidFill>
            <a:schemeClr val="bg1"/>
          </a:solidFill>
          <a:ln w="17780">
            <a:solidFill>
              <a:schemeClr val="tx1"/>
            </a:solidFill>
            <a:miter lim="800000"/>
            <a:headEnd/>
            <a:tailEnd/>
          </a:ln>
        </p:spPr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1BD718D-71B5-FE43-B451-763EA5274461}"/>
              </a:ext>
            </a:extLst>
          </p:cNvPr>
          <p:cNvGrpSpPr/>
          <p:nvPr/>
        </p:nvGrpSpPr>
        <p:grpSpPr>
          <a:xfrm>
            <a:off x="5145952" y="4559040"/>
            <a:ext cx="1468800" cy="162000"/>
            <a:chOff x="5414400" y="4561200"/>
            <a:chExt cx="1468800" cy="162000"/>
          </a:xfrm>
        </p:grpSpPr>
        <p:sp>
          <p:nvSpPr>
            <p:cNvPr id="430" name="Rectangle 138"/>
            <p:cNvSpPr>
              <a:spLocks noChangeArrowheads="1"/>
            </p:cNvSpPr>
            <p:nvPr/>
          </p:nvSpPr>
          <p:spPr bwMode="auto">
            <a:xfrm>
              <a:off x="5414400" y="4561200"/>
              <a:ext cx="1260000" cy="162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778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algn="ctr">
                <a:buClrTx/>
                <a:buSzTx/>
                <a:buFontTx/>
                <a:buNone/>
              </a:pPr>
              <a:r>
                <a:rPr lang="en-US" sz="1000" dirty="0"/>
                <a:t>API Server</a:t>
              </a:r>
            </a:p>
          </p:txBody>
        </p:sp>
        <p:sp>
          <p:nvSpPr>
            <p:cNvPr id="539" name="Rectangle 138"/>
            <p:cNvSpPr>
              <a:spLocks noChangeArrowheads="1"/>
            </p:cNvSpPr>
            <p:nvPr/>
          </p:nvSpPr>
          <p:spPr bwMode="auto">
            <a:xfrm>
              <a:off x="6667200" y="4561200"/>
              <a:ext cx="216000" cy="162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778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algn="ctr">
                <a:buClrTx/>
                <a:buSzTx/>
                <a:buFontTx/>
                <a:buNone/>
              </a:pPr>
              <a:r>
                <a:rPr lang="en-US" sz="1000" dirty="0"/>
                <a:t>D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1AE8F93-3B0A-D249-9D92-DA24A78F44B5}"/>
              </a:ext>
            </a:extLst>
          </p:cNvPr>
          <p:cNvGrpSpPr/>
          <p:nvPr/>
        </p:nvGrpSpPr>
        <p:grpSpPr>
          <a:xfrm>
            <a:off x="5145952" y="5428800"/>
            <a:ext cx="1468800" cy="162000"/>
            <a:chOff x="5414400" y="5428800"/>
            <a:chExt cx="1468800" cy="162000"/>
          </a:xfrm>
        </p:grpSpPr>
        <p:sp>
          <p:nvSpPr>
            <p:cNvPr id="581" name="Rectangle 138">
              <a:extLst>
                <a:ext uri="{FF2B5EF4-FFF2-40B4-BE49-F238E27FC236}">
                  <a16:creationId xmlns:a16="http://schemas.microsoft.com/office/drawing/2014/main" id="{63565779-6A67-9648-BAE1-FA286CDC67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4400" y="5428800"/>
              <a:ext cx="1260000" cy="162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778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algn="ctr">
                <a:buClrTx/>
                <a:buSzTx/>
                <a:buFontTx/>
                <a:buNone/>
              </a:pPr>
              <a:r>
                <a:rPr lang="en-US" sz="1000" dirty="0"/>
                <a:t>Machine Controller</a:t>
              </a:r>
            </a:p>
          </p:txBody>
        </p:sp>
        <p:sp>
          <p:nvSpPr>
            <p:cNvPr id="582" name="Rectangle 138">
              <a:extLst>
                <a:ext uri="{FF2B5EF4-FFF2-40B4-BE49-F238E27FC236}">
                  <a16:creationId xmlns:a16="http://schemas.microsoft.com/office/drawing/2014/main" id="{5A6259BE-D608-E040-9FDF-BDD62DDFBA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67200" y="5428800"/>
              <a:ext cx="216000" cy="162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778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algn="ctr">
                <a:buClrTx/>
                <a:buSzTx/>
                <a:buFontTx/>
                <a:buNone/>
              </a:pPr>
              <a:r>
                <a:rPr lang="en-US" sz="1000" dirty="0"/>
                <a:t>D</a:t>
              </a:r>
            </a:p>
          </p:txBody>
        </p:sp>
      </p:grpSp>
      <p:sp>
        <p:nvSpPr>
          <p:cNvPr id="422" name="Rectangular Callout 421">
            <a:extLst>
              <a:ext uri="{FF2B5EF4-FFF2-40B4-BE49-F238E27FC236}">
                <a16:creationId xmlns:a16="http://schemas.microsoft.com/office/drawing/2014/main" id="{B0D512DA-C400-F046-95CA-3DFB7718BDF0}"/>
              </a:ext>
            </a:extLst>
          </p:cNvPr>
          <p:cNvSpPr/>
          <p:nvPr/>
        </p:nvSpPr>
        <p:spPr bwMode="gray">
          <a:xfrm>
            <a:off x="5232352" y="5605200"/>
            <a:ext cx="1242872" cy="141142"/>
          </a:xfrm>
          <a:prstGeom prst="wedgeRectCallout">
            <a:avLst>
              <a:gd name="adj1" fmla="val -23904"/>
              <a:gd name="adj2" fmla="val -49750"/>
            </a:avLst>
          </a:prstGeom>
          <a:noFill/>
          <a:ln w="12700">
            <a:noFill/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de-DE" sz="800" b="1" kern="0" dirty="0" err="1">
                <a:solidFill>
                  <a:schemeClr val="bg1"/>
                </a:solidFill>
                <a:ea typeface="Arial Unicode MS" pitchFamily="34" charset="-128"/>
                <a:cs typeface="Arial Unicode MS" pitchFamily="34" charset="-128"/>
              </a:rPr>
              <a:t>Shoot</a:t>
            </a:r>
            <a:r>
              <a:rPr lang="de-DE" sz="800" b="1" kern="0" dirty="0">
                <a:solidFill>
                  <a:schemeClr val="bg1"/>
                </a:solidFill>
                <a:ea typeface="Arial Unicode MS" pitchFamily="34" charset="-128"/>
                <a:cs typeface="Arial Unicode MS" pitchFamily="34" charset="-128"/>
              </a:rPr>
              <a:t> Cluster Control Plane</a:t>
            </a:r>
            <a:endParaRPr lang="en-US" sz="800" b="1" kern="0" dirty="0">
              <a:solidFill>
                <a:schemeClr val="bg1"/>
              </a:solidFill>
              <a:ea typeface="Arial Unicode MS" pitchFamily="34" charset="-128"/>
              <a:cs typeface="Arial Unicode MS" pitchFamily="34" charset="-128"/>
            </a:endParaRPr>
          </a:p>
        </p:txBody>
      </p:sp>
      <p:cxnSp>
        <p:nvCxnSpPr>
          <p:cNvPr id="438" name="Elbow Connector 437"/>
          <p:cNvCxnSpPr>
            <a:cxnSpLocks/>
          </p:cNvCxnSpPr>
          <p:nvPr/>
        </p:nvCxnSpPr>
        <p:spPr>
          <a:xfrm rot="5400000">
            <a:off x="6027272" y="3013586"/>
            <a:ext cx="2191119" cy="1008956"/>
          </a:xfrm>
          <a:prstGeom prst="bentConnector3">
            <a:avLst>
              <a:gd name="adj1" fmla="val 99847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4" name="Elbow Connector 563"/>
          <p:cNvCxnSpPr>
            <a:cxnSpLocks/>
            <a:endCxn id="341" idx="3"/>
          </p:cNvCxnSpPr>
          <p:nvPr/>
        </p:nvCxnSpPr>
        <p:spPr>
          <a:xfrm rot="5400000">
            <a:off x="5932488" y="3097303"/>
            <a:ext cx="2442442" cy="1077913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25" name="Group 524">
            <a:extLst>
              <a:ext uri="{FF2B5EF4-FFF2-40B4-BE49-F238E27FC236}">
                <a16:creationId xmlns:a16="http://schemas.microsoft.com/office/drawing/2014/main" id="{CA339412-71FE-BD4A-9545-3BF3C22DAE33}"/>
              </a:ext>
            </a:extLst>
          </p:cNvPr>
          <p:cNvGrpSpPr/>
          <p:nvPr/>
        </p:nvGrpSpPr>
        <p:grpSpPr>
          <a:xfrm>
            <a:off x="6987645" y="4823572"/>
            <a:ext cx="133802" cy="181810"/>
            <a:chOff x="5750967" y="257947"/>
            <a:chExt cx="133802" cy="181810"/>
          </a:xfrm>
        </p:grpSpPr>
        <p:sp>
          <p:nvSpPr>
            <p:cNvPr id="526" name="Text Box 105">
              <a:extLst>
                <a:ext uri="{FF2B5EF4-FFF2-40B4-BE49-F238E27FC236}">
                  <a16:creationId xmlns:a16="http://schemas.microsoft.com/office/drawing/2014/main" id="{0041EBAE-8553-FC46-8BFB-2B7D4EE03A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50967" y="317519"/>
              <a:ext cx="85725" cy="12223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l">
                <a:buClrTx/>
                <a:buSzTx/>
                <a:buFontTx/>
                <a:buNone/>
              </a:pPr>
              <a:r>
                <a:rPr lang="en-US" sz="800" b="1" dirty="0"/>
                <a:t>R</a:t>
              </a:r>
            </a:p>
          </p:txBody>
        </p:sp>
        <p:sp>
          <p:nvSpPr>
            <p:cNvPr id="527" name="AutoShape 76">
              <a:extLst>
                <a:ext uri="{FF2B5EF4-FFF2-40B4-BE49-F238E27FC236}">
                  <a16:creationId xmlns:a16="http://schemas.microsoft.com/office/drawing/2014/main" id="{C0A6B392-6BF9-8644-B92B-2486D96D902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769537" y="257947"/>
              <a:ext cx="72000" cy="72000"/>
            </a:xfrm>
            <a:prstGeom prst="flowChartConnector">
              <a:avLst/>
            </a:prstGeom>
            <a:solidFill>
              <a:schemeClr val="bg1"/>
            </a:solidFill>
            <a:ln w="1778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endParaRPr lang="en-US"/>
            </a:p>
          </p:txBody>
        </p:sp>
        <p:sp>
          <p:nvSpPr>
            <p:cNvPr id="528" name="Line 104">
              <a:extLst>
                <a:ext uri="{FF2B5EF4-FFF2-40B4-BE49-F238E27FC236}">
                  <a16:creationId xmlns:a16="http://schemas.microsoft.com/office/drawing/2014/main" id="{60622759-0625-744D-B30D-5C57AC7F76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40543" y="379967"/>
              <a:ext cx="44226" cy="0"/>
            </a:xfrm>
            <a:prstGeom prst="line">
              <a:avLst/>
            </a:prstGeom>
            <a:noFill/>
            <a:ln w="8890">
              <a:solidFill>
                <a:schemeClr val="tx1"/>
              </a:solidFill>
              <a:round/>
              <a:headEnd/>
              <a:tailEnd type="stealth" w="med" len="med"/>
            </a:ln>
          </p:spPr>
          <p:txBody>
            <a:bodyPr lIns="90000" tIns="46800" rIns="90000" bIns="46800" anchor="ctr"/>
            <a:lstStyle/>
            <a:p>
              <a:endParaRPr lang="en-US"/>
            </a:p>
          </p:txBody>
        </p:sp>
      </p:grpSp>
      <p:cxnSp>
        <p:nvCxnSpPr>
          <p:cNvPr id="498" name="Elbow Connector 497">
            <a:extLst>
              <a:ext uri="{FF2B5EF4-FFF2-40B4-BE49-F238E27FC236}">
                <a16:creationId xmlns:a16="http://schemas.microsoft.com/office/drawing/2014/main" id="{17E33A92-15B3-4448-A7CC-D7FD7062B64C}"/>
              </a:ext>
            </a:extLst>
          </p:cNvPr>
          <p:cNvCxnSpPr>
            <a:cxnSpLocks/>
            <a:stCxn id="475" idx="2"/>
          </p:cNvCxnSpPr>
          <p:nvPr/>
        </p:nvCxnSpPr>
        <p:spPr>
          <a:xfrm rot="16200000" flipH="1">
            <a:off x="5737518" y="4687134"/>
            <a:ext cx="2268193" cy="1389086"/>
          </a:xfrm>
          <a:prstGeom prst="bentConnector3">
            <a:avLst>
              <a:gd name="adj1" fmla="val 2127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0" name="Rectangle 138"/>
          <p:cNvSpPr>
            <a:spLocks noChangeArrowheads="1"/>
          </p:cNvSpPr>
          <p:nvPr/>
        </p:nvSpPr>
        <p:spPr bwMode="auto">
          <a:xfrm>
            <a:off x="4610013" y="6519326"/>
            <a:ext cx="6714936" cy="254256"/>
          </a:xfrm>
          <a:prstGeom prst="rect">
            <a:avLst/>
          </a:prstGeom>
          <a:solidFill>
            <a:srgbClr val="DDDDDD"/>
          </a:solidFill>
          <a:ln w="17780">
            <a:solidFill>
              <a:schemeClr val="tx1"/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r>
              <a:rPr lang="en-US" sz="1200" dirty="0"/>
              <a:t>                             IaaS</a:t>
            </a:r>
          </a:p>
        </p:txBody>
      </p:sp>
      <p:grpSp>
        <p:nvGrpSpPr>
          <p:cNvPr id="614" name="Group 613"/>
          <p:cNvGrpSpPr/>
          <p:nvPr/>
        </p:nvGrpSpPr>
        <p:grpSpPr>
          <a:xfrm>
            <a:off x="7503411" y="2419101"/>
            <a:ext cx="151694" cy="171451"/>
            <a:chOff x="4873292" y="193240"/>
            <a:chExt cx="151694" cy="171451"/>
          </a:xfrm>
        </p:grpSpPr>
        <p:sp>
          <p:nvSpPr>
            <p:cNvPr id="615" name="Line 104"/>
            <p:cNvSpPr>
              <a:spLocks noChangeShapeType="1"/>
            </p:cNvSpPr>
            <p:nvPr/>
          </p:nvSpPr>
          <p:spPr bwMode="auto">
            <a:xfrm flipH="1">
              <a:off x="4900280" y="329947"/>
              <a:ext cx="0" cy="34744"/>
            </a:xfrm>
            <a:prstGeom prst="line">
              <a:avLst/>
            </a:prstGeom>
            <a:noFill/>
            <a:ln w="8890">
              <a:solidFill>
                <a:schemeClr val="tx1"/>
              </a:solidFill>
              <a:round/>
              <a:headEnd/>
              <a:tailEnd type="stealth" w="med" len="med"/>
            </a:ln>
          </p:spPr>
          <p:txBody>
            <a:bodyPr lIns="90000" tIns="46800" rIns="90000" bIns="46800" anchor="ctr"/>
            <a:lstStyle/>
            <a:p>
              <a:endParaRPr lang="en-US"/>
            </a:p>
          </p:txBody>
        </p:sp>
        <p:sp>
          <p:nvSpPr>
            <p:cNvPr id="616" name="Text Box 105"/>
            <p:cNvSpPr txBox="1">
              <a:spLocks noChangeArrowheads="1"/>
            </p:cNvSpPr>
            <p:nvPr/>
          </p:nvSpPr>
          <p:spPr bwMode="auto">
            <a:xfrm>
              <a:off x="4873292" y="193240"/>
              <a:ext cx="85725" cy="12223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l">
                <a:buClrTx/>
                <a:buSzTx/>
                <a:buFontTx/>
                <a:buNone/>
              </a:pPr>
              <a:r>
                <a:rPr lang="en-US" sz="800" b="1" dirty="0"/>
                <a:t>R</a:t>
              </a:r>
            </a:p>
          </p:txBody>
        </p:sp>
        <p:sp>
          <p:nvSpPr>
            <p:cNvPr id="617" name="AutoShape 76"/>
            <p:cNvSpPr>
              <a:spLocks noChangeArrowheads="1"/>
            </p:cNvSpPr>
            <p:nvPr/>
          </p:nvSpPr>
          <p:spPr bwMode="auto">
            <a:xfrm rot="5400000">
              <a:off x="4952986" y="257947"/>
              <a:ext cx="72000" cy="72000"/>
            </a:xfrm>
            <a:prstGeom prst="flowChartConnector">
              <a:avLst/>
            </a:prstGeom>
            <a:solidFill>
              <a:schemeClr val="bg1"/>
            </a:solidFill>
            <a:ln w="1778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endParaRPr lang="en-US"/>
            </a:p>
          </p:txBody>
        </p:sp>
      </p:grpSp>
      <p:cxnSp>
        <p:nvCxnSpPr>
          <p:cNvPr id="106" name="Elbow Connector 105">
            <a:extLst>
              <a:ext uri="{FF2B5EF4-FFF2-40B4-BE49-F238E27FC236}">
                <a16:creationId xmlns:a16="http://schemas.microsoft.com/office/drawing/2014/main" id="{C4B19D5B-F21F-994E-BB7A-C2C71F35278C}"/>
              </a:ext>
            </a:extLst>
          </p:cNvPr>
          <p:cNvCxnSpPr>
            <a:cxnSpLocks/>
            <a:stCxn id="582" idx="3"/>
            <a:endCxn id="479" idx="2"/>
          </p:cNvCxnSpPr>
          <p:nvPr/>
        </p:nvCxnSpPr>
        <p:spPr>
          <a:xfrm>
            <a:off x="6614752" y="5509800"/>
            <a:ext cx="3369383" cy="734627"/>
          </a:xfrm>
          <a:prstGeom prst="bentConnector4">
            <a:avLst>
              <a:gd name="adj1" fmla="val 24183"/>
              <a:gd name="adj2" fmla="val 156241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7" name="Group 586">
            <a:extLst>
              <a:ext uri="{FF2B5EF4-FFF2-40B4-BE49-F238E27FC236}">
                <a16:creationId xmlns:a16="http://schemas.microsoft.com/office/drawing/2014/main" id="{62AFC8F9-EEDA-E74F-8DB8-426E4973CA94}"/>
              </a:ext>
            </a:extLst>
          </p:cNvPr>
          <p:cNvGrpSpPr/>
          <p:nvPr/>
        </p:nvGrpSpPr>
        <p:grpSpPr>
          <a:xfrm>
            <a:off x="6987645" y="5472425"/>
            <a:ext cx="133802" cy="181810"/>
            <a:chOff x="5750967" y="257947"/>
            <a:chExt cx="133802" cy="181810"/>
          </a:xfrm>
        </p:grpSpPr>
        <p:sp>
          <p:nvSpPr>
            <p:cNvPr id="588" name="Text Box 105">
              <a:extLst>
                <a:ext uri="{FF2B5EF4-FFF2-40B4-BE49-F238E27FC236}">
                  <a16:creationId xmlns:a16="http://schemas.microsoft.com/office/drawing/2014/main" id="{15235171-5E7F-9143-AFFE-0294973F39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50967" y="317519"/>
              <a:ext cx="85725" cy="12223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l">
                <a:buClrTx/>
                <a:buSzTx/>
                <a:buFontTx/>
                <a:buNone/>
              </a:pPr>
              <a:r>
                <a:rPr lang="en-US" sz="800" b="1" dirty="0"/>
                <a:t>R</a:t>
              </a:r>
            </a:p>
          </p:txBody>
        </p:sp>
        <p:sp>
          <p:nvSpPr>
            <p:cNvPr id="592" name="AutoShape 76">
              <a:extLst>
                <a:ext uri="{FF2B5EF4-FFF2-40B4-BE49-F238E27FC236}">
                  <a16:creationId xmlns:a16="http://schemas.microsoft.com/office/drawing/2014/main" id="{F0B90F3A-45F6-2247-A0A8-9F95A5D35C1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769537" y="257947"/>
              <a:ext cx="72000" cy="72000"/>
            </a:xfrm>
            <a:prstGeom prst="flowChartConnector">
              <a:avLst/>
            </a:prstGeom>
            <a:solidFill>
              <a:schemeClr val="bg1"/>
            </a:solidFill>
            <a:ln w="1778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endParaRPr lang="en-US"/>
            </a:p>
          </p:txBody>
        </p:sp>
        <p:sp>
          <p:nvSpPr>
            <p:cNvPr id="593" name="Line 104">
              <a:extLst>
                <a:ext uri="{FF2B5EF4-FFF2-40B4-BE49-F238E27FC236}">
                  <a16:creationId xmlns:a16="http://schemas.microsoft.com/office/drawing/2014/main" id="{B3BF3E86-6223-DF44-A7F9-EA6F536F2F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40543" y="379967"/>
              <a:ext cx="44226" cy="0"/>
            </a:xfrm>
            <a:prstGeom prst="line">
              <a:avLst/>
            </a:prstGeom>
            <a:noFill/>
            <a:ln w="8890">
              <a:solidFill>
                <a:schemeClr val="tx1"/>
              </a:solidFill>
              <a:round/>
              <a:headEnd/>
              <a:tailEnd type="stealth" w="med" len="med"/>
            </a:ln>
          </p:spPr>
          <p:txBody>
            <a:bodyPr lIns="90000" tIns="46800" rIns="90000" bIns="46800" anchor="ctr"/>
            <a:lstStyle/>
            <a:p>
              <a:endParaRPr lang="en-US"/>
            </a:p>
          </p:txBody>
        </p:sp>
      </p:grpSp>
      <p:sp>
        <p:nvSpPr>
          <p:cNvPr id="369" name="Rectangle 138">
            <a:extLst>
              <a:ext uri="{FF2B5EF4-FFF2-40B4-BE49-F238E27FC236}">
                <a16:creationId xmlns:a16="http://schemas.microsoft.com/office/drawing/2014/main" id="{4ACDF34C-B4C7-A34E-9A25-7581C6E33D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6277" y="4553747"/>
            <a:ext cx="1672684" cy="19958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7780">
            <a:solidFill>
              <a:schemeClr val="tx1"/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algn="ctr">
              <a:buClrTx/>
              <a:buSzTx/>
              <a:buFontTx/>
              <a:buNone/>
            </a:pPr>
            <a:r>
              <a:rPr lang="en-US" sz="1000" dirty="0"/>
              <a:t>Gardener Scheduler</a:t>
            </a:r>
          </a:p>
        </p:txBody>
      </p:sp>
      <p:sp>
        <p:nvSpPr>
          <p:cNvPr id="382" name="Rectangle 138">
            <a:extLst>
              <a:ext uri="{FF2B5EF4-FFF2-40B4-BE49-F238E27FC236}">
                <a16:creationId xmlns:a16="http://schemas.microsoft.com/office/drawing/2014/main" id="{52BD6BEB-90C3-1141-BA81-5178087045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3879" y="4553747"/>
            <a:ext cx="214682" cy="19958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7780">
            <a:solidFill>
              <a:schemeClr val="tx1"/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algn="ctr">
              <a:buClrTx/>
              <a:buSzTx/>
              <a:buFontTx/>
              <a:buNone/>
            </a:pPr>
            <a:r>
              <a:rPr lang="en-US" sz="1000"/>
              <a:t>D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E8B281C-BECC-6348-B521-7E06027D3CE9}"/>
              </a:ext>
            </a:extLst>
          </p:cNvPr>
          <p:cNvCxnSpPr>
            <a:cxnSpLocks/>
          </p:cNvCxnSpPr>
          <p:nvPr/>
        </p:nvCxnSpPr>
        <p:spPr>
          <a:xfrm flipH="1">
            <a:off x="3543197" y="4331182"/>
            <a:ext cx="1690" cy="32269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EA258E9-5986-824E-AD86-5D4B94C1BC42}"/>
              </a:ext>
            </a:extLst>
          </p:cNvPr>
          <p:cNvCxnSpPr>
            <a:cxnSpLocks/>
            <a:stCxn id="382" idx="3"/>
          </p:cNvCxnSpPr>
          <p:nvPr/>
        </p:nvCxnSpPr>
        <p:spPr>
          <a:xfrm>
            <a:off x="3338561" y="4653540"/>
            <a:ext cx="20632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7" name="Elbow Connector 496">
            <a:extLst>
              <a:ext uri="{FF2B5EF4-FFF2-40B4-BE49-F238E27FC236}">
                <a16:creationId xmlns:a16="http://schemas.microsoft.com/office/drawing/2014/main" id="{C15F3D69-BFB6-F146-BD1E-64E82565E4D5}"/>
              </a:ext>
            </a:extLst>
          </p:cNvPr>
          <p:cNvCxnSpPr>
            <a:cxnSpLocks/>
          </p:cNvCxnSpPr>
          <p:nvPr/>
        </p:nvCxnSpPr>
        <p:spPr>
          <a:xfrm rot="5400000">
            <a:off x="6441509" y="3249297"/>
            <a:ext cx="495955" cy="268732"/>
          </a:xfrm>
          <a:prstGeom prst="bentConnector3">
            <a:avLst>
              <a:gd name="adj1" fmla="val 98804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9" name="Elbow Connector 498">
            <a:extLst>
              <a:ext uri="{FF2B5EF4-FFF2-40B4-BE49-F238E27FC236}">
                <a16:creationId xmlns:a16="http://schemas.microsoft.com/office/drawing/2014/main" id="{D36A568A-CC38-4F40-AD85-E5C02742EBDB}"/>
              </a:ext>
            </a:extLst>
          </p:cNvPr>
          <p:cNvCxnSpPr>
            <a:cxnSpLocks/>
          </p:cNvCxnSpPr>
          <p:nvPr/>
        </p:nvCxnSpPr>
        <p:spPr>
          <a:xfrm rot="10800000">
            <a:off x="5724209" y="3006932"/>
            <a:ext cx="1451318" cy="119904"/>
          </a:xfrm>
          <a:prstGeom prst="bentConnector3">
            <a:avLst>
              <a:gd name="adj1" fmla="val 100146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0" name="Group 499">
            <a:extLst>
              <a:ext uri="{FF2B5EF4-FFF2-40B4-BE49-F238E27FC236}">
                <a16:creationId xmlns:a16="http://schemas.microsoft.com/office/drawing/2014/main" id="{7D16D29E-95D8-9944-BE87-E533C5255AE9}"/>
              </a:ext>
            </a:extLst>
          </p:cNvPr>
          <p:cNvGrpSpPr/>
          <p:nvPr/>
        </p:nvGrpSpPr>
        <p:grpSpPr>
          <a:xfrm>
            <a:off x="6715786" y="3262206"/>
            <a:ext cx="151694" cy="171029"/>
            <a:chOff x="4873292" y="581648"/>
            <a:chExt cx="151694" cy="171029"/>
          </a:xfrm>
        </p:grpSpPr>
        <p:sp>
          <p:nvSpPr>
            <p:cNvPr id="524" name="Line 104">
              <a:extLst>
                <a:ext uri="{FF2B5EF4-FFF2-40B4-BE49-F238E27FC236}">
                  <a16:creationId xmlns:a16="http://schemas.microsoft.com/office/drawing/2014/main" id="{9B1142E6-5A6F-5E40-8B9C-545360BAF3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900280" y="581648"/>
              <a:ext cx="0" cy="40770"/>
            </a:xfrm>
            <a:prstGeom prst="line">
              <a:avLst/>
            </a:prstGeom>
            <a:noFill/>
            <a:ln w="8890">
              <a:solidFill>
                <a:schemeClr val="tx1"/>
              </a:solidFill>
              <a:round/>
              <a:headEnd/>
              <a:tailEnd type="stealth" w="med" len="med"/>
            </a:ln>
          </p:spPr>
          <p:txBody>
            <a:bodyPr lIns="90000" tIns="46800" rIns="90000" bIns="46800" anchor="ctr"/>
            <a:lstStyle/>
            <a:p>
              <a:endParaRPr lang="en-US"/>
            </a:p>
          </p:txBody>
        </p:sp>
        <p:sp>
          <p:nvSpPr>
            <p:cNvPr id="544" name="Text Box 105">
              <a:extLst>
                <a:ext uri="{FF2B5EF4-FFF2-40B4-BE49-F238E27FC236}">
                  <a16:creationId xmlns:a16="http://schemas.microsoft.com/office/drawing/2014/main" id="{0871A16D-53C9-D447-A33D-CDA28155DA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3292" y="630439"/>
              <a:ext cx="85725" cy="12223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l">
                <a:buClrTx/>
                <a:buSzTx/>
                <a:buFontTx/>
                <a:buNone/>
              </a:pPr>
              <a:r>
                <a:rPr lang="en-US" sz="800" b="1"/>
                <a:t>R</a:t>
              </a:r>
            </a:p>
          </p:txBody>
        </p:sp>
        <p:sp>
          <p:nvSpPr>
            <p:cNvPr id="545" name="AutoShape 76">
              <a:extLst>
                <a:ext uri="{FF2B5EF4-FFF2-40B4-BE49-F238E27FC236}">
                  <a16:creationId xmlns:a16="http://schemas.microsoft.com/office/drawing/2014/main" id="{ED3F4C64-1134-974B-A487-577437D1568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952986" y="623443"/>
              <a:ext cx="72000" cy="72000"/>
            </a:xfrm>
            <a:prstGeom prst="flowChartConnector">
              <a:avLst/>
            </a:prstGeom>
            <a:solidFill>
              <a:schemeClr val="bg1"/>
            </a:solidFill>
            <a:ln w="1778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endParaRPr lang="en-US"/>
            </a:p>
          </p:txBody>
        </p:sp>
      </p:grpSp>
      <p:cxnSp>
        <p:nvCxnSpPr>
          <p:cNvPr id="546" name="Elbow Connector 545">
            <a:extLst>
              <a:ext uri="{FF2B5EF4-FFF2-40B4-BE49-F238E27FC236}">
                <a16:creationId xmlns:a16="http://schemas.microsoft.com/office/drawing/2014/main" id="{E8200891-CBC0-5947-9D86-D2E52BEAD031}"/>
              </a:ext>
            </a:extLst>
          </p:cNvPr>
          <p:cNvCxnSpPr>
            <a:cxnSpLocks/>
            <a:endCxn id="494" idx="3"/>
          </p:cNvCxnSpPr>
          <p:nvPr/>
        </p:nvCxnSpPr>
        <p:spPr>
          <a:xfrm rot="5400000">
            <a:off x="6502632" y="3064595"/>
            <a:ext cx="1345390" cy="274439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2" name="Elbow Connector 551">
            <a:extLst>
              <a:ext uri="{FF2B5EF4-FFF2-40B4-BE49-F238E27FC236}">
                <a16:creationId xmlns:a16="http://schemas.microsoft.com/office/drawing/2014/main" id="{C198322A-4BE8-D544-A5DA-05889D7FF3D2}"/>
              </a:ext>
            </a:extLst>
          </p:cNvPr>
          <p:cNvCxnSpPr>
            <a:cxnSpLocks/>
            <a:stCxn id="601" idx="4"/>
          </p:cNvCxnSpPr>
          <p:nvPr/>
        </p:nvCxnSpPr>
        <p:spPr>
          <a:xfrm rot="10800000" flipV="1">
            <a:off x="2387649" y="1820003"/>
            <a:ext cx="2281385" cy="380546"/>
          </a:xfrm>
          <a:prstGeom prst="bentConnector3">
            <a:avLst>
              <a:gd name="adj1" fmla="val 99823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2" name="Elbow Connector 571">
            <a:extLst>
              <a:ext uri="{FF2B5EF4-FFF2-40B4-BE49-F238E27FC236}">
                <a16:creationId xmlns:a16="http://schemas.microsoft.com/office/drawing/2014/main" id="{AF7D955A-0896-1C40-A858-A7515CC30835}"/>
              </a:ext>
            </a:extLst>
          </p:cNvPr>
          <p:cNvCxnSpPr>
            <a:cxnSpLocks/>
            <a:stCxn id="601" idx="0"/>
          </p:cNvCxnSpPr>
          <p:nvPr/>
        </p:nvCxnSpPr>
        <p:spPr>
          <a:xfrm>
            <a:off x="4741033" y="1820003"/>
            <a:ext cx="2574176" cy="708182"/>
          </a:xfrm>
          <a:prstGeom prst="bentConnector3">
            <a:avLst>
              <a:gd name="adj1" fmla="val 53911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9" name="Group 598">
            <a:extLst>
              <a:ext uri="{FF2B5EF4-FFF2-40B4-BE49-F238E27FC236}">
                <a16:creationId xmlns:a16="http://schemas.microsoft.com/office/drawing/2014/main" id="{8418BCAD-0E62-704B-896C-725E7391F449}"/>
              </a:ext>
            </a:extLst>
          </p:cNvPr>
          <p:cNvGrpSpPr/>
          <p:nvPr/>
        </p:nvGrpSpPr>
        <p:grpSpPr>
          <a:xfrm>
            <a:off x="4628368" y="1666192"/>
            <a:ext cx="161055" cy="189811"/>
            <a:chOff x="6020928" y="505632"/>
            <a:chExt cx="161055" cy="189811"/>
          </a:xfrm>
        </p:grpSpPr>
        <p:sp>
          <p:nvSpPr>
            <p:cNvPr id="600" name="Text Box 105">
              <a:extLst>
                <a:ext uri="{FF2B5EF4-FFF2-40B4-BE49-F238E27FC236}">
                  <a16:creationId xmlns:a16="http://schemas.microsoft.com/office/drawing/2014/main" id="{06DEF28B-5D99-6E4C-B73A-83912EF07E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6258" y="505632"/>
              <a:ext cx="85725" cy="12223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l">
                <a:buClrTx/>
                <a:buSzTx/>
                <a:buFontTx/>
                <a:buNone/>
              </a:pPr>
              <a:r>
                <a:rPr lang="en-US" sz="800" b="1" dirty="0"/>
                <a:t>R</a:t>
              </a:r>
            </a:p>
          </p:txBody>
        </p:sp>
        <p:sp>
          <p:nvSpPr>
            <p:cNvPr id="601" name="AutoShape 76">
              <a:extLst>
                <a:ext uri="{FF2B5EF4-FFF2-40B4-BE49-F238E27FC236}">
                  <a16:creationId xmlns:a16="http://schemas.microsoft.com/office/drawing/2014/main" id="{CE807DAB-2CC9-CE4C-9BC2-5A7E3D97368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6061593" y="623443"/>
              <a:ext cx="72000" cy="72000"/>
            </a:xfrm>
            <a:prstGeom prst="flowChartConnector">
              <a:avLst/>
            </a:prstGeom>
            <a:solidFill>
              <a:schemeClr val="bg1"/>
            </a:solidFill>
            <a:ln w="1778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endParaRPr lang="en-US"/>
            </a:p>
          </p:txBody>
        </p:sp>
        <p:sp>
          <p:nvSpPr>
            <p:cNvPr id="602" name="Line 104">
              <a:extLst>
                <a:ext uri="{FF2B5EF4-FFF2-40B4-BE49-F238E27FC236}">
                  <a16:creationId xmlns:a16="http://schemas.microsoft.com/office/drawing/2014/main" id="{DF76BA47-DEB8-9845-B321-134532C72A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020928" y="568445"/>
              <a:ext cx="44226" cy="0"/>
            </a:xfrm>
            <a:prstGeom prst="line">
              <a:avLst/>
            </a:prstGeom>
            <a:noFill/>
            <a:ln w="8890">
              <a:solidFill>
                <a:schemeClr val="tx1"/>
              </a:solidFill>
              <a:round/>
              <a:headEnd/>
              <a:tailEnd type="stealth" w="med" len="med"/>
            </a:ln>
          </p:spPr>
          <p:txBody>
            <a:bodyPr lIns="90000" tIns="46800" rIns="90000" bIns="46800" anchor="ctr"/>
            <a:lstStyle/>
            <a:p>
              <a:endParaRPr lang="en-US"/>
            </a:p>
          </p:txBody>
        </p:sp>
      </p:grpSp>
      <p:grpSp>
        <p:nvGrpSpPr>
          <p:cNvPr id="347" name="Group 346">
            <a:extLst>
              <a:ext uri="{FF2B5EF4-FFF2-40B4-BE49-F238E27FC236}">
                <a16:creationId xmlns:a16="http://schemas.microsoft.com/office/drawing/2014/main" id="{A5074573-C36F-DC41-8830-88DF1E613D90}"/>
              </a:ext>
            </a:extLst>
          </p:cNvPr>
          <p:cNvGrpSpPr/>
          <p:nvPr/>
        </p:nvGrpSpPr>
        <p:grpSpPr>
          <a:xfrm>
            <a:off x="7527636" y="5204629"/>
            <a:ext cx="180269" cy="171451"/>
            <a:chOff x="5145186" y="193240"/>
            <a:chExt cx="180269" cy="171451"/>
          </a:xfrm>
        </p:grpSpPr>
        <p:sp>
          <p:nvSpPr>
            <p:cNvPr id="367" name="Line 104">
              <a:extLst>
                <a:ext uri="{FF2B5EF4-FFF2-40B4-BE49-F238E27FC236}">
                  <a16:creationId xmlns:a16="http://schemas.microsoft.com/office/drawing/2014/main" id="{A4A8681C-0C23-5148-BBFA-D255B64614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66717" y="329947"/>
              <a:ext cx="0" cy="34744"/>
            </a:xfrm>
            <a:prstGeom prst="line">
              <a:avLst/>
            </a:prstGeom>
            <a:noFill/>
            <a:ln w="8890">
              <a:solidFill>
                <a:schemeClr val="tx1"/>
              </a:solidFill>
              <a:round/>
              <a:headEnd/>
              <a:tailEnd type="stealth" w="med" len="med"/>
            </a:ln>
          </p:spPr>
          <p:txBody>
            <a:bodyPr lIns="90000" tIns="46800" rIns="90000" bIns="46800" anchor="ctr"/>
            <a:lstStyle/>
            <a:p>
              <a:endParaRPr lang="en-US"/>
            </a:p>
          </p:txBody>
        </p:sp>
        <p:sp>
          <p:nvSpPr>
            <p:cNvPr id="386" name="Text Box 105">
              <a:extLst>
                <a:ext uri="{FF2B5EF4-FFF2-40B4-BE49-F238E27FC236}">
                  <a16:creationId xmlns:a16="http://schemas.microsoft.com/office/drawing/2014/main" id="{1013438D-47E5-D846-AEB7-4D980EB670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5239730" y="193240"/>
              <a:ext cx="85725" cy="12223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l">
                <a:buClrTx/>
                <a:buSzTx/>
                <a:buFontTx/>
                <a:buNone/>
              </a:pPr>
              <a:r>
                <a:rPr lang="en-US" sz="800" b="1" dirty="0"/>
                <a:t>R</a:t>
              </a:r>
            </a:p>
          </p:txBody>
        </p:sp>
        <p:sp>
          <p:nvSpPr>
            <p:cNvPr id="387" name="AutoShape 76">
              <a:extLst>
                <a:ext uri="{FF2B5EF4-FFF2-40B4-BE49-F238E27FC236}">
                  <a16:creationId xmlns:a16="http://schemas.microsoft.com/office/drawing/2014/main" id="{BB462409-E174-E640-83B9-5E1357CED3B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H="1">
              <a:off x="5145186" y="257947"/>
              <a:ext cx="72000" cy="72000"/>
            </a:xfrm>
            <a:prstGeom prst="flowChartConnector">
              <a:avLst/>
            </a:prstGeom>
            <a:solidFill>
              <a:schemeClr val="bg1"/>
            </a:solidFill>
            <a:ln w="1778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endParaRPr lang="en-US"/>
            </a:p>
          </p:txBody>
        </p:sp>
      </p:grpSp>
      <p:grpSp>
        <p:nvGrpSpPr>
          <p:cNvPr id="388" name="Group 387">
            <a:extLst>
              <a:ext uri="{FF2B5EF4-FFF2-40B4-BE49-F238E27FC236}">
                <a16:creationId xmlns:a16="http://schemas.microsoft.com/office/drawing/2014/main" id="{894C0FC5-EC58-C64C-AD34-49FE21BCCFE0}"/>
              </a:ext>
            </a:extLst>
          </p:cNvPr>
          <p:cNvGrpSpPr/>
          <p:nvPr/>
        </p:nvGrpSpPr>
        <p:grpSpPr>
          <a:xfrm>
            <a:off x="2705684" y="1283862"/>
            <a:ext cx="151694" cy="171451"/>
            <a:chOff x="4873292" y="193240"/>
            <a:chExt cx="151694" cy="171451"/>
          </a:xfrm>
        </p:grpSpPr>
        <p:sp>
          <p:nvSpPr>
            <p:cNvPr id="389" name="Line 104">
              <a:extLst>
                <a:ext uri="{FF2B5EF4-FFF2-40B4-BE49-F238E27FC236}">
                  <a16:creationId xmlns:a16="http://schemas.microsoft.com/office/drawing/2014/main" id="{0FE3CA32-9057-494D-AEAD-642D1FA324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00280" y="329947"/>
              <a:ext cx="0" cy="34744"/>
            </a:xfrm>
            <a:prstGeom prst="line">
              <a:avLst/>
            </a:prstGeom>
            <a:noFill/>
            <a:ln w="8890">
              <a:solidFill>
                <a:schemeClr val="tx1"/>
              </a:solidFill>
              <a:round/>
              <a:headEnd/>
              <a:tailEnd type="stealth" w="med" len="med"/>
            </a:ln>
          </p:spPr>
          <p:txBody>
            <a:bodyPr lIns="90000" tIns="46800" rIns="90000" bIns="46800" anchor="ctr"/>
            <a:lstStyle/>
            <a:p>
              <a:endParaRPr lang="en-US"/>
            </a:p>
          </p:txBody>
        </p:sp>
        <p:sp>
          <p:nvSpPr>
            <p:cNvPr id="390" name="Text Box 105">
              <a:extLst>
                <a:ext uri="{FF2B5EF4-FFF2-40B4-BE49-F238E27FC236}">
                  <a16:creationId xmlns:a16="http://schemas.microsoft.com/office/drawing/2014/main" id="{B6A614DE-738F-A545-8D21-98EA7230E4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3292" y="193240"/>
              <a:ext cx="85725" cy="12223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l">
                <a:buClrTx/>
                <a:buSzTx/>
                <a:buFontTx/>
                <a:buNone/>
              </a:pPr>
              <a:r>
                <a:rPr lang="en-US" sz="800" b="1"/>
                <a:t>R</a:t>
              </a:r>
            </a:p>
          </p:txBody>
        </p:sp>
        <p:sp>
          <p:nvSpPr>
            <p:cNvPr id="394" name="AutoShape 76">
              <a:extLst>
                <a:ext uri="{FF2B5EF4-FFF2-40B4-BE49-F238E27FC236}">
                  <a16:creationId xmlns:a16="http://schemas.microsoft.com/office/drawing/2014/main" id="{99DC2E47-FCB1-D14C-BB47-D233FC6040E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952986" y="257947"/>
              <a:ext cx="72000" cy="72000"/>
            </a:xfrm>
            <a:prstGeom prst="flowChartConnector">
              <a:avLst/>
            </a:prstGeom>
            <a:solidFill>
              <a:schemeClr val="bg1"/>
            </a:solidFill>
            <a:ln w="1778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endParaRPr lang="en-US"/>
            </a:p>
          </p:txBody>
        </p:sp>
      </p:grp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03B0DFF9-23A3-8D46-BF75-C62CA1FC0538}"/>
              </a:ext>
            </a:extLst>
          </p:cNvPr>
          <p:cNvCxnSpPr/>
          <p:nvPr/>
        </p:nvCxnSpPr>
        <p:spPr>
          <a:xfrm>
            <a:off x="6897527" y="1474995"/>
            <a:ext cx="0" cy="73776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D0DBC8D4-6B12-B948-9836-6D4C38EC5CC7}"/>
              </a:ext>
            </a:extLst>
          </p:cNvPr>
          <p:cNvCxnSpPr>
            <a:cxnSpLocks/>
          </p:cNvCxnSpPr>
          <p:nvPr/>
        </p:nvCxnSpPr>
        <p:spPr>
          <a:xfrm>
            <a:off x="2812755" y="1480183"/>
            <a:ext cx="409218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8" name="L-Shape 207">
            <a:extLst>
              <a:ext uri="{FF2B5EF4-FFF2-40B4-BE49-F238E27FC236}">
                <a16:creationId xmlns:a16="http://schemas.microsoft.com/office/drawing/2014/main" id="{CA6E06D0-DC36-564C-81FA-7DA6B13715B6}"/>
              </a:ext>
            </a:extLst>
          </p:cNvPr>
          <p:cNvSpPr/>
          <p:nvPr/>
        </p:nvSpPr>
        <p:spPr bwMode="gray">
          <a:xfrm rot="5400000">
            <a:off x="4512856" y="3728317"/>
            <a:ext cx="2732233" cy="2190512"/>
          </a:xfrm>
          <a:prstGeom prst="corner">
            <a:avLst>
              <a:gd name="adj1" fmla="val 10919"/>
              <a:gd name="adj2" fmla="val 11546"/>
            </a:avLst>
          </a:prstGeom>
          <a:solidFill>
            <a:schemeClr val="bg1"/>
          </a:solidFill>
          <a:ln w="17780">
            <a:solidFill>
              <a:schemeClr val="tx1"/>
            </a:solidFill>
            <a:miter lim="800000"/>
            <a:headEnd/>
            <a:tailEnd/>
          </a:ln>
        </p:spPr>
        <p:txBody>
          <a:bodyPr vert="vert270" lIns="36000" tIns="36000" rIns="36000" bIns="36000" anchor="t"/>
          <a:lstStyle/>
          <a:p>
            <a:pPr algn="ctr">
              <a:buClrTx/>
              <a:buSzTx/>
              <a:buFontTx/>
              <a:buNone/>
            </a:pPr>
            <a:endParaRPr lang="en-US" sz="1200"/>
          </a:p>
        </p:txBody>
      </p:sp>
      <p:sp>
        <p:nvSpPr>
          <p:cNvPr id="493" name="Rectangle 138">
            <a:extLst>
              <a:ext uri="{FF2B5EF4-FFF2-40B4-BE49-F238E27FC236}">
                <a16:creationId xmlns:a16="http://schemas.microsoft.com/office/drawing/2014/main" id="{5F6D4C60-65CD-E84A-A015-01D5993052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5823" y="3774716"/>
            <a:ext cx="1672684" cy="19958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7780">
            <a:solidFill>
              <a:schemeClr val="tx1"/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algn="ctr">
              <a:buClrTx/>
              <a:buSzTx/>
              <a:buFontTx/>
              <a:buNone/>
            </a:pPr>
            <a:r>
              <a:rPr lang="en-US" sz="1000" dirty="0" err="1"/>
              <a:t>Gardenlet</a:t>
            </a:r>
            <a:endParaRPr lang="en-US" sz="1000" dirty="0"/>
          </a:p>
        </p:txBody>
      </p:sp>
      <p:sp>
        <p:nvSpPr>
          <p:cNvPr id="494" name="Rectangle 138">
            <a:extLst>
              <a:ext uri="{FF2B5EF4-FFF2-40B4-BE49-F238E27FC236}">
                <a16:creationId xmlns:a16="http://schemas.microsoft.com/office/drawing/2014/main" id="{B23081D2-0E36-1A46-AD94-8B6D826FDC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3425" y="3774716"/>
            <a:ext cx="214682" cy="19958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7780">
            <a:solidFill>
              <a:schemeClr val="tx1"/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algn="ctr">
              <a:buClrTx/>
              <a:buSzTx/>
              <a:buFontTx/>
              <a:buNone/>
            </a:pPr>
            <a:r>
              <a:rPr lang="en-US" sz="1000" dirty="0"/>
              <a:t>D</a:t>
            </a:r>
          </a:p>
        </p:txBody>
      </p:sp>
      <p:sp>
        <p:nvSpPr>
          <p:cNvPr id="516" name="Text Box 139">
            <a:extLst>
              <a:ext uri="{FF2B5EF4-FFF2-40B4-BE49-F238E27FC236}">
                <a16:creationId xmlns:a16="http://schemas.microsoft.com/office/drawing/2014/main" id="{9724EE30-5AF0-7E4B-8B89-63E8A590CE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6468" y="5890287"/>
            <a:ext cx="424463" cy="3715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sz="1800" b="1" dirty="0">
                <a:latin typeface="Times New Roman" pitchFamily="18" charset="0"/>
              </a:rPr>
              <a:t>...</a:t>
            </a:r>
          </a:p>
        </p:txBody>
      </p:sp>
      <p:sp>
        <p:nvSpPr>
          <p:cNvPr id="517" name="TextBox 516">
            <a:extLst>
              <a:ext uri="{FF2B5EF4-FFF2-40B4-BE49-F238E27FC236}">
                <a16:creationId xmlns:a16="http://schemas.microsoft.com/office/drawing/2014/main" id="{B1371474-3A1B-A74B-8D80-4CC1822253D8}"/>
              </a:ext>
            </a:extLst>
          </p:cNvPr>
          <p:cNvSpPr txBox="1"/>
          <p:nvPr/>
        </p:nvSpPr>
        <p:spPr>
          <a:xfrm>
            <a:off x="4819870" y="3502636"/>
            <a:ext cx="1878383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de-DE" sz="1000" dirty="0" err="1"/>
              <a:t>Kubelet</a:t>
            </a:r>
            <a:r>
              <a:rPr lang="de-DE" sz="1000" dirty="0"/>
              <a:t> + Container </a:t>
            </a:r>
            <a:r>
              <a:rPr lang="de-DE" sz="1000" dirty="0" err="1"/>
              <a:t>Runtime</a:t>
            </a:r>
            <a:endParaRPr lang="en-US" sz="1000" dirty="0"/>
          </a:p>
        </p:txBody>
      </p:sp>
      <p:sp>
        <p:nvSpPr>
          <p:cNvPr id="518" name="L-Shape 207">
            <a:extLst>
              <a:ext uri="{FF2B5EF4-FFF2-40B4-BE49-F238E27FC236}">
                <a16:creationId xmlns:a16="http://schemas.microsoft.com/office/drawing/2014/main" id="{C9C41427-D1C3-B642-8993-98AE22F76337}"/>
              </a:ext>
            </a:extLst>
          </p:cNvPr>
          <p:cNvSpPr/>
          <p:nvPr/>
        </p:nvSpPr>
        <p:spPr bwMode="gray">
          <a:xfrm rot="5400000">
            <a:off x="8388570" y="3728318"/>
            <a:ext cx="2732233" cy="2190512"/>
          </a:xfrm>
          <a:prstGeom prst="corner">
            <a:avLst>
              <a:gd name="adj1" fmla="val 10919"/>
              <a:gd name="adj2" fmla="val 11546"/>
            </a:avLst>
          </a:prstGeom>
          <a:solidFill>
            <a:schemeClr val="bg1"/>
          </a:solidFill>
          <a:ln w="17780">
            <a:solidFill>
              <a:schemeClr val="tx1"/>
            </a:solidFill>
            <a:miter lim="800000"/>
            <a:headEnd/>
            <a:tailEnd/>
          </a:ln>
        </p:spPr>
        <p:txBody>
          <a:bodyPr vert="vert270" lIns="36000" tIns="36000" rIns="36000" bIns="36000" anchor="t"/>
          <a:lstStyle/>
          <a:p>
            <a:pPr algn="ctr">
              <a:buClrTx/>
              <a:buSzTx/>
              <a:buFontTx/>
              <a:buNone/>
            </a:pPr>
            <a:endParaRPr lang="en-US" sz="1200"/>
          </a:p>
        </p:txBody>
      </p:sp>
      <p:sp>
        <p:nvSpPr>
          <p:cNvPr id="519" name="TextBox 518">
            <a:extLst>
              <a:ext uri="{FF2B5EF4-FFF2-40B4-BE49-F238E27FC236}">
                <a16:creationId xmlns:a16="http://schemas.microsoft.com/office/drawing/2014/main" id="{B738B0AA-A5D2-E145-8B24-ABFB9FC927D8}"/>
              </a:ext>
            </a:extLst>
          </p:cNvPr>
          <p:cNvSpPr txBox="1"/>
          <p:nvPr/>
        </p:nvSpPr>
        <p:spPr>
          <a:xfrm>
            <a:off x="8695584" y="3502637"/>
            <a:ext cx="1878383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de-DE" sz="1000" dirty="0" err="1"/>
              <a:t>Kubelet</a:t>
            </a:r>
            <a:r>
              <a:rPr lang="de-DE" sz="1000" dirty="0"/>
              <a:t> + Container </a:t>
            </a:r>
            <a:r>
              <a:rPr lang="de-DE" sz="1000" dirty="0" err="1"/>
              <a:t>Runtime</a:t>
            </a:r>
            <a:endParaRPr lang="en-US" sz="1000" dirty="0"/>
          </a:p>
        </p:txBody>
      </p:sp>
      <p:grpSp>
        <p:nvGrpSpPr>
          <p:cNvPr id="447" name="Group 133"/>
          <p:cNvGrpSpPr>
            <a:grpSpLocks/>
          </p:cNvGrpSpPr>
          <p:nvPr/>
        </p:nvGrpSpPr>
        <p:grpSpPr bwMode="auto">
          <a:xfrm rot="5400000">
            <a:off x="6622255" y="4101672"/>
            <a:ext cx="158400" cy="162000"/>
            <a:chOff x="998" y="3624"/>
            <a:chExt cx="271" cy="271"/>
          </a:xfrm>
        </p:grpSpPr>
        <p:sp>
          <p:nvSpPr>
            <p:cNvPr id="448" name="Freeform 134"/>
            <p:cNvSpPr>
              <a:spLocks/>
            </p:cNvSpPr>
            <p:nvPr/>
          </p:nvSpPr>
          <p:spPr bwMode="auto">
            <a:xfrm>
              <a:off x="1043" y="3624"/>
              <a:ext cx="46" cy="272"/>
            </a:xfrm>
            <a:custGeom>
              <a:avLst/>
              <a:gdLst>
                <a:gd name="T0" fmla="*/ 3 w 201"/>
                <a:gd name="T1" fmla="*/ 0 h 1201"/>
                <a:gd name="T2" fmla="*/ 3 w 201"/>
                <a:gd name="T3" fmla="*/ 14 h 1201"/>
                <a:gd name="T4" fmla="*/ 0 60000 65536"/>
                <a:gd name="T5" fmla="*/ 0 60000 65536"/>
                <a:gd name="T6" fmla="*/ 0 w 201"/>
                <a:gd name="T7" fmla="*/ 0 h 1201"/>
                <a:gd name="T8" fmla="*/ 201 w 201"/>
                <a:gd name="T9" fmla="*/ 1201 h 120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01" h="1201">
                  <a:moveTo>
                    <a:pt x="200" y="0"/>
                  </a:moveTo>
                  <a:cubicBezTo>
                    <a:pt x="0" y="400"/>
                    <a:pt x="0" y="800"/>
                    <a:pt x="200" y="1200"/>
                  </a:cubicBezTo>
                </a:path>
              </a:pathLst>
            </a:custGeom>
            <a:noFill/>
            <a:ln w="72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9" name="Freeform 135"/>
            <p:cNvSpPr>
              <a:spLocks/>
            </p:cNvSpPr>
            <p:nvPr/>
          </p:nvSpPr>
          <p:spPr bwMode="auto">
            <a:xfrm>
              <a:off x="1179" y="3624"/>
              <a:ext cx="46" cy="272"/>
            </a:xfrm>
            <a:custGeom>
              <a:avLst/>
              <a:gdLst>
                <a:gd name="T0" fmla="*/ 0 w 201"/>
                <a:gd name="T1" fmla="*/ 14 h 1201"/>
                <a:gd name="T2" fmla="*/ 0 w 201"/>
                <a:gd name="T3" fmla="*/ 0 h 1201"/>
                <a:gd name="T4" fmla="*/ 0 60000 65536"/>
                <a:gd name="T5" fmla="*/ 0 60000 65536"/>
                <a:gd name="T6" fmla="*/ 0 w 201"/>
                <a:gd name="T7" fmla="*/ 0 h 1201"/>
                <a:gd name="T8" fmla="*/ 201 w 201"/>
                <a:gd name="T9" fmla="*/ 1201 h 120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01" h="1201">
                  <a:moveTo>
                    <a:pt x="0" y="1200"/>
                  </a:moveTo>
                  <a:cubicBezTo>
                    <a:pt x="200" y="800"/>
                    <a:pt x="200" y="400"/>
                    <a:pt x="0" y="0"/>
                  </a:cubicBezTo>
                </a:path>
              </a:pathLst>
            </a:custGeom>
            <a:noFill/>
            <a:ln w="72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0" name="AutoShape 136"/>
            <p:cNvSpPr>
              <a:spLocks noChangeArrowheads="1"/>
            </p:cNvSpPr>
            <p:nvPr/>
          </p:nvSpPr>
          <p:spPr bwMode="auto">
            <a:xfrm>
              <a:off x="998" y="3624"/>
              <a:ext cx="272" cy="272"/>
            </a:xfrm>
            <a:prstGeom prst="roundRect">
              <a:avLst>
                <a:gd name="adj" fmla="val 366"/>
              </a:avLst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97" name="Group 396">
            <a:extLst>
              <a:ext uri="{FF2B5EF4-FFF2-40B4-BE49-F238E27FC236}">
                <a16:creationId xmlns:a16="http://schemas.microsoft.com/office/drawing/2014/main" id="{0DA6ADC3-5CAD-6843-AFA2-5A12F5EB4E35}"/>
              </a:ext>
            </a:extLst>
          </p:cNvPr>
          <p:cNvGrpSpPr/>
          <p:nvPr/>
        </p:nvGrpSpPr>
        <p:grpSpPr>
          <a:xfrm>
            <a:off x="8187968" y="2745366"/>
            <a:ext cx="151694" cy="171029"/>
            <a:chOff x="4873292" y="581648"/>
            <a:chExt cx="151694" cy="171029"/>
          </a:xfrm>
        </p:grpSpPr>
        <p:sp>
          <p:nvSpPr>
            <p:cNvPr id="398" name="Line 104">
              <a:extLst>
                <a:ext uri="{FF2B5EF4-FFF2-40B4-BE49-F238E27FC236}">
                  <a16:creationId xmlns:a16="http://schemas.microsoft.com/office/drawing/2014/main" id="{5E97A2E4-AEB1-5945-B42C-2F8FD2246C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900280" y="581648"/>
              <a:ext cx="0" cy="40770"/>
            </a:xfrm>
            <a:prstGeom prst="line">
              <a:avLst/>
            </a:prstGeom>
            <a:noFill/>
            <a:ln w="8890">
              <a:solidFill>
                <a:schemeClr val="tx1"/>
              </a:solidFill>
              <a:round/>
              <a:headEnd/>
              <a:tailEnd type="stealth" w="med" len="med"/>
            </a:ln>
          </p:spPr>
          <p:txBody>
            <a:bodyPr lIns="90000" tIns="46800" rIns="90000" bIns="46800" anchor="ctr"/>
            <a:lstStyle/>
            <a:p>
              <a:endParaRPr lang="en-US"/>
            </a:p>
          </p:txBody>
        </p:sp>
        <p:sp>
          <p:nvSpPr>
            <p:cNvPr id="402" name="Text Box 105">
              <a:extLst>
                <a:ext uri="{FF2B5EF4-FFF2-40B4-BE49-F238E27FC236}">
                  <a16:creationId xmlns:a16="http://schemas.microsoft.com/office/drawing/2014/main" id="{1FDCF607-B828-A440-ACC0-1D11AE1CF2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3292" y="630439"/>
              <a:ext cx="85725" cy="12223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l">
                <a:buClrTx/>
                <a:buSzTx/>
                <a:buFontTx/>
                <a:buNone/>
              </a:pPr>
              <a:r>
                <a:rPr lang="en-US" sz="800" b="1"/>
                <a:t>R</a:t>
              </a:r>
            </a:p>
          </p:txBody>
        </p:sp>
        <p:sp>
          <p:nvSpPr>
            <p:cNvPr id="414" name="AutoShape 76">
              <a:extLst>
                <a:ext uri="{FF2B5EF4-FFF2-40B4-BE49-F238E27FC236}">
                  <a16:creationId xmlns:a16="http://schemas.microsoft.com/office/drawing/2014/main" id="{38933A99-55B5-F949-872F-37EE4CFC883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952986" y="623443"/>
              <a:ext cx="72000" cy="72000"/>
            </a:xfrm>
            <a:prstGeom prst="flowChartConnector">
              <a:avLst/>
            </a:prstGeom>
            <a:solidFill>
              <a:schemeClr val="bg1"/>
            </a:solidFill>
            <a:ln w="1778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79E9E9B-62BE-AB41-AA47-0371E1EE25C4}"/>
              </a:ext>
            </a:extLst>
          </p:cNvPr>
          <p:cNvGrpSpPr/>
          <p:nvPr/>
        </p:nvGrpSpPr>
        <p:grpSpPr>
          <a:xfrm>
            <a:off x="5149552" y="4776480"/>
            <a:ext cx="1465200" cy="162000"/>
            <a:chOff x="5418000" y="4816800"/>
            <a:chExt cx="1465200" cy="162000"/>
          </a:xfrm>
        </p:grpSpPr>
        <p:sp>
          <p:nvSpPr>
            <p:cNvPr id="341" name="Rectangle 138">
              <a:extLst>
                <a:ext uri="{FF2B5EF4-FFF2-40B4-BE49-F238E27FC236}">
                  <a16:creationId xmlns:a16="http://schemas.microsoft.com/office/drawing/2014/main" id="{F8A0210D-7F0F-434A-B5C9-18617517BF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67200" y="4816800"/>
              <a:ext cx="216000" cy="162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778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algn="ctr">
                <a:buClrTx/>
                <a:buSzTx/>
                <a:buFontTx/>
                <a:buNone/>
              </a:pPr>
              <a:r>
                <a:rPr lang="en-US" sz="1000" dirty="0"/>
                <a:t>D</a:t>
              </a:r>
            </a:p>
          </p:txBody>
        </p:sp>
        <p:sp>
          <p:nvSpPr>
            <p:cNvPr id="344" name="Rectangle 138">
              <a:extLst>
                <a:ext uri="{FF2B5EF4-FFF2-40B4-BE49-F238E27FC236}">
                  <a16:creationId xmlns:a16="http://schemas.microsoft.com/office/drawing/2014/main" id="{31BDEE7F-63C0-BC4D-8ABC-993D1A2992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8000" y="4816800"/>
              <a:ext cx="720000" cy="162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778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algn="ctr">
                <a:buClrTx/>
                <a:buSzTx/>
                <a:buFontTx/>
                <a:buNone/>
              </a:pPr>
              <a:r>
                <a:rPr lang="en-US" sz="1000" dirty="0"/>
                <a:t>VPN Server</a:t>
              </a:r>
            </a:p>
          </p:txBody>
        </p:sp>
        <p:sp>
          <p:nvSpPr>
            <p:cNvPr id="346" name="Rectangle 138">
              <a:extLst>
                <a:ext uri="{FF2B5EF4-FFF2-40B4-BE49-F238E27FC236}">
                  <a16:creationId xmlns:a16="http://schemas.microsoft.com/office/drawing/2014/main" id="{697EC147-0DF8-D442-A592-3A509F2E64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7200" y="4816800"/>
              <a:ext cx="540000" cy="162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778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algn="ctr">
                <a:buClrTx/>
                <a:buSzTx/>
                <a:buFontTx/>
                <a:buNone/>
              </a:pPr>
              <a:r>
                <a:rPr lang="en-US" sz="1000" dirty="0"/>
                <a:t>Envoy</a:t>
              </a:r>
            </a:p>
          </p:txBody>
        </p:sp>
      </p:grpSp>
      <p:grpSp>
        <p:nvGrpSpPr>
          <p:cNvPr id="455" name="Group 454">
            <a:extLst>
              <a:ext uri="{FF2B5EF4-FFF2-40B4-BE49-F238E27FC236}">
                <a16:creationId xmlns:a16="http://schemas.microsoft.com/office/drawing/2014/main" id="{A3CF12C1-6752-2C4D-B436-49E5E9B8BD7E}"/>
              </a:ext>
            </a:extLst>
          </p:cNvPr>
          <p:cNvGrpSpPr/>
          <p:nvPr/>
        </p:nvGrpSpPr>
        <p:grpSpPr>
          <a:xfrm>
            <a:off x="10684443" y="3723124"/>
            <a:ext cx="133802" cy="188751"/>
            <a:chOff x="6043023" y="141196"/>
            <a:chExt cx="133802" cy="188751"/>
          </a:xfrm>
        </p:grpSpPr>
        <p:sp>
          <p:nvSpPr>
            <p:cNvPr id="456" name="Text Box 105">
              <a:extLst>
                <a:ext uri="{FF2B5EF4-FFF2-40B4-BE49-F238E27FC236}">
                  <a16:creationId xmlns:a16="http://schemas.microsoft.com/office/drawing/2014/main" id="{6EBA4E2D-2304-7446-A41A-0A3D746C04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43023" y="141196"/>
              <a:ext cx="85725" cy="12223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l">
                <a:buClrTx/>
                <a:buSzTx/>
                <a:buFontTx/>
                <a:buNone/>
              </a:pPr>
              <a:r>
                <a:rPr lang="en-US" sz="800" b="1" dirty="0"/>
                <a:t>C</a:t>
              </a:r>
            </a:p>
          </p:txBody>
        </p:sp>
        <p:sp>
          <p:nvSpPr>
            <p:cNvPr id="457" name="AutoShape 76">
              <a:extLst>
                <a:ext uri="{FF2B5EF4-FFF2-40B4-BE49-F238E27FC236}">
                  <a16:creationId xmlns:a16="http://schemas.microsoft.com/office/drawing/2014/main" id="{B452EA9B-2556-9844-9BE2-E9AD076A483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6061593" y="257947"/>
              <a:ext cx="72000" cy="72000"/>
            </a:xfrm>
            <a:prstGeom prst="flowChartConnector">
              <a:avLst/>
            </a:prstGeom>
            <a:solidFill>
              <a:schemeClr val="bg1"/>
            </a:solidFill>
            <a:ln w="1778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endParaRPr lang="en-US"/>
            </a:p>
          </p:txBody>
        </p:sp>
        <p:sp>
          <p:nvSpPr>
            <p:cNvPr id="462" name="Line 104">
              <a:extLst>
                <a:ext uri="{FF2B5EF4-FFF2-40B4-BE49-F238E27FC236}">
                  <a16:creationId xmlns:a16="http://schemas.microsoft.com/office/drawing/2014/main" id="{8F6916F3-F5BC-F749-B860-22E5BF4F8A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132599" y="203644"/>
              <a:ext cx="44226" cy="0"/>
            </a:xfrm>
            <a:prstGeom prst="line">
              <a:avLst/>
            </a:prstGeom>
            <a:noFill/>
            <a:ln w="8890">
              <a:solidFill>
                <a:schemeClr val="tx1"/>
              </a:solidFill>
              <a:round/>
              <a:headEnd/>
              <a:tailEnd type="stealth" w="med" len="med"/>
            </a:ln>
          </p:spPr>
          <p:txBody>
            <a:bodyPr lIns="90000" tIns="46800" rIns="90000" bIns="46800" anchor="ctr"/>
            <a:lstStyle/>
            <a:p>
              <a:endParaRPr lang="en-US"/>
            </a:p>
          </p:txBody>
        </p:sp>
      </p:grpSp>
      <p:sp>
        <p:nvSpPr>
          <p:cNvPr id="426" name="Rectangle 138"/>
          <p:cNvSpPr>
            <a:spLocks noChangeArrowheads="1"/>
          </p:cNvSpPr>
          <p:nvPr/>
        </p:nvSpPr>
        <p:spPr bwMode="auto">
          <a:xfrm>
            <a:off x="5145952" y="4341600"/>
            <a:ext cx="1260000" cy="162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7780">
            <a:solidFill>
              <a:schemeClr val="tx1"/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algn="ctr">
              <a:buClrTx/>
              <a:buSzTx/>
              <a:buFontTx/>
              <a:buNone/>
            </a:pPr>
            <a:r>
              <a:rPr lang="en-US" sz="1000" dirty="0"/>
              <a:t>ETCD Events</a:t>
            </a:r>
          </a:p>
        </p:txBody>
      </p:sp>
      <p:sp>
        <p:nvSpPr>
          <p:cNvPr id="463" name="Rectangle 138">
            <a:extLst>
              <a:ext uri="{FF2B5EF4-FFF2-40B4-BE49-F238E27FC236}">
                <a16:creationId xmlns:a16="http://schemas.microsoft.com/office/drawing/2014/main" id="{2BF665EB-6884-4842-80B7-A4D07D1B63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8752" y="4341600"/>
            <a:ext cx="216000" cy="162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7780">
            <a:solidFill>
              <a:schemeClr val="tx1"/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algn="ctr">
              <a:buClrTx/>
              <a:buSzTx/>
              <a:buFontTx/>
              <a:buNone/>
            </a:pPr>
            <a:r>
              <a:rPr lang="en-US" sz="1000" dirty="0"/>
              <a:t>SS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6B6342B-E386-4640-A1A7-85A1E04FBFEF}"/>
              </a:ext>
            </a:extLst>
          </p:cNvPr>
          <p:cNvGrpSpPr/>
          <p:nvPr/>
        </p:nvGrpSpPr>
        <p:grpSpPr>
          <a:xfrm>
            <a:off x="5145952" y="5785200"/>
            <a:ext cx="1468800" cy="162000"/>
            <a:chOff x="5414400" y="5785200"/>
            <a:chExt cx="1468800" cy="162000"/>
          </a:xfrm>
        </p:grpSpPr>
        <p:sp>
          <p:nvSpPr>
            <p:cNvPr id="469" name="Rectangle 138"/>
            <p:cNvSpPr>
              <a:spLocks noChangeArrowheads="1"/>
            </p:cNvSpPr>
            <p:nvPr/>
          </p:nvSpPr>
          <p:spPr bwMode="auto">
            <a:xfrm>
              <a:off x="5414400" y="5785200"/>
              <a:ext cx="1260000" cy="1620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778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algn="ctr">
                <a:buClrTx/>
                <a:buSzTx/>
                <a:buFontTx/>
                <a:buNone/>
              </a:pPr>
              <a:r>
                <a:rPr lang="en-US" sz="1000" dirty="0"/>
                <a:t>Monitoring</a:t>
              </a:r>
            </a:p>
          </p:txBody>
        </p:sp>
        <p:sp>
          <p:nvSpPr>
            <p:cNvPr id="464" name="Rectangle 138">
              <a:extLst>
                <a:ext uri="{FF2B5EF4-FFF2-40B4-BE49-F238E27FC236}">
                  <a16:creationId xmlns:a16="http://schemas.microsoft.com/office/drawing/2014/main" id="{C86805FB-878F-7346-B315-3537D5794E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67200" y="5785200"/>
              <a:ext cx="216000" cy="1620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778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algn="ctr">
                <a:buClrTx/>
                <a:buSzTx/>
                <a:buFontTx/>
                <a:buNone/>
              </a:pPr>
              <a:r>
                <a:rPr lang="en-US" sz="1000" dirty="0"/>
                <a:t>SS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3A190A4-1770-3F42-8FDF-5236BB0AF4AF}"/>
              </a:ext>
            </a:extLst>
          </p:cNvPr>
          <p:cNvGrpSpPr/>
          <p:nvPr/>
        </p:nvGrpSpPr>
        <p:grpSpPr>
          <a:xfrm>
            <a:off x="5145952" y="5994000"/>
            <a:ext cx="1468800" cy="162000"/>
            <a:chOff x="5414400" y="5994000"/>
            <a:chExt cx="1468800" cy="162000"/>
          </a:xfrm>
        </p:grpSpPr>
        <p:sp>
          <p:nvSpPr>
            <p:cNvPr id="472" name="Rectangle 138"/>
            <p:cNvSpPr>
              <a:spLocks noChangeArrowheads="1"/>
            </p:cNvSpPr>
            <p:nvPr/>
          </p:nvSpPr>
          <p:spPr bwMode="auto">
            <a:xfrm>
              <a:off x="5414400" y="5994000"/>
              <a:ext cx="1260000" cy="1620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778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algn="ctr">
                <a:buClrTx/>
                <a:buSzTx/>
                <a:buFontTx/>
                <a:buNone/>
              </a:pPr>
              <a:r>
                <a:rPr lang="en-US" sz="1000" dirty="0"/>
                <a:t>Logging</a:t>
              </a:r>
            </a:p>
          </p:txBody>
        </p:sp>
        <p:sp>
          <p:nvSpPr>
            <p:cNvPr id="465" name="Rectangle 138">
              <a:extLst>
                <a:ext uri="{FF2B5EF4-FFF2-40B4-BE49-F238E27FC236}">
                  <a16:creationId xmlns:a16="http://schemas.microsoft.com/office/drawing/2014/main" id="{EFFCF1A3-DEE0-274B-AE7D-AAC7E4946A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67200" y="5994000"/>
              <a:ext cx="216000" cy="1620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778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algn="ctr">
                <a:buClrTx/>
                <a:buSzTx/>
                <a:buFontTx/>
                <a:buNone/>
              </a:pPr>
              <a:r>
                <a:rPr lang="en-US" sz="1000" dirty="0"/>
                <a:t>SS</a:t>
              </a:r>
            </a:p>
          </p:txBody>
        </p:sp>
      </p:grpSp>
      <p:cxnSp>
        <p:nvCxnSpPr>
          <p:cNvPr id="55" name="Elbow Connector 54">
            <a:extLst>
              <a:ext uri="{FF2B5EF4-FFF2-40B4-BE49-F238E27FC236}">
                <a16:creationId xmlns:a16="http://schemas.microsoft.com/office/drawing/2014/main" id="{02E7ECFE-5048-0B4A-994E-1E5AC541F5C0}"/>
              </a:ext>
            </a:extLst>
          </p:cNvPr>
          <p:cNvCxnSpPr>
            <a:cxnSpLocks/>
          </p:cNvCxnSpPr>
          <p:nvPr/>
        </p:nvCxnSpPr>
        <p:spPr>
          <a:xfrm flipH="1" flipV="1">
            <a:off x="6614752" y="4668615"/>
            <a:ext cx="3600" cy="153392"/>
          </a:xfrm>
          <a:prstGeom prst="bentConnector3">
            <a:avLst>
              <a:gd name="adj1" fmla="val -63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0" name="Elbow Connector 469">
            <a:extLst>
              <a:ext uri="{FF2B5EF4-FFF2-40B4-BE49-F238E27FC236}">
                <a16:creationId xmlns:a16="http://schemas.microsoft.com/office/drawing/2014/main" id="{FB170BF3-D2DF-1A4A-88D0-270374089FC7}"/>
              </a:ext>
            </a:extLst>
          </p:cNvPr>
          <p:cNvCxnSpPr>
            <a:cxnSpLocks/>
            <a:stCxn id="495" idx="6"/>
            <a:endCxn id="464" idx="3"/>
          </p:cNvCxnSpPr>
          <p:nvPr/>
        </p:nvCxnSpPr>
        <p:spPr>
          <a:xfrm rot="5400000">
            <a:off x="6647515" y="5295816"/>
            <a:ext cx="537621" cy="603146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1" name="Group 390">
            <a:extLst>
              <a:ext uri="{FF2B5EF4-FFF2-40B4-BE49-F238E27FC236}">
                <a16:creationId xmlns:a16="http://schemas.microsoft.com/office/drawing/2014/main" id="{58EC9102-4989-784A-8782-99A2BE026B8F}"/>
              </a:ext>
            </a:extLst>
          </p:cNvPr>
          <p:cNvGrpSpPr/>
          <p:nvPr/>
        </p:nvGrpSpPr>
        <p:grpSpPr>
          <a:xfrm>
            <a:off x="6810394" y="4642142"/>
            <a:ext cx="180269" cy="171451"/>
            <a:chOff x="5145186" y="193240"/>
            <a:chExt cx="180269" cy="171451"/>
          </a:xfrm>
        </p:grpSpPr>
        <p:sp>
          <p:nvSpPr>
            <p:cNvPr id="392" name="Line 104">
              <a:extLst>
                <a:ext uri="{FF2B5EF4-FFF2-40B4-BE49-F238E27FC236}">
                  <a16:creationId xmlns:a16="http://schemas.microsoft.com/office/drawing/2014/main" id="{C367BC49-AC9F-844B-8724-77A28E3A2D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66717" y="329947"/>
              <a:ext cx="0" cy="34744"/>
            </a:xfrm>
            <a:prstGeom prst="line">
              <a:avLst/>
            </a:prstGeom>
            <a:noFill/>
            <a:ln w="8890">
              <a:solidFill>
                <a:schemeClr val="tx1"/>
              </a:solidFill>
              <a:round/>
              <a:headEnd/>
              <a:tailEnd type="stealth" w="med" len="med"/>
            </a:ln>
          </p:spPr>
          <p:txBody>
            <a:bodyPr lIns="90000" tIns="46800" rIns="90000" bIns="46800" anchor="ctr"/>
            <a:lstStyle/>
            <a:p>
              <a:endParaRPr lang="en-US"/>
            </a:p>
          </p:txBody>
        </p:sp>
        <p:sp>
          <p:nvSpPr>
            <p:cNvPr id="395" name="Text Box 105">
              <a:extLst>
                <a:ext uri="{FF2B5EF4-FFF2-40B4-BE49-F238E27FC236}">
                  <a16:creationId xmlns:a16="http://schemas.microsoft.com/office/drawing/2014/main" id="{45F1CBFA-A7F2-C04A-B15B-D74982C8A7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5239730" y="193240"/>
              <a:ext cx="85725" cy="12223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l">
                <a:buClrTx/>
                <a:buSzTx/>
                <a:buFontTx/>
                <a:buNone/>
              </a:pPr>
              <a:r>
                <a:rPr lang="en-US" sz="800" b="1" dirty="0"/>
                <a:t>R</a:t>
              </a:r>
            </a:p>
          </p:txBody>
        </p:sp>
        <p:sp>
          <p:nvSpPr>
            <p:cNvPr id="396" name="AutoShape 76">
              <a:extLst>
                <a:ext uri="{FF2B5EF4-FFF2-40B4-BE49-F238E27FC236}">
                  <a16:creationId xmlns:a16="http://schemas.microsoft.com/office/drawing/2014/main" id="{C0CB0EEE-B210-5D47-A7F9-FF737E96CAC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H="1">
              <a:off x="5145186" y="257947"/>
              <a:ext cx="72000" cy="72000"/>
            </a:xfrm>
            <a:prstGeom prst="flowChartConnector">
              <a:avLst/>
            </a:prstGeom>
            <a:solidFill>
              <a:schemeClr val="bg1"/>
            </a:solidFill>
            <a:ln w="1778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endParaRPr lang="en-US"/>
            </a:p>
          </p:txBody>
        </p:sp>
      </p:grpSp>
      <p:grpSp>
        <p:nvGrpSpPr>
          <p:cNvPr id="474" name="Group 473">
            <a:extLst>
              <a:ext uri="{FF2B5EF4-FFF2-40B4-BE49-F238E27FC236}">
                <a16:creationId xmlns:a16="http://schemas.microsoft.com/office/drawing/2014/main" id="{97D77090-3E2B-2A45-B614-A1A288F4CDD7}"/>
              </a:ext>
            </a:extLst>
          </p:cNvPr>
          <p:cNvGrpSpPr/>
          <p:nvPr/>
        </p:nvGrpSpPr>
        <p:grpSpPr>
          <a:xfrm>
            <a:off x="7181898" y="5214784"/>
            <a:ext cx="180269" cy="171029"/>
            <a:chOff x="5145186" y="581648"/>
            <a:chExt cx="180269" cy="171029"/>
          </a:xfrm>
        </p:grpSpPr>
        <p:sp>
          <p:nvSpPr>
            <p:cNvPr id="478" name="Line 104">
              <a:extLst>
                <a:ext uri="{FF2B5EF4-FFF2-40B4-BE49-F238E27FC236}">
                  <a16:creationId xmlns:a16="http://schemas.microsoft.com/office/drawing/2014/main" id="{7BFE003D-D05E-F042-B386-4E39DC1C86B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66717" y="581648"/>
              <a:ext cx="0" cy="40770"/>
            </a:xfrm>
            <a:prstGeom prst="line">
              <a:avLst/>
            </a:prstGeom>
            <a:noFill/>
            <a:ln w="8890">
              <a:solidFill>
                <a:schemeClr val="tx1"/>
              </a:solidFill>
              <a:round/>
              <a:headEnd/>
              <a:tailEnd type="stealth" w="med" len="med"/>
            </a:ln>
          </p:spPr>
          <p:txBody>
            <a:bodyPr lIns="90000" tIns="46800" rIns="90000" bIns="46800" anchor="ctr"/>
            <a:lstStyle/>
            <a:p>
              <a:endParaRPr lang="en-US"/>
            </a:p>
          </p:txBody>
        </p:sp>
        <p:sp>
          <p:nvSpPr>
            <p:cNvPr id="481" name="Text Box 105">
              <a:extLst>
                <a:ext uri="{FF2B5EF4-FFF2-40B4-BE49-F238E27FC236}">
                  <a16:creationId xmlns:a16="http://schemas.microsoft.com/office/drawing/2014/main" id="{7211F0A7-981E-5A42-9AF9-A56A476D8A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5239730" y="630439"/>
              <a:ext cx="85725" cy="12223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l">
                <a:buClrTx/>
                <a:buSzTx/>
                <a:buFontTx/>
                <a:buNone/>
              </a:pPr>
              <a:r>
                <a:rPr lang="en-US" sz="800" b="1"/>
                <a:t>R</a:t>
              </a:r>
            </a:p>
          </p:txBody>
        </p:sp>
        <p:sp>
          <p:nvSpPr>
            <p:cNvPr id="495" name="AutoShape 76">
              <a:extLst>
                <a:ext uri="{FF2B5EF4-FFF2-40B4-BE49-F238E27FC236}">
                  <a16:creationId xmlns:a16="http://schemas.microsoft.com/office/drawing/2014/main" id="{892CB52F-121D-794F-9954-900898A6D99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H="1">
              <a:off x="5145186" y="623443"/>
              <a:ext cx="72000" cy="72000"/>
            </a:xfrm>
            <a:prstGeom prst="flowChartConnector">
              <a:avLst/>
            </a:prstGeom>
            <a:solidFill>
              <a:schemeClr val="bg1"/>
            </a:solidFill>
            <a:ln w="1778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endParaRPr lang="en-US"/>
            </a:p>
          </p:txBody>
        </p:sp>
      </p:grpSp>
      <p:sp>
        <p:nvSpPr>
          <p:cNvPr id="385" name="Rectangle 48">
            <a:extLst>
              <a:ext uri="{FF2B5EF4-FFF2-40B4-BE49-F238E27FC236}">
                <a16:creationId xmlns:a16="http://schemas.microsoft.com/office/drawing/2014/main" id="{02AD11AB-9438-1F41-A810-DBCC9B05CD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597" y="384324"/>
            <a:ext cx="3078000" cy="332814"/>
          </a:xfrm>
          <a:prstGeom prst="rect">
            <a:avLst/>
          </a:prstGeom>
          <a:solidFill>
            <a:schemeClr val="bg1"/>
          </a:solidFill>
          <a:ln w="17780">
            <a:solidFill>
              <a:schemeClr val="tx1"/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>
              <a:buClrTx/>
              <a:buSzTx/>
              <a:buFontTx/>
              <a:buNone/>
            </a:pPr>
            <a:r>
              <a:rPr lang="de-DE" sz="1200"/>
              <a:t> Administrator</a:t>
            </a:r>
            <a:endParaRPr lang="en-US" sz="1200"/>
          </a:p>
        </p:txBody>
      </p:sp>
      <p:grpSp>
        <p:nvGrpSpPr>
          <p:cNvPr id="415" name="Group 49">
            <a:extLst>
              <a:ext uri="{FF2B5EF4-FFF2-40B4-BE49-F238E27FC236}">
                <a16:creationId xmlns:a16="http://schemas.microsoft.com/office/drawing/2014/main" id="{C64B5A18-9AC3-824A-8A8F-3A31DAE7CADF}"/>
              </a:ext>
            </a:extLst>
          </p:cNvPr>
          <p:cNvGrpSpPr>
            <a:grpSpLocks/>
          </p:cNvGrpSpPr>
          <p:nvPr/>
        </p:nvGrpSpPr>
        <p:grpSpPr bwMode="auto">
          <a:xfrm>
            <a:off x="2459841" y="397084"/>
            <a:ext cx="163512" cy="287337"/>
            <a:chOff x="1348" y="521"/>
            <a:chExt cx="103" cy="181"/>
          </a:xfrm>
        </p:grpSpPr>
        <p:sp>
          <p:nvSpPr>
            <p:cNvPr id="419" name="Oval 50">
              <a:extLst>
                <a:ext uri="{FF2B5EF4-FFF2-40B4-BE49-F238E27FC236}">
                  <a16:creationId xmlns:a16="http://schemas.microsoft.com/office/drawing/2014/main" id="{14E943D7-88F0-7C4E-8B90-27D7B89134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4" y="522"/>
              <a:ext cx="52" cy="52"/>
            </a:xfrm>
            <a:prstGeom prst="ellipse">
              <a:avLst/>
            </a:prstGeom>
            <a:noFill/>
            <a:ln w="72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1" name="Line 51">
              <a:extLst>
                <a:ext uri="{FF2B5EF4-FFF2-40B4-BE49-F238E27FC236}">
                  <a16:creationId xmlns:a16="http://schemas.microsoft.com/office/drawing/2014/main" id="{995F4D5B-0A8D-834D-B3DF-69AA726D0E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0" y="574"/>
              <a:ext cx="1" cy="78"/>
            </a:xfrm>
            <a:prstGeom prst="line">
              <a:avLst/>
            </a:prstGeom>
            <a:noFill/>
            <a:ln w="72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7" name="Line 52">
              <a:extLst>
                <a:ext uri="{FF2B5EF4-FFF2-40B4-BE49-F238E27FC236}">
                  <a16:creationId xmlns:a16="http://schemas.microsoft.com/office/drawing/2014/main" id="{820538E0-200B-4644-8F8F-865D9C2373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00" y="572"/>
              <a:ext cx="52" cy="28"/>
            </a:xfrm>
            <a:prstGeom prst="line">
              <a:avLst/>
            </a:prstGeom>
            <a:noFill/>
            <a:ln w="72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2" name="Line 53">
              <a:extLst>
                <a:ext uri="{FF2B5EF4-FFF2-40B4-BE49-F238E27FC236}">
                  <a16:creationId xmlns:a16="http://schemas.microsoft.com/office/drawing/2014/main" id="{50112DE9-0EDF-B04E-ABA1-0954D79900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347" y="572"/>
              <a:ext cx="54" cy="28"/>
            </a:xfrm>
            <a:prstGeom prst="line">
              <a:avLst/>
            </a:prstGeom>
            <a:noFill/>
            <a:ln w="72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7" name="Line 54">
              <a:extLst>
                <a:ext uri="{FF2B5EF4-FFF2-40B4-BE49-F238E27FC236}">
                  <a16:creationId xmlns:a16="http://schemas.microsoft.com/office/drawing/2014/main" id="{9526F591-B7AC-FE4D-B33D-FF7C4727A8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47" y="651"/>
              <a:ext cx="54" cy="52"/>
            </a:xfrm>
            <a:prstGeom prst="line">
              <a:avLst/>
            </a:prstGeom>
            <a:noFill/>
            <a:ln w="72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8" name="Line 55">
              <a:extLst>
                <a:ext uri="{FF2B5EF4-FFF2-40B4-BE49-F238E27FC236}">
                  <a16:creationId xmlns:a16="http://schemas.microsoft.com/office/drawing/2014/main" id="{ACF179E9-A3B2-3448-A75C-E8CD4DE8BC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0" y="651"/>
              <a:ext cx="52" cy="52"/>
            </a:xfrm>
            <a:prstGeom prst="line">
              <a:avLst/>
            </a:prstGeom>
            <a:noFill/>
            <a:ln w="72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96" name="Rectangle 48">
            <a:extLst>
              <a:ext uri="{FF2B5EF4-FFF2-40B4-BE49-F238E27FC236}">
                <a16:creationId xmlns:a16="http://schemas.microsoft.com/office/drawing/2014/main" id="{72805E69-9C27-1D40-B21D-D398D9CDAC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9794" y="384324"/>
            <a:ext cx="3013199" cy="332814"/>
          </a:xfrm>
          <a:prstGeom prst="rect">
            <a:avLst/>
          </a:prstGeom>
          <a:solidFill>
            <a:schemeClr val="bg1"/>
          </a:solidFill>
          <a:ln w="17780">
            <a:solidFill>
              <a:schemeClr val="tx1"/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>
              <a:buClrTx/>
              <a:buSzTx/>
              <a:buFontTx/>
              <a:buNone/>
            </a:pPr>
            <a:r>
              <a:rPr lang="de-DE" sz="1200"/>
              <a:t> End-User</a:t>
            </a:r>
            <a:endParaRPr lang="en-US" sz="1200"/>
          </a:p>
        </p:txBody>
      </p:sp>
      <p:grpSp>
        <p:nvGrpSpPr>
          <p:cNvPr id="511" name="Group 49">
            <a:extLst>
              <a:ext uri="{FF2B5EF4-FFF2-40B4-BE49-F238E27FC236}">
                <a16:creationId xmlns:a16="http://schemas.microsoft.com/office/drawing/2014/main" id="{4A0AAFB5-56B0-EB4D-889F-3A42E4F0D97F}"/>
              </a:ext>
            </a:extLst>
          </p:cNvPr>
          <p:cNvGrpSpPr>
            <a:grpSpLocks/>
          </p:cNvGrpSpPr>
          <p:nvPr/>
        </p:nvGrpSpPr>
        <p:grpSpPr bwMode="auto">
          <a:xfrm>
            <a:off x="9874637" y="397084"/>
            <a:ext cx="163512" cy="287337"/>
            <a:chOff x="1348" y="521"/>
            <a:chExt cx="103" cy="181"/>
          </a:xfrm>
        </p:grpSpPr>
        <p:sp>
          <p:nvSpPr>
            <p:cNvPr id="512" name="Oval 50">
              <a:extLst>
                <a:ext uri="{FF2B5EF4-FFF2-40B4-BE49-F238E27FC236}">
                  <a16:creationId xmlns:a16="http://schemas.microsoft.com/office/drawing/2014/main" id="{EDCFCA1E-61F5-864D-AB39-8753BF70B6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4" y="522"/>
              <a:ext cx="52" cy="52"/>
            </a:xfrm>
            <a:prstGeom prst="ellipse">
              <a:avLst/>
            </a:prstGeom>
            <a:noFill/>
            <a:ln w="72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0" name="Line 51">
              <a:extLst>
                <a:ext uri="{FF2B5EF4-FFF2-40B4-BE49-F238E27FC236}">
                  <a16:creationId xmlns:a16="http://schemas.microsoft.com/office/drawing/2014/main" id="{542A3151-7D6E-734F-A4BF-056A4B0EE6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0" y="574"/>
              <a:ext cx="1" cy="78"/>
            </a:xfrm>
            <a:prstGeom prst="line">
              <a:avLst/>
            </a:prstGeom>
            <a:noFill/>
            <a:ln w="72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1" name="Line 52">
              <a:extLst>
                <a:ext uri="{FF2B5EF4-FFF2-40B4-BE49-F238E27FC236}">
                  <a16:creationId xmlns:a16="http://schemas.microsoft.com/office/drawing/2014/main" id="{FFA3B647-320D-BD4B-A9F5-FBB2A9A87A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00" y="572"/>
              <a:ext cx="52" cy="28"/>
            </a:xfrm>
            <a:prstGeom prst="line">
              <a:avLst/>
            </a:prstGeom>
            <a:noFill/>
            <a:ln w="72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2" name="Line 53">
              <a:extLst>
                <a:ext uri="{FF2B5EF4-FFF2-40B4-BE49-F238E27FC236}">
                  <a16:creationId xmlns:a16="http://schemas.microsoft.com/office/drawing/2014/main" id="{096F8ACD-9243-084C-934C-28DA7F6E08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347" y="572"/>
              <a:ext cx="54" cy="28"/>
            </a:xfrm>
            <a:prstGeom prst="line">
              <a:avLst/>
            </a:prstGeom>
            <a:noFill/>
            <a:ln w="72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3" name="Line 54">
              <a:extLst>
                <a:ext uri="{FF2B5EF4-FFF2-40B4-BE49-F238E27FC236}">
                  <a16:creationId xmlns:a16="http://schemas.microsoft.com/office/drawing/2014/main" id="{0904200B-A6D4-C042-AF01-EB72350B40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47" y="651"/>
              <a:ext cx="54" cy="52"/>
            </a:xfrm>
            <a:prstGeom prst="line">
              <a:avLst/>
            </a:prstGeom>
            <a:noFill/>
            <a:ln w="72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9" name="Line 55">
              <a:extLst>
                <a:ext uri="{FF2B5EF4-FFF2-40B4-BE49-F238E27FC236}">
                  <a16:creationId xmlns:a16="http://schemas.microsoft.com/office/drawing/2014/main" id="{74DE3138-191F-8544-86F8-97FEE8AF8B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0" y="651"/>
              <a:ext cx="52" cy="52"/>
            </a:xfrm>
            <a:prstGeom prst="line">
              <a:avLst/>
            </a:prstGeom>
            <a:noFill/>
            <a:ln w="72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30" name="TextBox 529">
            <a:extLst>
              <a:ext uri="{FF2B5EF4-FFF2-40B4-BE49-F238E27FC236}">
                <a16:creationId xmlns:a16="http://schemas.microsoft.com/office/drawing/2014/main" id="{9509C322-DFCD-4A4E-B557-314EEB912A19}"/>
              </a:ext>
            </a:extLst>
          </p:cNvPr>
          <p:cNvSpPr txBox="1"/>
          <p:nvPr/>
        </p:nvSpPr>
        <p:spPr>
          <a:xfrm>
            <a:off x="1757077" y="-11363"/>
            <a:ext cx="15858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Garden Cluster</a:t>
            </a:r>
          </a:p>
        </p:txBody>
      </p:sp>
      <p:sp>
        <p:nvSpPr>
          <p:cNvPr id="531" name="TextBox 530">
            <a:extLst>
              <a:ext uri="{FF2B5EF4-FFF2-40B4-BE49-F238E27FC236}">
                <a16:creationId xmlns:a16="http://schemas.microsoft.com/office/drawing/2014/main" id="{C360283D-98A5-9246-AFCC-7A937475DA12}"/>
              </a:ext>
            </a:extLst>
          </p:cNvPr>
          <p:cNvSpPr txBox="1"/>
          <p:nvPr/>
        </p:nvSpPr>
        <p:spPr>
          <a:xfrm>
            <a:off x="5443663" y="16517"/>
            <a:ext cx="15822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Seed Cluster(s)</a:t>
            </a:r>
          </a:p>
        </p:txBody>
      </p:sp>
      <p:sp>
        <p:nvSpPr>
          <p:cNvPr id="532" name="TextBox 531">
            <a:extLst>
              <a:ext uri="{FF2B5EF4-FFF2-40B4-BE49-F238E27FC236}">
                <a16:creationId xmlns:a16="http://schemas.microsoft.com/office/drawing/2014/main" id="{94F64201-BC35-4B4B-8BFC-65D7CE2525A5}"/>
              </a:ext>
            </a:extLst>
          </p:cNvPr>
          <p:cNvSpPr txBox="1"/>
          <p:nvPr/>
        </p:nvSpPr>
        <p:spPr>
          <a:xfrm>
            <a:off x="9126658" y="8279"/>
            <a:ext cx="1671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Shoot Cluster(s)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5F2A561-6E2B-8B8A-3949-09CD315DF29D}"/>
              </a:ext>
            </a:extLst>
          </p:cNvPr>
          <p:cNvCxnSpPr>
            <a:cxnSpLocks/>
          </p:cNvCxnSpPr>
          <p:nvPr/>
        </p:nvCxnSpPr>
        <p:spPr>
          <a:xfrm>
            <a:off x="8045203" y="50224"/>
            <a:ext cx="0" cy="6723358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1CA981B-1655-2BF8-9B57-49F87444AA4E}"/>
              </a:ext>
            </a:extLst>
          </p:cNvPr>
          <p:cNvCxnSpPr>
            <a:cxnSpLocks/>
          </p:cNvCxnSpPr>
          <p:nvPr/>
        </p:nvCxnSpPr>
        <p:spPr>
          <a:xfrm>
            <a:off x="4244990" y="50224"/>
            <a:ext cx="0" cy="6723358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719F6967-FF53-1972-57BF-E9BA2984BF34}"/>
              </a:ext>
            </a:extLst>
          </p:cNvPr>
          <p:cNvSpPr txBox="1"/>
          <p:nvPr/>
        </p:nvSpPr>
        <p:spPr>
          <a:xfrm>
            <a:off x="9989395" y="1401588"/>
            <a:ext cx="13949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600" dirty="0"/>
              <a:t>not recommended</a:t>
            </a:r>
          </a:p>
          <a:p>
            <a:r>
              <a:rPr lang="en-DE" sz="600" dirty="0"/>
              <a:t>disabled for all non  evaluation clusters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CCCCFD3-ADE5-8755-6563-56D3291C04BD}"/>
              </a:ext>
            </a:extLst>
          </p:cNvPr>
          <p:cNvSpPr txBox="1"/>
          <p:nvPr/>
        </p:nvSpPr>
        <p:spPr>
          <a:xfrm>
            <a:off x="6868936" y="2383032"/>
            <a:ext cx="71045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600" dirty="0"/>
              <a:t>SNI Routing Only</a:t>
            </a:r>
          </a:p>
        </p:txBody>
      </p:sp>
      <p:sp>
        <p:nvSpPr>
          <p:cNvPr id="537" name="Rectangle 138"/>
          <p:cNvSpPr>
            <a:spLocks noChangeArrowheads="1"/>
          </p:cNvSpPr>
          <p:nvPr/>
        </p:nvSpPr>
        <p:spPr bwMode="auto">
          <a:xfrm>
            <a:off x="6192367" y="2208506"/>
            <a:ext cx="1596283" cy="2065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7780">
            <a:solidFill>
              <a:schemeClr val="tx1"/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algn="ctr"/>
            <a:r>
              <a:rPr lang="en-US" sz="1200" dirty="0"/>
              <a:t>Istio Ingress Gateway LB</a:t>
            </a:r>
          </a:p>
        </p:txBody>
      </p:sp>
      <p:cxnSp>
        <p:nvCxnSpPr>
          <p:cNvPr id="35" name="Elbow Connector 34">
            <a:extLst>
              <a:ext uri="{FF2B5EF4-FFF2-40B4-BE49-F238E27FC236}">
                <a16:creationId xmlns:a16="http://schemas.microsoft.com/office/drawing/2014/main" id="{68526CB4-62BB-B754-1989-61490BADA2D0}"/>
              </a:ext>
            </a:extLst>
          </p:cNvPr>
          <p:cNvCxnSpPr>
            <a:cxnSpLocks/>
            <a:endCxn id="494" idx="3"/>
          </p:cNvCxnSpPr>
          <p:nvPr/>
        </p:nvCxnSpPr>
        <p:spPr>
          <a:xfrm rot="5400000">
            <a:off x="6728207" y="3431114"/>
            <a:ext cx="753296" cy="133495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C814C39-FCAF-4342-38F0-62F605913004}"/>
              </a:ext>
            </a:extLst>
          </p:cNvPr>
          <p:cNvGrpSpPr/>
          <p:nvPr/>
        </p:nvGrpSpPr>
        <p:grpSpPr>
          <a:xfrm>
            <a:off x="7063530" y="3266395"/>
            <a:ext cx="151694" cy="171029"/>
            <a:chOff x="4873292" y="581648"/>
            <a:chExt cx="151694" cy="171029"/>
          </a:xfrm>
        </p:grpSpPr>
        <p:sp>
          <p:nvSpPr>
            <p:cNvPr id="38" name="Line 104">
              <a:extLst>
                <a:ext uri="{FF2B5EF4-FFF2-40B4-BE49-F238E27FC236}">
                  <a16:creationId xmlns:a16="http://schemas.microsoft.com/office/drawing/2014/main" id="{B8039899-CACA-4049-2F83-8B9A13759B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900280" y="581648"/>
              <a:ext cx="0" cy="40770"/>
            </a:xfrm>
            <a:prstGeom prst="line">
              <a:avLst/>
            </a:prstGeom>
            <a:noFill/>
            <a:ln w="8890">
              <a:solidFill>
                <a:schemeClr val="tx1"/>
              </a:solidFill>
              <a:round/>
              <a:headEnd/>
              <a:tailEnd type="stealth" w="med" len="med"/>
            </a:ln>
          </p:spPr>
          <p:txBody>
            <a:bodyPr lIns="90000" tIns="46800" rIns="90000" bIns="46800" anchor="ctr"/>
            <a:lstStyle/>
            <a:p>
              <a:endParaRPr lang="en-US"/>
            </a:p>
          </p:txBody>
        </p:sp>
        <p:sp>
          <p:nvSpPr>
            <p:cNvPr id="39" name="Text Box 105">
              <a:extLst>
                <a:ext uri="{FF2B5EF4-FFF2-40B4-BE49-F238E27FC236}">
                  <a16:creationId xmlns:a16="http://schemas.microsoft.com/office/drawing/2014/main" id="{A4D8E771-DE32-FB3F-2EA8-953093F0EC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3292" y="630439"/>
              <a:ext cx="85725" cy="12223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l">
                <a:buClrTx/>
                <a:buSzTx/>
                <a:buFontTx/>
                <a:buNone/>
              </a:pPr>
              <a:r>
                <a:rPr lang="en-US" sz="800" b="1"/>
                <a:t>R</a:t>
              </a:r>
            </a:p>
          </p:txBody>
        </p:sp>
        <p:sp>
          <p:nvSpPr>
            <p:cNvPr id="40" name="AutoShape 76">
              <a:extLst>
                <a:ext uri="{FF2B5EF4-FFF2-40B4-BE49-F238E27FC236}">
                  <a16:creationId xmlns:a16="http://schemas.microsoft.com/office/drawing/2014/main" id="{645DDF9C-8AE4-6F8B-A5D2-8407C9EC80D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952986" y="623443"/>
              <a:ext cx="72000" cy="72000"/>
            </a:xfrm>
            <a:prstGeom prst="flowChartConnector">
              <a:avLst/>
            </a:prstGeom>
            <a:solidFill>
              <a:schemeClr val="bg1"/>
            </a:solidFill>
            <a:ln w="1778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endParaRPr lang="en-US"/>
            </a:p>
          </p:txBody>
        </p:sp>
      </p:grpSp>
      <p:cxnSp>
        <p:nvCxnSpPr>
          <p:cNvPr id="63" name="Elbow Connector 62">
            <a:extLst>
              <a:ext uri="{FF2B5EF4-FFF2-40B4-BE49-F238E27FC236}">
                <a16:creationId xmlns:a16="http://schemas.microsoft.com/office/drawing/2014/main" id="{AA5E100F-C598-75C2-0DF8-7D652A701A4F}"/>
              </a:ext>
            </a:extLst>
          </p:cNvPr>
          <p:cNvCxnSpPr>
            <a:cxnSpLocks/>
            <a:stCxn id="539" idx="3"/>
            <a:endCxn id="495" idx="2"/>
          </p:cNvCxnSpPr>
          <p:nvPr/>
        </p:nvCxnSpPr>
        <p:spPr>
          <a:xfrm>
            <a:off x="6614752" y="4640040"/>
            <a:ext cx="603146" cy="616539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Elbow Connector 65">
            <a:extLst>
              <a:ext uri="{FF2B5EF4-FFF2-40B4-BE49-F238E27FC236}">
                <a16:creationId xmlns:a16="http://schemas.microsoft.com/office/drawing/2014/main" id="{90C677B5-929F-190C-5B5E-29AD1BF292BB}"/>
              </a:ext>
            </a:extLst>
          </p:cNvPr>
          <p:cNvCxnSpPr>
            <a:cxnSpLocks/>
            <a:stCxn id="495" idx="0"/>
            <a:endCxn id="437" idx="3"/>
          </p:cNvCxnSpPr>
          <p:nvPr/>
        </p:nvCxnSpPr>
        <p:spPr>
          <a:xfrm rot="10800000">
            <a:off x="6611152" y="5292361"/>
            <a:ext cx="570746" cy="219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Elbow Connector 68">
            <a:extLst>
              <a:ext uri="{FF2B5EF4-FFF2-40B4-BE49-F238E27FC236}">
                <a16:creationId xmlns:a16="http://schemas.microsoft.com/office/drawing/2014/main" id="{8DE10120-B5A8-71F9-3165-55438E9AE00C}"/>
              </a:ext>
            </a:extLst>
          </p:cNvPr>
          <p:cNvCxnSpPr>
            <a:cxnSpLocks/>
            <a:stCxn id="495" idx="0"/>
            <a:endCxn id="435" idx="3"/>
          </p:cNvCxnSpPr>
          <p:nvPr/>
        </p:nvCxnSpPr>
        <p:spPr>
          <a:xfrm rot="10800000">
            <a:off x="6614752" y="5074921"/>
            <a:ext cx="567146" cy="217659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Elbow Connector 72">
            <a:extLst>
              <a:ext uri="{FF2B5EF4-FFF2-40B4-BE49-F238E27FC236}">
                <a16:creationId xmlns:a16="http://schemas.microsoft.com/office/drawing/2014/main" id="{9C7A0F97-D766-B5CD-42C3-26AD94A30B5D}"/>
              </a:ext>
            </a:extLst>
          </p:cNvPr>
          <p:cNvCxnSpPr>
            <a:cxnSpLocks/>
            <a:stCxn id="495" idx="0"/>
          </p:cNvCxnSpPr>
          <p:nvPr/>
        </p:nvCxnSpPr>
        <p:spPr>
          <a:xfrm rot="10800000" flipV="1">
            <a:off x="6614752" y="5292578"/>
            <a:ext cx="567146" cy="17396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Elbow Connector 79">
            <a:extLst>
              <a:ext uri="{FF2B5EF4-FFF2-40B4-BE49-F238E27FC236}">
                <a16:creationId xmlns:a16="http://schemas.microsoft.com/office/drawing/2014/main" id="{C39D9B4C-580F-9F77-B2DC-47789D8DDD38}"/>
              </a:ext>
            </a:extLst>
          </p:cNvPr>
          <p:cNvCxnSpPr>
            <a:cxnSpLocks/>
            <a:stCxn id="296" idx="4"/>
            <a:endCxn id="465" idx="3"/>
          </p:cNvCxnSpPr>
          <p:nvPr/>
        </p:nvCxnSpPr>
        <p:spPr>
          <a:xfrm flipH="1">
            <a:off x="6614752" y="6072790"/>
            <a:ext cx="1020653" cy="2210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Elbow Connector 103">
            <a:extLst>
              <a:ext uri="{FF2B5EF4-FFF2-40B4-BE49-F238E27FC236}">
                <a16:creationId xmlns:a16="http://schemas.microsoft.com/office/drawing/2014/main" id="{3B7EAAFC-E4F3-9AA8-0FCC-EC525DD2D7E8}"/>
              </a:ext>
            </a:extLst>
          </p:cNvPr>
          <p:cNvCxnSpPr>
            <a:cxnSpLocks/>
            <a:endCxn id="296" idx="0"/>
          </p:cNvCxnSpPr>
          <p:nvPr/>
        </p:nvCxnSpPr>
        <p:spPr>
          <a:xfrm flipH="1">
            <a:off x="7707405" y="6072783"/>
            <a:ext cx="99750" cy="7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Elbow Connector 111">
            <a:extLst>
              <a:ext uri="{FF2B5EF4-FFF2-40B4-BE49-F238E27FC236}">
                <a16:creationId xmlns:a16="http://schemas.microsoft.com/office/drawing/2014/main" id="{1C764552-2426-C21D-B4FD-426D9589B834}"/>
              </a:ext>
            </a:extLst>
          </p:cNvPr>
          <p:cNvCxnSpPr>
            <a:cxnSpLocks/>
          </p:cNvCxnSpPr>
          <p:nvPr/>
        </p:nvCxnSpPr>
        <p:spPr>
          <a:xfrm rot="16200000" flipV="1">
            <a:off x="5953609" y="4223074"/>
            <a:ext cx="3652493" cy="45897"/>
          </a:xfrm>
          <a:prstGeom prst="bentConnector3">
            <a:avLst>
              <a:gd name="adj1" fmla="val 80511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678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0cf7ac0a-4681-4823-ab0b-04ef02c5f873}" enabled="1" method="Standard" siteId="{42f7676c-f455-423c-82f6-dc2d99791af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343</Words>
  <Application>Microsoft Macintosh PowerPoint</Application>
  <PresentationFormat>Widescreen</PresentationFormat>
  <Paragraphs>131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 Unicode MS</vt:lpstr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Lerenc, Vedran</dc:creator>
  <cp:lastModifiedBy>Scheerer, Johannes</cp:lastModifiedBy>
  <cp:revision>4</cp:revision>
  <dcterms:created xsi:type="dcterms:W3CDTF">2022-03-17T13:42:07Z</dcterms:created>
  <dcterms:modified xsi:type="dcterms:W3CDTF">2026-09-10T09:32:49Z</dcterms:modified>
</cp:coreProperties>
</file>