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9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83"/>
    <p:restoredTop sz="96327"/>
  </p:normalViewPr>
  <p:slideViewPr>
    <p:cSldViewPr snapToGrid="0" snapToObjects="1">
      <p:cViewPr>
        <p:scale>
          <a:sx n="204" d="100"/>
          <a:sy n="204" d="100"/>
        </p:scale>
        <p:origin x="864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0A233-D006-1049-96B2-56CCC883D470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F7E0E-80DA-2543-85E1-037FA5D538F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1074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82D0-AA04-7D43-A6DF-CAFA31B92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88596-0FB7-AE42-8864-A00A65D36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C0024-4A65-1D48-8CBD-8351CFD1E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62681-E0E6-F747-ADD1-8F076D52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8BE5-1354-604F-BD7C-01477E91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515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AA01-F5EA-0144-AB7A-115135F5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580A1-2FB3-9942-AAB1-4AF8C1B73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00D17-3D08-3444-983C-4E177527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5E097-F582-AC4B-813F-2B4AE092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5AF03-9C0D-4340-88F7-6B906CB6E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8193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FDC5-5128-554E-8DC4-31B0FAB3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B406B-7115-904E-A3FB-D7732330C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211B4-906F-C443-8848-DDF5D447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DCB78-78E9-964C-A08E-FF50EF1A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A56E-850E-DE41-BFFA-E55B57B50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1380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EA066-69D9-6D40-A74F-83EE30A8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CD322-AEF4-0D4C-914C-6BABF098D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74F96-D654-1F49-8FDA-548E9EF98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DB928-D8E6-5247-AB4F-F31CB13B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B0227-4AC0-2E4D-87F0-FB63204F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F79E9-9D12-F747-BC7D-ADAC8DA63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226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058F9-54C2-E84C-96CD-0488041A4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FEF06-E9B7-6C40-A562-C1598A7B2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C259B-6147-CC4D-AD9E-6FEF6FBEF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59778-1D1A-CB43-8959-B4DB7FFA3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ED3EF-1F87-2140-A097-812CA4630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51E106-9368-6C4E-B2A6-01B1A388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FD037-168D-674F-A661-5713DCB5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A0E42-8B28-804E-9EBE-0F035B65C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050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3980-7313-8D4E-A014-5D015777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AA1C20-83EF-A947-873B-812FD7F32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BD6E9-526F-1E44-AFC1-5839128E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11E80-1561-3746-BDD6-11845809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204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3CBA8-8350-1848-B5BB-7AA3F3A2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C2052-E6F6-8242-9C15-463D6E7E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62554-6511-2A41-AE81-3DE24F28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050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A33-BE41-B241-97EF-FF9DE1F9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7604-EAB3-3E42-B673-8A2419D36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5F240-E494-9443-BD7C-E19B2D127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BE9B7-84E2-B841-BB6C-979EF06D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54659-966F-F240-ACEB-D76617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EE1CF-6D9C-8747-9A7E-7E574DAC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383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59B84-3F20-AD47-A45C-39BC8FE5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F9166-41F1-D541-824E-2843B2AFD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B6B15-B2B6-6241-A8AC-4A48349F0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66279-6D45-EC47-B246-D65B50D9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5EE18-F371-2F47-86F6-EA24CF03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9E50B-0AE7-BC41-8F58-A46DF9F2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494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C16C-D3E3-E54B-B016-4D992560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1A7AD-C5E7-B448-AB04-96ED25158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29335-B988-B448-8A33-B0ACCE0D1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A4F4-126C-FA4D-A945-FF8DD165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70443-3196-A644-A2DE-28754BF8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229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575880-3C02-8F49-BA41-CD3B36E67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497B3-897A-AC4E-929A-68524EA1A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3025C-4D4E-A343-961F-54F1F978D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7BEF3-2A9F-A843-BC18-1BEE52C3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9C97E-A7D4-5A46-9805-14896132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9377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E8F15-DD8D-1C46-8004-EB01B7CE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14C70-C870-B84C-A903-777F693CB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7D592-7FBB-CC42-B340-9B71761AF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8265-B100-ED48-B1D9-7B0C2D8678E5}" type="datetimeFigureOut">
              <a:rPr lang="en-DE" smtClean="0"/>
              <a:t>11.09.26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6A3AB-7691-D14B-89BC-A2F5825CB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8641A-1E57-6A48-A007-265D2F6D9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599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0">
            <a:extLst>
              <a:ext uri="{FF2B5EF4-FFF2-40B4-BE49-F238E27FC236}">
                <a16:creationId xmlns:a16="http://schemas.microsoft.com/office/drawing/2014/main" id="{509F9BB2-928A-71FA-A6B8-DFA1BA8EA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027" y="1546196"/>
            <a:ext cx="9735157" cy="44099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vert="horz" lIns="36000" tIns="36000" rIns="36000" bIns="36000" anchor="t"/>
          <a:lstStyle/>
          <a:p>
            <a:pPr>
              <a:buClrTx/>
              <a:buSzTx/>
              <a:buFontTx/>
              <a:buNone/>
            </a:pPr>
            <a:r>
              <a:rPr lang="en-US" sz="1200" dirty="0"/>
              <a:t>Seed Cluster</a:t>
            </a:r>
            <a:endParaRPr lang="en-US" sz="300" dirty="0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204190ED-DCB5-1DC6-DC37-CF3D90156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568" y="2993613"/>
            <a:ext cx="6077165" cy="2784458"/>
          </a:xfrm>
          <a:prstGeom prst="rect">
            <a:avLst/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t"/>
          <a:lstStyle/>
          <a:p>
            <a:pPr>
              <a:buClrTx/>
              <a:buSzTx/>
              <a:buFontTx/>
              <a:buNone/>
            </a:pPr>
            <a:r>
              <a:rPr lang="de-DE" sz="1200" dirty="0"/>
              <a:t>Worker </a:t>
            </a:r>
            <a:r>
              <a:rPr lang="de-DE" sz="1200" dirty="0" err="1"/>
              <a:t>Subnet</a:t>
            </a:r>
            <a:endParaRPr lang="en-US" sz="1200" dirty="0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1B5A7E4-81D3-0EF9-7BC9-29EEB4FBF41C}"/>
              </a:ext>
            </a:extLst>
          </p:cNvPr>
          <p:cNvCxnSpPr>
            <a:cxnSpLocks/>
            <a:stCxn id="99" idx="0"/>
          </p:cNvCxnSpPr>
          <p:nvPr/>
        </p:nvCxnSpPr>
        <p:spPr>
          <a:xfrm>
            <a:off x="2977563" y="3781477"/>
            <a:ext cx="4733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0">
            <a:extLst>
              <a:ext uri="{FF2B5EF4-FFF2-40B4-BE49-F238E27FC236}">
                <a16:creationId xmlns:a16="http://schemas.microsoft.com/office/drawing/2014/main" id="{16B4CB62-4F69-9AD4-D676-1C178EDA2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499" y="3281577"/>
            <a:ext cx="5698811" cy="2298766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t"/>
          <a:lstStyle/>
          <a:p>
            <a:pPr>
              <a:buClrTx/>
              <a:buSzTx/>
              <a:buFontTx/>
              <a:buNone/>
            </a:pPr>
            <a:r>
              <a:rPr lang="de-DE" sz="1200" dirty="0"/>
              <a:t> Worker</a:t>
            </a:r>
            <a:endParaRPr lang="en-US" sz="12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8265AD-336C-5DC5-39E9-07B9DA46F389}"/>
              </a:ext>
            </a:extLst>
          </p:cNvPr>
          <p:cNvCxnSpPr>
            <a:cxnSpLocks/>
          </p:cNvCxnSpPr>
          <p:nvPr/>
        </p:nvCxnSpPr>
        <p:spPr>
          <a:xfrm>
            <a:off x="2830282" y="2659150"/>
            <a:ext cx="794990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285B210-1B08-DE85-14F2-E10622B7E8E6}"/>
              </a:ext>
            </a:extLst>
          </p:cNvPr>
          <p:cNvSpPr txBox="1"/>
          <p:nvPr/>
        </p:nvSpPr>
        <p:spPr>
          <a:xfrm>
            <a:off x="9137733" y="2484855"/>
            <a:ext cx="1642451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000" dirty="0" err="1"/>
              <a:t>Stateful</a:t>
            </a:r>
            <a:r>
              <a:rPr lang="de-DE" sz="1000" dirty="0"/>
              <a:t> Firewall</a:t>
            </a:r>
            <a:endParaRPr lang="en-US" sz="1000" dirty="0"/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52FD0FD4-675F-B486-FC17-32595A13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569" y="1698979"/>
            <a:ext cx="6077159" cy="788668"/>
          </a:xfrm>
          <a:prstGeom prst="rect">
            <a:avLst/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t"/>
          <a:lstStyle/>
          <a:p>
            <a:pPr>
              <a:buClrTx/>
              <a:buSzTx/>
              <a:buFontTx/>
              <a:buNone/>
            </a:pPr>
            <a:r>
              <a:rPr lang="de-DE" sz="1200" dirty="0"/>
              <a:t>Public </a:t>
            </a:r>
            <a:r>
              <a:rPr lang="de-DE" sz="1200" dirty="0" err="1"/>
              <a:t>Subnet</a:t>
            </a:r>
            <a:endParaRPr lang="en-US" sz="1200" dirty="0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193C6B8D-B7CC-CEC7-6DBF-18CCB14268A0}"/>
              </a:ext>
            </a:extLst>
          </p:cNvPr>
          <p:cNvCxnSpPr>
            <a:cxnSpLocks/>
            <a:stCxn id="200" idx="6"/>
          </p:cNvCxnSpPr>
          <p:nvPr/>
        </p:nvCxnSpPr>
        <p:spPr>
          <a:xfrm>
            <a:off x="6084598" y="1205382"/>
            <a:ext cx="0" cy="8594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160DC661-0A6D-CEB5-EEA6-F3003AE8F3AB}"/>
              </a:ext>
            </a:extLst>
          </p:cNvPr>
          <p:cNvCxnSpPr>
            <a:cxnSpLocks/>
            <a:stCxn id="206" idx="6"/>
          </p:cNvCxnSpPr>
          <p:nvPr/>
        </p:nvCxnSpPr>
        <p:spPr>
          <a:xfrm>
            <a:off x="7154263" y="1203163"/>
            <a:ext cx="0" cy="8594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B30EFAE1-FFE2-C6A1-DC18-4906C2F4EFB4}"/>
              </a:ext>
            </a:extLst>
          </p:cNvPr>
          <p:cNvCxnSpPr>
            <a:cxnSpLocks/>
            <a:endCxn id="186" idx="2"/>
          </p:cNvCxnSpPr>
          <p:nvPr/>
        </p:nvCxnSpPr>
        <p:spPr>
          <a:xfrm>
            <a:off x="5128904" y="796499"/>
            <a:ext cx="0" cy="346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371DE688-6138-31F6-2404-E758D2D636EB}"/>
              </a:ext>
            </a:extLst>
          </p:cNvPr>
          <p:cNvCxnSpPr>
            <a:cxnSpLocks/>
            <a:stCxn id="212" idx="6"/>
          </p:cNvCxnSpPr>
          <p:nvPr/>
        </p:nvCxnSpPr>
        <p:spPr>
          <a:xfrm>
            <a:off x="8498914" y="1211909"/>
            <a:ext cx="0" cy="8594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11BA5C9-532C-9E57-3356-823F88A10C87}"/>
              </a:ext>
            </a:extLst>
          </p:cNvPr>
          <p:cNvCxnSpPr>
            <a:cxnSpLocks/>
            <a:endCxn id="200" idx="2"/>
          </p:cNvCxnSpPr>
          <p:nvPr/>
        </p:nvCxnSpPr>
        <p:spPr>
          <a:xfrm>
            <a:off x="6084598" y="786535"/>
            <a:ext cx="0" cy="346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4C2E1D4C-9706-DCA5-D60A-A3E2B32E931A}"/>
              </a:ext>
            </a:extLst>
          </p:cNvPr>
          <p:cNvCxnSpPr>
            <a:cxnSpLocks/>
            <a:endCxn id="212" idx="2"/>
          </p:cNvCxnSpPr>
          <p:nvPr/>
        </p:nvCxnSpPr>
        <p:spPr>
          <a:xfrm>
            <a:off x="8498914" y="793062"/>
            <a:ext cx="0" cy="346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0">
            <a:extLst>
              <a:ext uri="{FF2B5EF4-FFF2-40B4-BE49-F238E27FC236}">
                <a16:creationId xmlns:a16="http://schemas.microsoft.com/office/drawing/2014/main" id="{EB475DDA-7B38-2576-AFE4-6EC334403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6433" y="1970725"/>
            <a:ext cx="2865613" cy="206533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de-DE" sz="1200" dirty="0"/>
              <a:t> Load Balancer</a:t>
            </a:r>
            <a:endParaRPr lang="en-US" sz="1200" dirty="0"/>
          </a:p>
        </p:txBody>
      </p:sp>
      <p:sp>
        <p:nvSpPr>
          <p:cNvPr id="31" name="Rectangle 48">
            <a:extLst>
              <a:ext uri="{FF2B5EF4-FFF2-40B4-BE49-F238E27FC236}">
                <a16:creationId xmlns:a16="http://schemas.microsoft.com/office/drawing/2014/main" id="{EC482A72-1767-DAEE-C714-7C580FD9E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8884" y="586559"/>
            <a:ext cx="1412818" cy="395535"/>
          </a:xfrm>
          <a:prstGeom prst="rect">
            <a:avLst/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>
              <a:buClrTx/>
              <a:buSzTx/>
              <a:buFontTx/>
              <a:buNone/>
            </a:pPr>
            <a:r>
              <a:rPr lang="de-DE" sz="1200" dirty="0"/>
              <a:t> User</a:t>
            </a:r>
            <a:endParaRPr lang="en-US" sz="1200" dirty="0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E2E94BBF-1B4F-00EA-25ED-549B47538C75}"/>
              </a:ext>
            </a:extLst>
          </p:cNvPr>
          <p:cNvCxnSpPr>
            <a:cxnSpLocks/>
            <a:endCxn id="206" idx="2"/>
          </p:cNvCxnSpPr>
          <p:nvPr/>
        </p:nvCxnSpPr>
        <p:spPr>
          <a:xfrm>
            <a:off x="7154263" y="784316"/>
            <a:ext cx="0" cy="346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49">
            <a:extLst>
              <a:ext uri="{FF2B5EF4-FFF2-40B4-BE49-F238E27FC236}">
                <a16:creationId xmlns:a16="http://schemas.microsoft.com/office/drawing/2014/main" id="{9DBF7E3E-9635-FD40-1900-07C80A3820D9}"/>
              </a:ext>
            </a:extLst>
          </p:cNvPr>
          <p:cNvGrpSpPr>
            <a:grpSpLocks/>
          </p:cNvGrpSpPr>
          <p:nvPr/>
        </p:nvGrpSpPr>
        <p:grpSpPr bwMode="auto">
          <a:xfrm>
            <a:off x="5623757" y="599320"/>
            <a:ext cx="163512" cy="341488"/>
            <a:chOff x="1348" y="521"/>
            <a:chExt cx="103" cy="181"/>
          </a:xfrm>
        </p:grpSpPr>
        <p:sp>
          <p:nvSpPr>
            <p:cNvPr id="33" name="Oval 50">
              <a:extLst>
                <a:ext uri="{FF2B5EF4-FFF2-40B4-BE49-F238E27FC236}">
                  <a16:creationId xmlns:a16="http://schemas.microsoft.com/office/drawing/2014/main" id="{0AE74A29-0595-7647-ABA9-F4EF9A808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4" y="522"/>
              <a:ext cx="52" cy="52"/>
            </a:xfrm>
            <a:prstGeom prst="ellips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51">
              <a:extLst>
                <a:ext uri="{FF2B5EF4-FFF2-40B4-BE49-F238E27FC236}">
                  <a16:creationId xmlns:a16="http://schemas.microsoft.com/office/drawing/2014/main" id="{A6DFFF6D-A287-BE42-01F1-9A5E4FA64E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574"/>
              <a:ext cx="1" cy="78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52">
              <a:extLst>
                <a:ext uri="{FF2B5EF4-FFF2-40B4-BE49-F238E27FC236}">
                  <a16:creationId xmlns:a16="http://schemas.microsoft.com/office/drawing/2014/main" id="{E468D34F-B0EA-DC51-6C8E-A9FAF8E5A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0" y="572"/>
              <a:ext cx="52" cy="28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53">
              <a:extLst>
                <a:ext uri="{FF2B5EF4-FFF2-40B4-BE49-F238E27FC236}">
                  <a16:creationId xmlns:a16="http://schemas.microsoft.com/office/drawing/2014/main" id="{412D9736-4D4C-3BBB-859D-42E9A005A4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47" y="572"/>
              <a:ext cx="54" cy="28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54">
              <a:extLst>
                <a:ext uri="{FF2B5EF4-FFF2-40B4-BE49-F238E27FC236}">
                  <a16:creationId xmlns:a16="http://schemas.microsoft.com/office/drawing/2014/main" id="{1FE1E72C-BB52-FB51-59F4-9CBA16625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7" y="651"/>
              <a:ext cx="54" cy="52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55">
              <a:extLst>
                <a:ext uri="{FF2B5EF4-FFF2-40B4-BE49-F238E27FC236}">
                  <a16:creationId xmlns:a16="http://schemas.microsoft.com/office/drawing/2014/main" id="{0088801B-09BA-3C92-240F-4A773997C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651"/>
              <a:ext cx="52" cy="52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48">
            <a:extLst>
              <a:ext uri="{FF2B5EF4-FFF2-40B4-BE49-F238E27FC236}">
                <a16:creationId xmlns:a16="http://schemas.microsoft.com/office/drawing/2014/main" id="{6E16A310-020A-C3A5-2101-F5FAC7610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1660" y="587182"/>
            <a:ext cx="1233055" cy="395533"/>
          </a:xfrm>
          <a:prstGeom prst="rect">
            <a:avLst/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de-DE" sz="1200" dirty="0"/>
              <a:t> Shoot Data Plane</a:t>
            </a:r>
            <a:endParaRPr lang="en-US" sz="1200" dirty="0"/>
          </a:p>
        </p:txBody>
      </p:sp>
      <p:sp>
        <p:nvSpPr>
          <p:cNvPr id="40" name="Rectangle 48">
            <a:extLst>
              <a:ext uri="{FF2B5EF4-FFF2-40B4-BE49-F238E27FC236}">
                <a16:creationId xmlns:a16="http://schemas.microsoft.com/office/drawing/2014/main" id="{DC202EEE-642A-F76F-2B7D-73567A805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673" y="586559"/>
            <a:ext cx="1233055" cy="395535"/>
          </a:xfrm>
          <a:prstGeom prst="rect">
            <a:avLst/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de-DE" sz="1200" dirty="0"/>
              <a:t>Other Systems</a:t>
            </a:r>
            <a:endParaRPr lang="en-US" sz="12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308F35-CAD0-2A92-4423-0A8BC7A85891}"/>
              </a:ext>
            </a:extLst>
          </p:cNvPr>
          <p:cNvSpPr/>
          <p:nvPr/>
        </p:nvSpPr>
        <p:spPr>
          <a:xfrm>
            <a:off x="5968904" y="4541444"/>
            <a:ext cx="1145512" cy="730567"/>
          </a:xfrm>
          <a:prstGeom prst="rect">
            <a:avLst/>
          </a:prstGeom>
          <a:solidFill>
            <a:srgbClr val="E56A1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Shoot Cluster Control Plane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207BDA-2DDA-D8FC-6C18-9D032FF6D427}"/>
              </a:ext>
            </a:extLst>
          </p:cNvPr>
          <p:cNvSpPr/>
          <p:nvPr/>
        </p:nvSpPr>
        <p:spPr>
          <a:xfrm>
            <a:off x="7556538" y="4541444"/>
            <a:ext cx="1145512" cy="730567"/>
          </a:xfrm>
          <a:prstGeom prst="rect">
            <a:avLst/>
          </a:prstGeom>
          <a:solidFill>
            <a:srgbClr val="E56A1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Shoot Cluster Control Plane</a:t>
            </a:r>
          </a:p>
        </p:txBody>
      </p:sp>
      <p:sp>
        <p:nvSpPr>
          <p:cNvPr id="45" name="Text Box 139">
            <a:extLst>
              <a:ext uri="{FF2B5EF4-FFF2-40B4-BE49-F238E27FC236}">
                <a16:creationId xmlns:a16="http://schemas.microsoft.com/office/drawing/2014/main" id="{9751EBAF-A6EB-EEDD-3FF0-F1503D7FA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3330" y="4663745"/>
            <a:ext cx="43180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800" b="1" dirty="0">
                <a:latin typeface="Times New Roman" pitchFamily="18" charset="0"/>
              </a:rPr>
              <a:t>...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AC16FEC-92DC-8522-42C9-EFF8131B6A52}"/>
              </a:ext>
            </a:extLst>
          </p:cNvPr>
          <p:cNvCxnSpPr>
            <a:cxnSpLocks/>
          </p:cNvCxnSpPr>
          <p:nvPr/>
        </p:nvCxnSpPr>
        <p:spPr>
          <a:xfrm>
            <a:off x="5714238" y="3281576"/>
            <a:ext cx="0" cy="229876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763188-3D46-8AB8-1406-4D4E6368635C}"/>
              </a:ext>
            </a:extLst>
          </p:cNvPr>
          <p:cNvCxnSpPr>
            <a:cxnSpLocks/>
            <a:endCxn id="145" idx="2"/>
          </p:cNvCxnSpPr>
          <p:nvPr/>
        </p:nvCxnSpPr>
        <p:spPr>
          <a:xfrm flipH="1">
            <a:off x="8125562" y="3707239"/>
            <a:ext cx="7420" cy="54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6E48860-FDED-C323-1165-ADDD2E956E6F}"/>
              </a:ext>
            </a:extLst>
          </p:cNvPr>
          <p:cNvSpPr txBox="1"/>
          <p:nvPr/>
        </p:nvSpPr>
        <p:spPr>
          <a:xfrm>
            <a:off x="9137733" y="3955710"/>
            <a:ext cx="164245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000" dirty="0" err="1"/>
              <a:t>Kubernetes</a:t>
            </a:r>
            <a:r>
              <a:rPr lang="de-DE" sz="1000" dirty="0"/>
              <a:t> Network </a:t>
            </a:r>
            <a:r>
              <a:rPr lang="de-DE" sz="1000" dirty="0" err="1"/>
              <a:t>Policies</a:t>
            </a:r>
            <a:endParaRPr lang="en-US" sz="1000" dirty="0"/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91F366E-7F6E-826E-B4A0-CB3B21917BEA}"/>
              </a:ext>
            </a:extLst>
          </p:cNvPr>
          <p:cNvCxnSpPr>
            <a:cxnSpLocks/>
            <a:endCxn id="131" idx="2"/>
          </p:cNvCxnSpPr>
          <p:nvPr/>
        </p:nvCxnSpPr>
        <p:spPr>
          <a:xfrm flipH="1">
            <a:off x="6543996" y="3685500"/>
            <a:ext cx="7420" cy="54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38">
            <a:extLst>
              <a:ext uri="{FF2B5EF4-FFF2-40B4-BE49-F238E27FC236}">
                <a16:creationId xmlns:a16="http://schemas.microsoft.com/office/drawing/2014/main" id="{3CDF6BCB-1036-7F66-C30B-DA096CE72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6433" y="3576868"/>
            <a:ext cx="2865613" cy="3897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/>
              <a:t>Istio Ingress Gateway</a:t>
            </a:r>
          </a:p>
        </p:txBody>
      </p:sp>
      <p:sp>
        <p:nvSpPr>
          <p:cNvPr id="83" name="Rectangle 138">
            <a:extLst>
              <a:ext uri="{FF2B5EF4-FFF2-40B4-BE49-F238E27FC236}">
                <a16:creationId xmlns:a16="http://schemas.microsoft.com/office/drawing/2014/main" id="{95FA82D2-33FD-5A26-6450-45D597C6C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249" y="1962731"/>
            <a:ext cx="1367747" cy="2065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/>
              <a:t>Seed Cluster API LB</a:t>
            </a:r>
          </a:p>
        </p:txBody>
      </p:sp>
      <p:sp>
        <p:nvSpPr>
          <p:cNvPr id="84" name="Rectangle 138">
            <a:extLst>
              <a:ext uri="{FF2B5EF4-FFF2-40B4-BE49-F238E27FC236}">
                <a16:creationId xmlns:a16="http://schemas.microsoft.com/office/drawing/2014/main" id="{E15ED9BB-DC6C-F454-9534-C5DFA9813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249" y="3580374"/>
            <a:ext cx="1367747" cy="39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/>
              <a:t>Seed Cluster</a:t>
            </a:r>
          </a:p>
          <a:p>
            <a:pPr algn="ctr"/>
            <a:r>
              <a:rPr lang="en-US" sz="1200" dirty="0"/>
              <a:t>Control Plane</a:t>
            </a:r>
          </a:p>
        </p:txBody>
      </p:sp>
      <p:grpSp>
        <p:nvGrpSpPr>
          <p:cNvPr id="85" name="Group 133">
            <a:extLst>
              <a:ext uri="{FF2B5EF4-FFF2-40B4-BE49-F238E27FC236}">
                <a16:creationId xmlns:a16="http://schemas.microsoft.com/office/drawing/2014/main" id="{1E014476-677D-43C5-3675-16D981B7FAE8}"/>
              </a:ext>
            </a:extLst>
          </p:cNvPr>
          <p:cNvGrpSpPr>
            <a:grpSpLocks/>
          </p:cNvGrpSpPr>
          <p:nvPr/>
        </p:nvGrpSpPr>
        <p:grpSpPr bwMode="auto">
          <a:xfrm>
            <a:off x="1800048" y="3981214"/>
            <a:ext cx="224283" cy="251319"/>
            <a:chOff x="998" y="3624"/>
            <a:chExt cx="271" cy="271"/>
          </a:xfrm>
        </p:grpSpPr>
        <p:sp>
          <p:nvSpPr>
            <p:cNvPr id="86" name="Freeform 134">
              <a:extLst>
                <a:ext uri="{FF2B5EF4-FFF2-40B4-BE49-F238E27FC236}">
                  <a16:creationId xmlns:a16="http://schemas.microsoft.com/office/drawing/2014/main" id="{ECBF213A-5D10-BF43-05EB-20FED4569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" y="3624"/>
              <a:ext cx="46" cy="272"/>
            </a:xfrm>
            <a:custGeom>
              <a:avLst/>
              <a:gdLst>
                <a:gd name="T0" fmla="*/ 3 w 201"/>
                <a:gd name="T1" fmla="*/ 0 h 1201"/>
                <a:gd name="T2" fmla="*/ 3 w 201"/>
                <a:gd name="T3" fmla="*/ 14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200" y="0"/>
                  </a:moveTo>
                  <a:cubicBezTo>
                    <a:pt x="0" y="400"/>
                    <a:pt x="0" y="800"/>
                    <a:pt x="200" y="120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35">
              <a:extLst>
                <a:ext uri="{FF2B5EF4-FFF2-40B4-BE49-F238E27FC236}">
                  <a16:creationId xmlns:a16="http://schemas.microsoft.com/office/drawing/2014/main" id="{10CFD70E-E58D-C1F5-9D71-8504E72A5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3624"/>
              <a:ext cx="46" cy="272"/>
            </a:xfrm>
            <a:custGeom>
              <a:avLst/>
              <a:gdLst>
                <a:gd name="T0" fmla="*/ 0 w 201"/>
                <a:gd name="T1" fmla="*/ 14 h 1201"/>
                <a:gd name="T2" fmla="*/ 0 w 201"/>
                <a:gd name="T3" fmla="*/ 0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0" y="1200"/>
                  </a:moveTo>
                  <a:cubicBezTo>
                    <a:pt x="200" y="800"/>
                    <a:pt x="200" y="400"/>
                    <a:pt x="0" y="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AutoShape 136">
              <a:extLst>
                <a:ext uri="{FF2B5EF4-FFF2-40B4-BE49-F238E27FC236}">
                  <a16:creationId xmlns:a16="http://schemas.microsoft.com/office/drawing/2014/main" id="{6F5EC2A1-6151-69BE-2724-4EBB16344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3624"/>
              <a:ext cx="272" cy="272"/>
            </a:xfrm>
            <a:prstGeom prst="roundRect">
              <a:avLst>
                <a:gd name="adj" fmla="val 36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" name="AutoShape 29">
            <a:extLst>
              <a:ext uri="{FF2B5EF4-FFF2-40B4-BE49-F238E27FC236}">
                <a16:creationId xmlns:a16="http://schemas.microsoft.com/office/drawing/2014/main" id="{FDF62AF8-FE6F-2110-6299-39399840C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09" y="4235789"/>
            <a:ext cx="1152626" cy="407892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17780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200" dirty="0"/>
              <a:t> Storage</a:t>
            </a:r>
          </a:p>
          <a:p>
            <a:pPr>
              <a:buClrTx/>
              <a:buSzTx/>
              <a:buFontTx/>
              <a:buNone/>
            </a:pPr>
            <a:r>
              <a:rPr lang="de-DE" sz="600" dirty="0"/>
              <a:t>[K8s] DS, RS, SS, J, ...</a:t>
            </a:r>
            <a:br>
              <a:rPr lang="de-DE" sz="600" dirty="0"/>
            </a:br>
            <a:r>
              <a:rPr lang="de-DE" sz="600" dirty="0"/>
              <a:t>[CRD] </a:t>
            </a:r>
            <a:r>
              <a:rPr lang="de-DE" sz="600" dirty="0" err="1"/>
              <a:t>Machine</a:t>
            </a:r>
            <a:r>
              <a:rPr lang="de-DE" sz="600" dirty="0"/>
              <a:t> </a:t>
            </a:r>
            <a:r>
              <a:rPr lang="de-DE" sz="600" dirty="0" err="1"/>
              <a:t>Deployment</a:t>
            </a:r>
            <a:endParaRPr lang="de-DE" sz="600" dirty="0"/>
          </a:p>
          <a:p>
            <a:pPr>
              <a:buClrTx/>
              <a:buSzTx/>
              <a:buFontTx/>
              <a:buNone/>
            </a:pPr>
            <a:endParaRPr lang="de-DE" sz="600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45E6EB8-16BA-08B0-AA2F-1950A24B98A2}"/>
              </a:ext>
            </a:extLst>
          </p:cNvPr>
          <p:cNvCxnSpPr>
            <a:cxnSpLocks/>
            <a:stCxn id="84" idx="0"/>
            <a:endCxn id="83" idx="2"/>
          </p:cNvCxnSpPr>
          <p:nvPr/>
        </p:nvCxnSpPr>
        <p:spPr>
          <a:xfrm flipV="1">
            <a:off x="1916123" y="2169263"/>
            <a:ext cx="0" cy="1411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3A46FBD-2CAB-7817-0E07-C92131FCFE69}"/>
              </a:ext>
            </a:extLst>
          </p:cNvPr>
          <p:cNvGrpSpPr/>
          <p:nvPr/>
        </p:nvGrpSpPr>
        <p:grpSpPr>
          <a:xfrm>
            <a:off x="1796496" y="2992576"/>
            <a:ext cx="151694" cy="171451"/>
            <a:chOff x="4873292" y="193240"/>
            <a:chExt cx="151694" cy="171451"/>
          </a:xfrm>
        </p:grpSpPr>
        <p:sp>
          <p:nvSpPr>
            <p:cNvPr id="92" name="Line 104">
              <a:extLst>
                <a:ext uri="{FF2B5EF4-FFF2-40B4-BE49-F238E27FC236}">
                  <a16:creationId xmlns:a16="http://schemas.microsoft.com/office/drawing/2014/main" id="{195BE7C8-2A99-2F7A-0FB7-9DE45238FB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93" name="AutoShape 76">
              <a:extLst>
                <a:ext uri="{FF2B5EF4-FFF2-40B4-BE49-F238E27FC236}">
                  <a16:creationId xmlns:a16="http://schemas.microsoft.com/office/drawing/2014/main" id="{D6FC738B-2C81-A0D7-7B81-64D37F0949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94" name="Text Box 105">
              <a:extLst>
                <a:ext uri="{FF2B5EF4-FFF2-40B4-BE49-F238E27FC236}">
                  <a16:creationId xmlns:a16="http://schemas.microsoft.com/office/drawing/2014/main" id="{6EB20419-FB24-64A2-90E9-FE9F46665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</p:grpSp>
      <p:sp>
        <p:nvSpPr>
          <p:cNvPr id="96" name="Rectangle 138">
            <a:extLst>
              <a:ext uri="{FF2B5EF4-FFF2-40B4-BE49-F238E27FC236}">
                <a16:creationId xmlns:a16="http://schemas.microsoft.com/office/drawing/2014/main" id="{997D926D-41AC-BC60-BEE0-9682FC142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0617" y="3568555"/>
            <a:ext cx="2246833" cy="18865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b"/>
          <a:lstStyle/>
          <a:p>
            <a:r>
              <a:rPr lang="en-US" sz="1200" dirty="0"/>
              <a:t>Gardener System Components</a:t>
            </a:r>
          </a:p>
        </p:txBody>
      </p:sp>
      <p:sp>
        <p:nvSpPr>
          <p:cNvPr id="97" name="Rectangle 138">
            <a:extLst>
              <a:ext uri="{FF2B5EF4-FFF2-40B4-BE49-F238E27FC236}">
                <a16:creationId xmlns:a16="http://schemas.microsoft.com/office/drawing/2014/main" id="{A9CDACF2-56C0-394C-3F76-431966A8A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2918" y="4761201"/>
            <a:ext cx="1367745" cy="39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 err="1"/>
              <a:t>Gardenlet</a:t>
            </a:r>
            <a:endParaRPr lang="en-US" sz="1000" dirty="0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9880B68A-EB2D-2EEC-7B74-8C342F99225B}"/>
              </a:ext>
            </a:extLst>
          </p:cNvPr>
          <p:cNvSpPr/>
          <p:nvPr/>
        </p:nvSpPr>
        <p:spPr>
          <a:xfrm>
            <a:off x="5813926" y="4398628"/>
            <a:ext cx="3031964" cy="103196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pSp>
        <p:nvGrpSpPr>
          <p:cNvPr id="100" name="Group 133">
            <a:extLst>
              <a:ext uri="{FF2B5EF4-FFF2-40B4-BE49-F238E27FC236}">
                <a16:creationId xmlns:a16="http://schemas.microsoft.com/office/drawing/2014/main" id="{845A5549-D105-2D40-3F8D-5050773A48B3}"/>
              </a:ext>
            </a:extLst>
          </p:cNvPr>
          <p:cNvGrpSpPr>
            <a:grpSpLocks/>
          </p:cNvGrpSpPr>
          <p:nvPr/>
        </p:nvGrpSpPr>
        <p:grpSpPr bwMode="auto">
          <a:xfrm>
            <a:off x="4537983" y="2229380"/>
            <a:ext cx="334126" cy="1450913"/>
            <a:chOff x="998" y="3624"/>
            <a:chExt cx="271" cy="271"/>
          </a:xfrm>
        </p:grpSpPr>
        <p:sp>
          <p:nvSpPr>
            <p:cNvPr id="101" name="Freeform 134">
              <a:extLst>
                <a:ext uri="{FF2B5EF4-FFF2-40B4-BE49-F238E27FC236}">
                  <a16:creationId xmlns:a16="http://schemas.microsoft.com/office/drawing/2014/main" id="{9A006499-2FC4-AFB2-43D6-F6BCD6E70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" y="3624"/>
              <a:ext cx="46" cy="272"/>
            </a:xfrm>
            <a:custGeom>
              <a:avLst/>
              <a:gdLst>
                <a:gd name="T0" fmla="*/ 3 w 201"/>
                <a:gd name="T1" fmla="*/ 0 h 1201"/>
                <a:gd name="T2" fmla="*/ 3 w 201"/>
                <a:gd name="T3" fmla="*/ 14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200" y="0"/>
                  </a:moveTo>
                  <a:cubicBezTo>
                    <a:pt x="0" y="400"/>
                    <a:pt x="0" y="800"/>
                    <a:pt x="200" y="120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35">
              <a:extLst>
                <a:ext uri="{FF2B5EF4-FFF2-40B4-BE49-F238E27FC236}">
                  <a16:creationId xmlns:a16="http://schemas.microsoft.com/office/drawing/2014/main" id="{6795005A-B60B-4956-6FF5-ACBC2900F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3624"/>
              <a:ext cx="46" cy="272"/>
            </a:xfrm>
            <a:custGeom>
              <a:avLst/>
              <a:gdLst>
                <a:gd name="T0" fmla="*/ 0 w 201"/>
                <a:gd name="T1" fmla="*/ 14 h 1201"/>
                <a:gd name="T2" fmla="*/ 0 w 201"/>
                <a:gd name="T3" fmla="*/ 0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0" y="1200"/>
                  </a:moveTo>
                  <a:cubicBezTo>
                    <a:pt x="200" y="800"/>
                    <a:pt x="200" y="400"/>
                    <a:pt x="0" y="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AutoShape 136">
              <a:extLst>
                <a:ext uri="{FF2B5EF4-FFF2-40B4-BE49-F238E27FC236}">
                  <a16:creationId xmlns:a16="http://schemas.microsoft.com/office/drawing/2014/main" id="{CC2BD984-CD13-BEE4-CD8B-3F1A6FFE9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3624"/>
              <a:ext cx="272" cy="272"/>
            </a:xfrm>
            <a:prstGeom prst="roundRect">
              <a:avLst>
                <a:gd name="adj" fmla="val 36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7931146-75C5-5660-2D2E-BB55CFF9965A}"/>
              </a:ext>
            </a:extLst>
          </p:cNvPr>
          <p:cNvCxnSpPr>
            <a:cxnSpLocks/>
          </p:cNvCxnSpPr>
          <p:nvPr/>
        </p:nvCxnSpPr>
        <p:spPr>
          <a:xfrm flipH="1">
            <a:off x="5752553" y="4136126"/>
            <a:ext cx="502763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38">
            <a:extLst>
              <a:ext uri="{FF2B5EF4-FFF2-40B4-BE49-F238E27FC236}">
                <a16:creationId xmlns:a16="http://schemas.microsoft.com/office/drawing/2014/main" id="{41172609-22C5-E677-2985-CFA648E72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486" y="4226667"/>
            <a:ext cx="1367745" cy="3893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Gardener Resource Manager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3F87A38C-77C4-2F84-00B6-763C1D3C94F9}"/>
              </a:ext>
            </a:extLst>
          </p:cNvPr>
          <p:cNvCxnSpPr>
            <a:cxnSpLocks/>
            <a:endCxn id="178" idx="2"/>
          </p:cNvCxnSpPr>
          <p:nvPr/>
        </p:nvCxnSpPr>
        <p:spPr>
          <a:xfrm>
            <a:off x="5128904" y="2079182"/>
            <a:ext cx="0" cy="7078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68692E46-3167-2A75-CE4D-9E12E33FBF6E}"/>
              </a:ext>
            </a:extLst>
          </p:cNvPr>
          <p:cNvCxnSpPr>
            <a:cxnSpLocks/>
            <a:stCxn id="186" idx="6"/>
          </p:cNvCxnSpPr>
          <p:nvPr/>
        </p:nvCxnSpPr>
        <p:spPr>
          <a:xfrm>
            <a:off x="5128904" y="1215346"/>
            <a:ext cx="0" cy="8594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33">
            <a:extLst>
              <a:ext uri="{FF2B5EF4-FFF2-40B4-BE49-F238E27FC236}">
                <a16:creationId xmlns:a16="http://schemas.microsoft.com/office/drawing/2014/main" id="{D73934AD-5DF3-79C5-17F1-1759026F4741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500158" y="4749969"/>
            <a:ext cx="224283" cy="415778"/>
            <a:chOff x="998" y="3624"/>
            <a:chExt cx="271" cy="271"/>
          </a:xfrm>
        </p:grpSpPr>
        <p:sp>
          <p:nvSpPr>
            <p:cNvPr id="110" name="Freeform 134">
              <a:extLst>
                <a:ext uri="{FF2B5EF4-FFF2-40B4-BE49-F238E27FC236}">
                  <a16:creationId xmlns:a16="http://schemas.microsoft.com/office/drawing/2014/main" id="{B36F1860-EE76-1544-292A-F557F5032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" y="3624"/>
              <a:ext cx="46" cy="272"/>
            </a:xfrm>
            <a:custGeom>
              <a:avLst/>
              <a:gdLst>
                <a:gd name="T0" fmla="*/ 3 w 201"/>
                <a:gd name="T1" fmla="*/ 0 h 1201"/>
                <a:gd name="T2" fmla="*/ 3 w 201"/>
                <a:gd name="T3" fmla="*/ 14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200" y="0"/>
                  </a:moveTo>
                  <a:cubicBezTo>
                    <a:pt x="0" y="400"/>
                    <a:pt x="0" y="800"/>
                    <a:pt x="200" y="120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35">
              <a:extLst>
                <a:ext uri="{FF2B5EF4-FFF2-40B4-BE49-F238E27FC236}">
                  <a16:creationId xmlns:a16="http://schemas.microsoft.com/office/drawing/2014/main" id="{3028FA6C-C186-EA12-F6EE-9A7942AE4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3624"/>
              <a:ext cx="46" cy="272"/>
            </a:xfrm>
            <a:custGeom>
              <a:avLst/>
              <a:gdLst>
                <a:gd name="T0" fmla="*/ 0 w 201"/>
                <a:gd name="T1" fmla="*/ 14 h 1201"/>
                <a:gd name="T2" fmla="*/ 0 w 201"/>
                <a:gd name="T3" fmla="*/ 0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0" y="1200"/>
                  </a:moveTo>
                  <a:cubicBezTo>
                    <a:pt x="200" y="800"/>
                    <a:pt x="200" y="400"/>
                    <a:pt x="0" y="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AutoShape 136">
              <a:extLst>
                <a:ext uri="{FF2B5EF4-FFF2-40B4-BE49-F238E27FC236}">
                  <a16:creationId xmlns:a16="http://schemas.microsoft.com/office/drawing/2014/main" id="{93996525-4056-CBD3-1FE3-E4F94B77E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3624"/>
              <a:ext cx="272" cy="272"/>
            </a:xfrm>
            <a:prstGeom prst="roundRect">
              <a:avLst>
                <a:gd name="adj" fmla="val 36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3" name="Rectangle 30">
            <a:extLst>
              <a:ext uri="{FF2B5EF4-FFF2-40B4-BE49-F238E27FC236}">
                <a16:creationId xmlns:a16="http://schemas.microsoft.com/office/drawing/2014/main" id="{83FD05B7-3C3B-715C-6878-3B514DF13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464" y="1955762"/>
            <a:ext cx="1367745" cy="201266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de-DE" sz="1200" dirty="0"/>
              <a:t> Bastion</a:t>
            </a:r>
            <a:endParaRPr lang="en-US" sz="1200" dirty="0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F0850AAD-31CA-4FB2-4E70-694F38C8E515}"/>
              </a:ext>
            </a:extLst>
          </p:cNvPr>
          <p:cNvCxnSpPr>
            <a:cxnSpLocks/>
            <a:stCxn id="178" idx="6"/>
          </p:cNvCxnSpPr>
          <p:nvPr/>
        </p:nvCxnSpPr>
        <p:spPr>
          <a:xfrm>
            <a:off x="5128904" y="2859018"/>
            <a:ext cx="0" cy="9130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2642A4B6-DCDD-A904-C25E-E8EDA1FB4974}"/>
              </a:ext>
            </a:extLst>
          </p:cNvPr>
          <p:cNvSpPr/>
          <p:nvPr/>
        </p:nvSpPr>
        <p:spPr>
          <a:xfrm>
            <a:off x="3972711" y="1883410"/>
            <a:ext cx="1508160" cy="34626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6" name="Rectangle 138">
            <a:extLst>
              <a:ext uri="{FF2B5EF4-FFF2-40B4-BE49-F238E27FC236}">
                <a16:creationId xmlns:a16="http://schemas.microsoft.com/office/drawing/2014/main" id="{1820D465-B521-22FA-6417-654210436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418" y="3685500"/>
            <a:ext cx="1365835" cy="39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Infrastructure Provider Extension</a:t>
            </a:r>
          </a:p>
        </p:txBody>
      </p:sp>
      <p:grpSp>
        <p:nvGrpSpPr>
          <p:cNvPr id="117" name="Group 133">
            <a:extLst>
              <a:ext uri="{FF2B5EF4-FFF2-40B4-BE49-F238E27FC236}">
                <a16:creationId xmlns:a16="http://schemas.microsoft.com/office/drawing/2014/main" id="{9A64ECBF-103E-1421-C39D-24FBBBFF0F2D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440927" y="4266848"/>
            <a:ext cx="224283" cy="315632"/>
            <a:chOff x="998" y="3624"/>
            <a:chExt cx="271" cy="271"/>
          </a:xfrm>
        </p:grpSpPr>
        <p:sp>
          <p:nvSpPr>
            <p:cNvPr id="118" name="Freeform 134">
              <a:extLst>
                <a:ext uri="{FF2B5EF4-FFF2-40B4-BE49-F238E27FC236}">
                  <a16:creationId xmlns:a16="http://schemas.microsoft.com/office/drawing/2014/main" id="{0D6A11FF-CFA4-6672-10AD-E9141A015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" y="3624"/>
              <a:ext cx="46" cy="272"/>
            </a:xfrm>
            <a:custGeom>
              <a:avLst/>
              <a:gdLst>
                <a:gd name="T0" fmla="*/ 3 w 201"/>
                <a:gd name="T1" fmla="*/ 0 h 1201"/>
                <a:gd name="T2" fmla="*/ 3 w 201"/>
                <a:gd name="T3" fmla="*/ 14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200" y="0"/>
                  </a:moveTo>
                  <a:cubicBezTo>
                    <a:pt x="0" y="400"/>
                    <a:pt x="0" y="800"/>
                    <a:pt x="200" y="120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35">
              <a:extLst>
                <a:ext uri="{FF2B5EF4-FFF2-40B4-BE49-F238E27FC236}">
                  <a16:creationId xmlns:a16="http://schemas.microsoft.com/office/drawing/2014/main" id="{B109C6BD-67A4-3B4A-852E-B173DD227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3624"/>
              <a:ext cx="46" cy="272"/>
            </a:xfrm>
            <a:custGeom>
              <a:avLst/>
              <a:gdLst>
                <a:gd name="T0" fmla="*/ 0 w 201"/>
                <a:gd name="T1" fmla="*/ 14 h 1201"/>
                <a:gd name="T2" fmla="*/ 0 w 201"/>
                <a:gd name="T3" fmla="*/ 0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0" y="1200"/>
                  </a:moveTo>
                  <a:cubicBezTo>
                    <a:pt x="200" y="800"/>
                    <a:pt x="200" y="400"/>
                    <a:pt x="0" y="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AutoShape 136">
              <a:extLst>
                <a:ext uri="{FF2B5EF4-FFF2-40B4-BE49-F238E27FC236}">
                  <a16:creationId xmlns:a16="http://schemas.microsoft.com/office/drawing/2014/main" id="{8B24928D-82B1-658A-A292-58B0E0334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3624"/>
              <a:ext cx="272" cy="272"/>
            </a:xfrm>
            <a:prstGeom prst="roundRect">
              <a:avLst>
                <a:gd name="adj" fmla="val 36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1509DF7-1630-0CFF-E80E-D26C1BC9382D}"/>
              </a:ext>
            </a:extLst>
          </p:cNvPr>
          <p:cNvGrpSpPr/>
          <p:nvPr/>
        </p:nvGrpSpPr>
        <p:grpSpPr>
          <a:xfrm>
            <a:off x="-277953" y="5986667"/>
            <a:ext cx="180269" cy="171029"/>
            <a:chOff x="5145186" y="581648"/>
            <a:chExt cx="180269" cy="171029"/>
          </a:xfrm>
        </p:grpSpPr>
        <p:sp>
          <p:nvSpPr>
            <p:cNvPr id="3" name="Line 104">
              <a:extLst>
                <a:ext uri="{FF2B5EF4-FFF2-40B4-BE49-F238E27FC236}">
                  <a16:creationId xmlns:a16="http://schemas.microsoft.com/office/drawing/2014/main" id="{3D3FF51A-03AA-87F4-5F2F-28B1E7AF1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66717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15" name="Text Box 105">
              <a:extLst>
                <a:ext uri="{FF2B5EF4-FFF2-40B4-BE49-F238E27FC236}">
                  <a16:creationId xmlns:a16="http://schemas.microsoft.com/office/drawing/2014/main" id="{555344B0-2542-BAB8-1220-A4E7DAEF2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239730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16" name="AutoShape 76">
              <a:extLst>
                <a:ext uri="{FF2B5EF4-FFF2-40B4-BE49-F238E27FC236}">
                  <a16:creationId xmlns:a16="http://schemas.microsoft.com/office/drawing/2014/main" id="{2A975A47-07FC-5245-963F-714DF81E6D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1451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B972C33-8275-87C9-BFC6-19A5D9FC28A4}"/>
              </a:ext>
            </a:extLst>
          </p:cNvPr>
          <p:cNvGrpSpPr/>
          <p:nvPr/>
        </p:nvGrpSpPr>
        <p:grpSpPr>
          <a:xfrm>
            <a:off x="-664302" y="5709692"/>
            <a:ext cx="151694" cy="171451"/>
            <a:chOff x="-664302" y="5709692"/>
            <a:chExt cx="151694" cy="171451"/>
          </a:xfrm>
        </p:grpSpPr>
        <p:sp>
          <p:nvSpPr>
            <p:cNvPr id="18" name="Line 104">
              <a:extLst>
                <a:ext uri="{FF2B5EF4-FFF2-40B4-BE49-F238E27FC236}">
                  <a16:creationId xmlns:a16="http://schemas.microsoft.com/office/drawing/2014/main" id="{57EE759D-3B0A-243F-6916-65AC2E062E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37314" y="5846399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19" name="Text Box 105">
              <a:extLst>
                <a:ext uri="{FF2B5EF4-FFF2-40B4-BE49-F238E27FC236}">
                  <a16:creationId xmlns:a16="http://schemas.microsoft.com/office/drawing/2014/main" id="{BE457E47-8E1C-8456-CA35-96ED9C90A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64302" y="570969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20" name="AutoShape 76">
              <a:extLst>
                <a:ext uri="{FF2B5EF4-FFF2-40B4-BE49-F238E27FC236}">
                  <a16:creationId xmlns:a16="http://schemas.microsoft.com/office/drawing/2014/main" id="{0FB60B4C-E62C-8C70-EF8D-6B11CFF846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584608" y="5774399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130D38-B50D-DB7F-46CE-7A495DFFEB75}"/>
              </a:ext>
            </a:extLst>
          </p:cNvPr>
          <p:cNvGrpSpPr/>
          <p:nvPr/>
        </p:nvGrpSpPr>
        <p:grpSpPr>
          <a:xfrm>
            <a:off x="-277953" y="5709692"/>
            <a:ext cx="180269" cy="171451"/>
            <a:chOff x="5145186" y="193240"/>
            <a:chExt cx="180269" cy="171451"/>
          </a:xfrm>
        </p:grpSpPr>
        <p:sp>
          <p:nvSpPr>
            <p:cNvPr id="23" name="Line 104">
              <a:extLst>
                <a:ext uri="{FF2B5EF4-FFF2-40B4-BE49-F238E27FC236}">
                  <a16:creationId xmlns:a16="http://schemas.microsoft.com/office/drawing/2014/main" id="{590E419F-CB23-D8FE-BE11-670CAB3F4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6717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24" name="Text Box 105">
              <a:extLst>
                <a:ext uri="{FF2B5EF4-FFF2-40B4-BE49-F238E27FC236}">
                  <a16:creationId xmlns:a16="http://schemas.microsoft.com/office/drawing/2014/main" id="{A49DCED4-9DFC-2D65-824D-4E4A6D197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239730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25" name="AutoShape 76">
              <a:extLst>
                <a:ext uri="{FF2B5EF4-FFF2-40B4-BE49-F238E27FC236}">
                  <a16:creationId xmlns:a16="http://schemas.microsoft.com/office/drawing/2014/main" id="{6F1FE7B8-D1C6-9BBC-0C18-DC6E0A20D9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1451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200DCB8-A8EA-60D0-024C-EBAF0965AAB7}"/>
              </a:ext>
            </a:extLst>
          </p:cNvPr>
          <p:cNvGrpSpPr/>
          <p:nvPr/>
        </p:nvGrpSpPr>
        <p:grpSpPr>
          <a:xfrm>
            <a:off x="-664302" y="6591355"/>
            <a:ext cx="161055" cy="182227"/>
            <a:chOff x="5728872" y="623443"/>
            <a:chExt cx="161055" cy="182227"/>
          </a:xfrm>
        </p:grpSpPr>
        <p:sp>
          <p:nvSpPr>
            <p:cNvPr id="27" name="Text Box 105">
              <a:extLst>
                <a:ext uri="{FF2B5EF4-FFF2-40B4-BE49-F238E27FC236}">
                  <a16:creationId xmlns:a16="http://schemas.microsoft.com/office/drawing/2014/main" id="{F6EFEA78-FB02-ED9B-B023-9564CEB080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4202" y="68343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28" name="AutoShape 76">
              <a:extLst>
                <a:ext uri="{FF2B5EF4-FFF2-40B4-BE49-F238E27FC236}">
                  <a16:creationId xmlns:a16="http://schemas.microsoft.com/office/drawing/2014/main" id="{19512FEF-99C6-C50F-D54D-0B39DEA195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69537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29" name="Line 104">
              <a:extLst>
                <a:ext uri="{FF2B5EF4-FFF2-40B4-BE49-F238E27FC236}">
                  <a16:creationId xmlns:a16="http://schemas.microsoft.com/office/drawing/2014/main" id="{0FFE60B7-87E2-5833-4DBE-25C59F49E7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28872" y="746245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8FC282-69DD-8331-F32E-9BE9C4747843}"/>
              </a:ext>
            </a:extLst>
          </p:cNvPr>
          <p:cNvGrpSpPr/>
          <p:nvPr/>
        </p:nvGrpSpPr>
        <p:grpSpPr>
          <a:xfrm>
            <a:off x="-664302" y="6313103"/>
            <a:ext cx="133802" cy="181810"/>
            <a:chOff x="5750967" y="257947"/>
            <a:chExt cx="133802" cy="181810"/>
          </a:xfrm>
        </p:grpSpPr>
        <p:sp>
          <p:nvSpPr>
            <p:cNvPr id="41" name="Text Box 105">
              <a:extLst>
                <a:ext uri="{FF2B5EF4-FFF2-40B4-BE49-F238E27FC236}">
                  <a16:creationId xmlns:a16="http://schemas.microsoft.com/office/drawing/2014/main" id="{843340D9-19C1-B362-EF5E-AF7C1D77B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0967" y="31751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44" name="AutoShape 76">
              <a:extLst>
                <a:ext uri="{FF2B5EF4-FFF2-40B4-BE49-F238E27FC236}">
                  <a16:creationId xmlns:a16="http://schemas.microsoft.com/office/drawing/2014/main" id="{A4BA8FCA-38D7-B0E8-3367-2145CF1F66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69537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7" name="Line 104">
              <a:extLst>
                <a:ext uri="{FF2B5EF4-FFF2-40B4-BE49-F238E27FC236}">
                  <a16:creationId xmlns:a16="http://schemas.microsoft.com/office/drawing/2014/main" id="{2072383F-B3F6-2F03-EEAE-CB1DE206C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0543" y="379967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E131E09-D189-40C1-BF68-5D11BB0C9AC1}"/>
              </a:ext>
            </a:extLst>
          </p:cNvPr>
          <p:cNvGrpSpPr/>
          <p:nvPr/>
        </p:nvGrpSpPr>
        <p:grpSpPr>
          <a:xfrm>
            <a:off x="-298637" y="6313103"/>
            <a:ext cx="133802" cy="188751"/>
            <a:chOff x="6043023" y="141196"/>
            <a:chExt cx="133802" cy="188751"/>
          </a:xfrm>
        </p:grpSpPr>
        <p:sp>
          <p:nvSpPr>
            <p:cNvPr id="51" name="Text Box 105">
              <a:extLst>
                <a:ext uri="{FF2B5EF4-FFF2-40B4-BE49-F238E27FC236}">
                  <a16:creationId xmlns:a16="http://schemas.microsoft.com/office/drawing/2014/main" id="{F7EBBBFB-5DA1-A24B-3B1C-6C5CEC47E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3023" y="141196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52" name="AutoShape 76">
              <a:extLst>
                <a:ext uri="{FF2B5EF4-FFF2-40B4-BE49-F238E27FC236}">
                  <a16:creationId xmlns:a16="http://schemas.microsoft.com/office/drawing/2014/main" id="{A8DC11E3-FE4B-4EF4-DE7A-AF776C55F5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61593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53" name="Line 104">
              <a:extLst>
                <a:ext uri="{FF2B5EF4-FFF2-40B4-BE49-F238E27FC236}">
                  <a16:creationId xmlns:a16="http://schemas.microsoft.com/office/drawing/2014/main" id="{2E110DC6-4C61-3A14-F027-4328A8F173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32599" y="203644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AAE11E8-6EBE-3323-92B0-7650E9CF8BA1}"/>
              </a:ext>
            </a:extLst>
          </p:cNvPr>
          <p:cNvGrpSpPr/>
          <p:nvPr/>
        </p:nvGrpSpPr>
        <p:grpSpPr>
          <a:xfrm>
            <a:off x="-664302" y="5986667"/>
            <a:ext cx="151694" cy="171029"/>
            <a:chOff x="4873292" y="581648"/>
            <a:chExt cx="151694" cy="171029"/>
          </a:xfrm>
        </p:grpSpPr>
        <p:sp>
          <p:nvSpPr>
            <p:cNvPr id="55" name="Line 104">
              <a:extLst>
                <a:ext uri="{FF2B5EF4-FFF2-40B4-BE49-F238E27FC236}">
                  <a16:creationId xmlns:a16="http://schemas.microsoft.com/office/drawing/2014/main" id="{B5BCE2B3-BD0E-66AF-92BD-466083AD7A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00280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56" name="Text Box 105">
              <a:extLst>
                <a:ext uri="{FF2B5EF4-FFF2-40B4-BE49-F238E27FC236}">
                  <a16:creationId xmlns:a16="http://schemas.microsoft.com/office/drawing/2014/main" id="{2507FFB4-C9A5-F761-BE10-2A86EBA21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292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57" name="AutoShape 76">
              <a:extLst>
                <a:ext uri="{FF2B5EF4-FFF2-40B4-BE49-F238E27FC236}">
                  <a16:creationId xmlns:a16="http://schemas.microsoft.com/office/drawing/2014/main" id="{43257D4B-03F0-2091-668A-1B41F9AEFE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529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5EBB101-C8F5-F2AA-B244-395C18AE0F67}"/>
              </a:ext>
            </a:extLst>
          </p:cNvPr>
          <p:cNvCxnSpPr>
            <a:cxnSpLocks/>
          </p:cNvCxnSpPr>
          <p:nvPr/>
        </p:nvCxnSpPr>
        <p:spPr>
          <a:xfrm>
            <a:off x="1045027" y="1375032"/>
            <a:ext cx="973515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85648EE-0867-C6C2-5844-CBF34D34BB27}"/>
              </a:ext>
            </a:extLst>
          </p:cNvPr>
          <p:cNvSpPr txBox="1"/>
          <p:nvPr/>
        </p:nvSpPr>
        <p:spPr>
          <a:xfrm>
            <a:off x="9137728" y="1203154"/>
            <a:ext cx="164245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000" dirty="0"/>
              <a:t>Optional IP </a:t>
            </a:r>
            <a:r>
              <a:rPr lang="de-DE" sz="1000" dirty="0" err="1"/>
              <a:t>Allowlisting</a:t>
            </a:r>
            <a:endParaRPr lang="en-US" sz="1000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D2F5FD8-9C6E-854E-8E2E-B2BA31124908}"/>
              </a:ext>
            </a:extLst>
          </p:cNvPr>
          <p:cNvCxnSpPr>
            <a:cxnSpLocks/>
          </p:cNvCxnSpPr>
          <p:nvPr/>
        </p:nvCxnSpPr>
        <p:spPr>
          <a:xfrm>
            <a:off x="2830282" y="1217780"/>
            <a:ext cx="0" cy="490950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888337D-6E78-861F-F53E-41B6A31E5637}"/>
              </a:ext>
            </a:extLst>
          </p:cNvPr>
          <p:cNvSpPr txBox="1"/>
          <p:nvPr/>
        </p:nvSpPr>
        <p:spPr>
          <a:xfrm>
            <a:off x="1045027" y="5973393"/>
            <a:ext cx="1785253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000" dirty="0"/>
              <a:t>Cluster Control Plane</a:t>
            </a:r>
            <a:endParaRPr 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56EC1B-4432-D093-CEEF-CA55B271BDD1}"/>
              </a:ext>
            </a:extLst>
          </p:cNvPr>
          <p:cNvSpPr txBox="1"/>
          <p:nvPr/>
        </p:nvSpPr>
        <p:spPr>
          <a:xfrm>
            <a:off x="2830280" y="5978038"/>
            <a:ext cx="794990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000" dirty="0"/>
              <a:t>Cluster Data Plane</a:t>
            </a:r>
            <a:endParaRPr lang="en-US" sz="1000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73768D1-7FDF-9058-9C8D-B935A76D287B}"/>
              </a:ext>
            </a:extLst>
          </p:cNvPr>
          <p:cNvGrpSpPr/>
          <p:nvPr/>
        </p:nvGrpSpPr>
        <p:grpSpPr>
          <a:xfrm>
            <a:off x="2864898" y="3745477"/>
            <a:ext cx="161055" cy="182227"/>
            <a:chOff x="5728872" y="623443"/>
            <a:chExt cx="161055" cy="182227"/>
          </a:xfrm>
        </p:grpSpPr>
        <p:sp>
          <p:nvSpPr>
            <p:cNvPr id="95" name="Text Box 105">
              <a:extLst>
                <a:ext uri="{FF2B5EF4-FFF2-40B4-BE49-F238E27FC236}">
                  <a16:creationId xmlns:a16="http://schemas.microsoft.com/office/drawing/2014/main" id="{6DE72CBD-D75E-390B-DEFF-646154A49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4202" y="68343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99" name="AutoShape 76">
              <a:extLst>
                <a:ext uri="{FF2B5EF4-FFF2-40B4-BE49-F238E27FC236}">
                  <a16:creationId xmlns:a16="http://schemas.microsoft.com/office/drawing/2014/main" id="{5A4FA59C-076D-0598-7F61-5B96898F3A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69537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105" name="Line 104">
              <a:extLst>
                <a:ext uri="{FF2B5EF4-FFF2-40B4-BE49-F238E27FC236}">
                  <a16:creationId xmlns:a16="http://schemas.microsoft.com/office/drawing/2014/main" id="{CDEF6A69-67B2-797F-71BA-2DFF4EE7EF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28872" y="746245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F2F1089-1C6C-984E-C246-6D6021DD9966}"/>
              </a:ext>
            </a:extLst>
          </p:cNvPr>
          <p:cNvCxnSpPr>
            <a:cxnSpLocks/>
            <a:stCxn id="84" idx="3"/>
            <a:endCxn id="99" idx="4"/>
          </p:cNvCxnSpPr>
          <p:nvPr/>
        </p:nvCxnSpPr>
        <p:spPr>
          <a:xfrm>
            <a:off x="2599996" y="3778374"/>
            <a:ext cx="305567" cy="31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21CD145-553B-0FF0-B1DB-2B0F726056B7}"/>
              </a:ext>
            </a:extLst>
          </p:cNvPr>
          <p:cNvGrpSpPr/>
          <p:nvPr/>
        </p:nvGrpSpPr>
        <p:grpSpPr>
          <a:xfrm>
            <a:off x="6428302" y="4163147"/>
            <a:ext cx="151694" cy="171451"/>
            <a:chOff x="-664302" y="5709692"/>
            <a:chExt cx="151694" cy="171451"/>
          </a:xfrm>
        </p:grpSpPr>
        <p:sp>
          <p:nvSpPr>
            <p:cNvPr id="129" name="Line 104">
              <a:extLst>
                <a:ext uri="{FF2B5EF4-FFF2-40B4-BE49-F238E27FC236}">
                  <a16:creationId xmlns:a16="http://schemas.microsoft.com/office/drawing/2014/main" id="{1E05E977-1E86-2D6B-7112-EEEDCE878A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37314" y="5846399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130" name="Text Box 105">
              <a:extLst>
                <a:ext uri="{FF2B5EF4-FFF2-40B4-BE49-F238E27FC236}">
                  <a16:creationId xmlns:a16="http://schemas.microsoft.com/office/drawing/2014/main" id="{2B3E467A-E565-7DDA-0B2E-5C1E4ED6D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64302" y="570969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131" name="AutoShape 76">
              <a:extLst>
                <a:ext uri="{FF2B5EF4-FFF2-40B4-BE49-F238E27FC236}">
                  <a16:creationId xmlns:a16="http://schemas.microsoft.com/office/drawing/2014/main" id="{2D059486-5ACB-5EFD-80A8-D414E1D433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584608" y="5774399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80E97A3-F0E0-6A4E-DC39-29771B602793}"/>
              </a:ext>
            </a:extLst>
          </p:cNvPr>
          <p:cNvCxnSpPr>
            <a:cxnSpLocks/>
            <a:stCxn id="131" idx="6"/>
            <a:endCxn id="42" idx="0"/>
          </p:cNvCxnSpPr>
          <p:nvPr/>
        </p:nvCxnSpPr>
        <p:spPr>
          <a:xfrm flipH="1">
            <a:off x="6541660" y="4299854"/>
            <a:ext cx="2336" cy="241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D315453-AB60-339C-77E1-B233154960A3}"/>
              </a:ext>
            </a:extLst>
          </p:cNvPr>
          <p:cNvGrpSpPr/>
          <p:nvPr/>
        </p:nvGrpSpPr>
        <p:grpSpPr>
          <a:xfrm>
            <a:off x="8009868" y="4184886"/>
            <a:ext cx="151694" cy="171451"/>
            <a:chOff x="-664302" y="5709692"/>
            <a:chExt cx="151694" cy="171451"/>
          </a:xfrm>
        </p:grpSpPr>
        <p:sp>
          <p:nvSpPr>
            <p:cNvPr id="143" name="Line 104">
              <a:extLst>
                <a:ext uri="{FF2B5EF4-FFF2-40B4-BE49-F238E27FC236}">
                  <a16:creationId xmlns:a16="http://schemas.microsoft.com/office/drawing/2014/main" id="{D442F4F8-D9D4-9756-DAD7-FF872AE198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37314" y="5846399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144" name="Text Box 105">
              <a:extLst>
                <a:ext uri="{FF2B5EF4-FFF2-40B4-BE49-F238E27FC236}">
                  <a16:creationId xmlns:a16="http://schemas.microsoft.com/office/drawing/2014/main" id="{86634C67-C8EE-126C-A21D-AEC787F7A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64302" y="570969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145" name="AutoShape 76">
              <a:extLst>
                <a:ext uri="{FF2B5EF4-FFF2-40B4-BE49-F238E27FC236}">
                  <a16:creationId xmlns:a16="http://schemas.microsoft.com/office/drawing/2014/main" id="{15728323-717E-D36F-F43C-489B7A2CFE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584608" y="5774399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5EE40F44-0D47-A47B-6E13-6B5BEB27F624}"/>
              </a:ext>
            </a:extLst>
          </p:cNvPr>
          <p:cNvCxnSpPr>
            <a:cxnSpLocks/>
            <a:stCxn id="145" idx="6"/>
            <a:endCxn id="43" idx="0"/>
          </p:cNvCxnSpPr>
          <p:nvPr/>
        </p:nvCxnSpPr>
        <p:spPr>
          <a:xfrm>
            <a:off x="8125562" y="4321593"/>
            <a:ext cx="3732" cy="2198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219D011E-C6FB-AC58-D34E-EF34B8730337}"/>
              </a:ext>
            </a:extLst>
          </p:cNvPr>
          <p:cNvCxnSpPr>
            <a:cxnSpLocks/>
            <a:stCxn id="9" idx="2"/>
            <a:endCxn id="169" idx="2"/>
          </p:cNvCxnSpPr>
          <p:nvPr/>
        </p:nvCxnSpPr>
        <p:spPr>
          <a:xfrm>
            <a:off x="7269240" y="2177258"/>
            <a:ext cx="2370" cy="6042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2598225-2FEC-1271-B05B-E80E4D6B350E}"/>
              </a:ext>
            </a:extLst>
          </p:cNvPr>
          <p:cNvGrpSpPr/>
          <p:nvPr/>
        </p:nvGrpSpPr>
        <p:grpSpPr>
          <a:xfrm>
            <a:off x="7155916" y="2716759"/>
            <a:ext cx="151694" cy="171451"/>
            <a:chOff x="-664302" y="5709692"/>
            <a:chExt cx="151694" cy="171451"/>
          </a:xfrm>
        </p:grpSpPr>
        <p:sp>
          <p:nvSpPr>
            <p:cNvPr id="167" name="Line 104">
              <a:extLst>
                <a:ext uri="{FF2B5EF4-FFF2-40B4-BE49-F238E27FC236}">
                  <a16:creationId xmlns:a16="http://schemas.microsoft.com/office/drawing/2014/main" id="{DC55917F-D25A-7DA5-4BB0-834C56541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37314" y="5846399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168" name="Text Box 105">
              <a:extLst>
                <a:ext uri="{FF2B5EF4-FFF2-40B4-BE49-F238E27FC236}">
                  <a16:creationId xmlns:a16="http://schemas.microsoft.com/office/drawing/2014/main" id="{2A9CC50E-4881-4C7D-E047-A19F65AC5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64302" y="570969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169" name="AutoShape 76">
              <a:extLst>
                <a:ext uri="{FF2B5EF4-FFF2-40B4-BE49-F238E27FC236}">
                  <a16:creationId xmlns:a16="http://schemas.microsoft.com/office/drawing/2014/main" id="{708277C6-D62D-F1D5-EB6E-5ED27B3544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584608" y="5774399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446FC80-7220-19C6-5047-4E09D3F31CA2}"/>
              </a:ext>
            </a:extLst>
          </p:cNvPr>
          <p:cNvCxnSpPr>
            <a:cxnSpLocks/>
            <a:stCxn id="169" idx="6"/>
            <a:endCxn id="49" idx="0"/>
          </p:cNvCxnSpPr>
          <p:nvPr/>
        </p:nvCxnSpPr>
        <p:spPr>
          <a:xfrm flipH="1">
            <a:off x="7269240" y="2853466"/>
            <a:ext cx="2370" cy="7234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143A7B7-7AE7-E40D-92B0-7E9CDA26B771}"/>
              </a:ext>
            </a:extLst>
          </p:cNvPr>
          <p:cNvGrpSpPr/>
          <p:nvPr/>
        </p:nvGrpSpPr>
        <p:grpSpPr>
          <a:xfrm>
            <a:off x="5013210" y="2722311"/>
            <a:ext cx="151694" cy="171451"/>
            <a:chOff x="-664302" y="5709692"/>
            <a:chExt cx="151694" cy="171451"/>
          </a:xfrm>
        </p:grpSpPr>
        <p:sp>
          <p:nvSpPr>
            <p:cNvPr id="176" name="Line 104">
              <a:extLst>
                <a:ext uri="{FF2B5EF4-FFF2-40B4-BE49-F238E27FC236}">
                  <a16:creationId xmlns:a16="http://schemas.microsoft.com/office/drawing/2014/main" id="{C8801AC0-8913-A4F2-BAE4-E40FE9CCE6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37314" y="5846399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177" name="Text Box 105">
              <a:extLst>
                <a:ext uri="{FF2B5EF4-FFF2-40B4-BE49-F238E27FC236}">
                  <a16:creationId xmlns:a16="http://schemas.microsoft.com/office/drawing/2014/main" id="{A773CE3C-DA93-33D6-76EF-FC2B785D9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64302" y="570969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178" name="AutoShape 76">
              <a:extLst>
                <a:ext uri="{FF2B5EF4-FFF2-40B4-BE49-F238E27FC236}">
                  <a16:creationId xmlns:a16="http://schemas.microsoft.com/office/drawing/2014/main" id="{2307BD1F-2E4E-7263-C488-259AD8DCEC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584608" y="5774399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9F599D8-6174-E353-A796-4B8159646BE5}"/>
              </a:ext>
            </a:extLst>
          </p:cNvPr>
          <p:cNvGrpSpPr/>
          <p:nvPr/>
        </p:nvGrpSpPr>
        <p:grpSpPr>
          <a:xfrm>
            <a:off x="5013210" y="1078639"/>
            <a:ext cx="151694" cy="171451"/>
            <a:chOff x="-664302" y="5709692"/>
            <a:chExt cx="151694" cy="171451"/>
          </a:xfrm>
        </p:grpSpPr>
        <p:sp>
          <p:nvSpPr>
            <p:cNvPr id="184" name="Line 104">
              <a:extLst>
                <a:ext uri="{FF2B5EF4-FFF2-40B4-BE49-F238E27FC236}">
                  <a16:creationId xmlns:a16="http://schemas.microsoft.com/office/drawing/2014/main" id="{F8BDB07E-FA00-333E-72B0-5640F73F22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37314" y="5846399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185" name="Text Box 105">
              <a:extLst>
                <a:ext uri="{FF2B5EF4-FFF2-40B4-BE49-F238E27FC236}">
                  <a16:creationId xmlns:a16="http://schemas.microsoft.com/office/drawing/2014/main" id="{88B779D1-FEBD-159D-AAE0-67E83A895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64302" y="570969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186" name="AutoShape 76">
              <a:extLst>
                <a:ext uri="{FF2B5EF4-FFF2-40B4-BE49-F238E27FC236}">
                  <a16:creationId xmlns:a16="http://schemas.microsoft.com/office/drawing/2014/main" id="{919FDB39-5CC4-EFB8-7E5D-EE054E16051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584608" y="5774399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B01A543-DD8B-4CF9-31E5-999EB0AF68E4}"/>
              </a:ext>
            </a:extLst>
          </p:cNvPr>
          <p:cNvGrpSpPr/>
          <p:nvPr/>
        </p:nvGrpSpPr>
        <p:grpSpPr>
          <a:xfrm>
            <a:off x="5968904" y="1068675"/>
            <a:ext cx="151694" cy="171451"/>
            <a:chOff x="-664302" y="5709692"/>
            <a:chExt cx="151694" cy="171451"/>
          </a:xfrm>
        </p:grpSpPr>
        <p:sp>
          <p:nvSpPr>
            <p:cNvPr id="198" name="Line 104">
              <a:extLst>
                <a:ext uri="{FF2B5EF4-FFF2-40B4-BE49-F238E27FC236}">
                  <a16:creationId xmlns:a16="http://schemas.microsoft.com/office/drawing/2014/main" id="{134464FE-4D99-23BC-8B4D-7767D0F739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37314" y="5846399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199" name="Text Box 105">
              <a:extLst>
                <a:ext uri="{FF2B5EF4-FFF2-40B4-BE49-F238E27FC236}">
                  <a16:creationId xmlns:a16="http://schemas.microsoft.com/office/drawing/2014/main" id="{A571D13D-D6BE-0975-EFD0-503985EAF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64302" y="570969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200" name="AutoShape 76">
              <a:extLst>
                <a:ext uri="{FF2B5EF4-FFF2-40B4-BE49-F238E27FC236}">
                  <a16:creationId xmlns:a16="http://schemas.microsoft.com/office/drawing/2014/main" id="{0AFF872B-556C-D6E4-D07B-F0BE1875B0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584608" y="5774399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81AEF19-821A-B0DA-01CF-E3676D488B31}"/>
              </a:ext>
            </a:extLst>
          </p:cNvPr>
          <p:cNvGrpSpPr/>
          <p:nvPr/>
        </p:nvGrpSpPr>
        <p:grpSpPr>
          <a:xfrm>
            <a:off x="7038569" y="1066456"/>
            <a:ext cx="151694" cy="171451"/>
            <a:chOff x="-664302" y="5709692"/>
            <a:chExt cx="151694" cy="171451"/>
          </a:xfrm>
        </p:grpSpPr>
        <p:sp>
          <p:nvSpPr>
            <p:cNvPr id="204" name="Line 104">
              <a:extLst>
                <a:ext uri="{FF2B5EF4-FFF2-40B4-BE49-F238E27FC236}">
                  <a16:creationId xmlns:a16="http://schemas.microsoft.com/office/drawing/2014/main" id="{C0DA87CC-4F48-5241-A106-5FDF291337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37314" y="5846399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205" name="Text Box 105">
              <a:extLst>
                <a:ext uri="{FF2B5EF4-FFF2-40B4-BE49-F238E27FC236}">
                  <a16:creationId xmlns:a16="http://schemas.microsoft.com/office/drawing/2014/main" id="{117FAB0B-305E-8461-BC18-A14771B10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64302" y="570969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206" name="AutoShape 76">
              <a:extLst>
                <a:ext uri="{FF2B5EF4-FFF2-40B4-BE49-F238E27FC236}">
                  <a16:creationId xmlns:a16="http://schemas.microsoft.com/office/drawing/2014/main" id="{B598DF2B-6CAB-9B97-B5CA-DC4ACE906D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584608" y="5774399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945D660-F198-6A2E-B326-F4CB6C507BD5}"/>
              </a:ext>
            </a:extLst>
          </p:cNvPr>
          <p:cNvGrpSpPr/>
          <p:nvPr/>
        </p:nvGrpSpPr>
        <p:grpSpPr>
          <a:xfrm>
            <a:off x="8383220" y="1075202"/>
            <a:ext cx="151694" cy="171451"/>
            <a:chOff x="-664302" y="5709692"/>
            <a:chExt cx="151694" cy="171451"/>
          </a:xfrm>
        </p:grpSpPr>
        <p:sp>
          <p:nvSpPr>
            <p:cNvPr id="210" name="Line 104">
              <a:extLst>
                <a:ext uri="{FF2B5EF4-FFF2-40B4-BE49-F238E27FC236}">
                  <a16:creationId xmlns:a16="http://schemas.microsoft.com/office/drawing/2014/main" id="{CC3AC180-18AC-140C-1A46-480CC7A861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37314" y="5846399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211" name="Text Box 105">
              <a:extLst>
                <a:ext uri="{FF2B5EF4-FFF2-40B4-BE49-F238E27FC236}">
                  <a16:creationId xmlns:a16="http://schemas.microsoft.com/office/drawing/2014/main" id="{08732220-FDFD-04AF-669A-BADC1C25F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64302" y="570969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212" name="AutoShape 76">
              <a:extLst>
                <a:ext uri="{FF2B5EF4-FFF2-40B4-BE49-F238E27FC236}">
                  <a16:creationId xmlns:a16="http://schemas.microsoft.com/office/drawing/2014/main" id="{5FFC27D9-B05A-8775-287E-A52951CB2A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584608" y="5774399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9638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102</Words>
  <Application>Microsoft Macintosh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Lerenc, Vedran</dc:creator>
  <cp:lastModifiedBy>Scheerer, Johannes</cp:lastModifiedBy>
  <cp:revision>6</cp:revision>
  <dcterms:created xsi:type="dcterms:W3CDTF">2022-03-17T13:42:07Z</dcterms:created>
  <dcterms:modified xsi:type="dcterms:W3CDTF">2026-09-11T14:37:37Z</dcterms:modified>
</cp:coreProperties>
</file>